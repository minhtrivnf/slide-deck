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  <p:sldId id="1994" r:id="rId29"/>
    <p:sldId id="1995" r:id="rId30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VNF: $28.5B Aquaculture Mineral Market Opportunity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Nano-minerals: $28.5B future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Shrimp-feed: $6.4B by 2035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Nano-Se vs. ZnO outperforms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111" name="AgendaRow4"/>
          <p:cNvSpPr/>
          <p:nvPr/>
        </p:nvSpPr>
        <p:spPr>
          <a:xfrm>
            <a:off x="500000" y="378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5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1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Organic chelates: cost vs. excretion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  <p:sp>
        <p:nvSpPr>
          <p:cNvPr id="114" name="AgendaRow5"/>
          <p:cNvSpPr/>
          <p:nvPr/>
        </p:nvSpPr>
        <p:spPr>
          <a:xfrm>
            <a:off x="5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5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1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Lab to pond: 3-year roadmap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7</a:t>
            </a:r>
          </a:p>
        </p:txBody>
      </p:sp>
      <p:sp>
        <p:nvSpPr>
          <p:cNvPr id="117" name="AgendaRow6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AgendaNum6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9" name="AgendaTxt6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Highest-risk: bioefficacy failure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8</a:t>
            </a:r>
          </a:p>
        </p:txBody>
      </p:sp>
      <p:sp>
        <p:nvSpPr>
          <p:cNvPr id="120" name="AgendaRow7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AgendaNum7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2" name="AgendaTxt7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Three horizons for commercialisation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23" name="AgendaRow8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AgendaNum8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5" name="AgendaTxt8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Build nano-minerals: $28.6M NPV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10</a:t>
            </a:r>
          </a:p>
        </p:txBody>
      </p:sp>
      <p:sp>
        <p:nvSpPr>
          <p:cNvPr id="126" name="AgendaRow9"/>
          <p:cNvSpPr/>
          <p:nvPr/>
        </p:nvSpPr>
        <p:spPr>
          <a:xfrm>
            <a:off x="46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AgendaNum9"/>
          <p:cNvSpPr/>
          <p:nvPr/>
        </p:nvSpPr>
        <p:spPr>
          <a:xfrm>
            <a:off x="46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8" name="AgendaTxt9"/>
          <p:cNvSpPr txBox="1"/>
          <p:nvPr/>
        </p:nvSpPr>
        <p:spPr>
          <a:xfrm>
            <a:off x="52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Three pillars for shrimp-feed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11</a:t>
            </a:r>
          </a:p>
        </p:txBody>
      </p:sp>
      <p:sp>
        <p:nvSpPr>
          <p:cNvPr id="129" name="AgendaRow10"/>
          <p:cNvSpPr/>
          <p:nvPr/>
        </p:nvSpPr>
        <p:spPr>
          <a:xfrm>
            <a:off x="4600000" y="450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AgendaNum10"/>
          <p:cNvSpPr/>
          <p:nvPr/>
        </p:nvSpPr>
        <p:spPr>
          <a:xfrm>
            <a:off x="46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1" name="AgendaTxt10"/>
          <p:cNvSpPr txBox="1"/>
          <p:nvPr/>
        </p:nvSpPr>
        <p:spPr>
          <a:xfrm>
            <a:off x="52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Chelates vs. nano-minerals: trade-offs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là tương lai $28,5 tỷ USD, nhưng rủi ro tiềm ẩn có thể làm chậm tiến trình.</a:t>
            </a:r>
          </a:p>
        </p:txBody>
      </p:sp>
      <p:sp>
        <p:nvSpPr>
          <p:cNvPr id="2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Tiềm năng tăng trưởng 1,5-3 lần</a:t>
            </a:r>
          </a:p>
        </p:txBody>
      </p:sp>
      <p:sp>
        <p:nvSpPr>
          <p:cNvPr id="2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Chi phí đầu tư sản xuất 2-3 lần cao hơn</a:t>
            </a:r>
          </a:p>
        </p:txBody>
      </p:sp>
      <p:sp>
        <p:nvSpPr>
          <p:cNvPr id="2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Rủi ro quy định chưa được giải quyết</a:t>
            </a:r>
          </a:p>
        </p:txBody>
      </p:sp>
      <p:sp>
        <p:nvSpPr>
          <p:cNvPr id="2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báo thị trường nano-minerals tăng 1,5-3 lần trong 5 năm tới.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Công nghệ nano-bioefficacy đang thu hút đầu tư từ các tập đoàn dược phẩm.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Cơ hội hợp tác giữa nano và công nghệ chelate đang mở rộng.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có thể thay thế các sản phẩm hóa học truyền thống.</a:t>
            </a:r>
          </a:p>
        </p:txBody>
      </p:sp>
      <p:sp>
        <p:nvSpPr>
          <p:cNvPr id="2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Công nghệ nano đòi hỏi đầu tư cơ sở hạ tầng mới (CapEx) cao gấp 2-3 lần.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yêu cầu quy trình sản xuất phức tạp và kiểm soát chặt chẽ.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Chi phí nghiên cứu và phát triển (R&amp;D) cho nano-minerals cao hơn so với các sản phẩm truyền thống.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Công nghệ nano đòi hỏi hợp tác giữa các chuyên gia đa ngành.</a:t>
            </a:r>
          </a:p>
        </p:txBody>
      </p:sp>
      <p:sp>
        <p:nvSpPr>
          <p:cNvPr id="2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Quy định về an toàn và môi trường cho nano-minerals chưa thống nhất.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có thể bị hạn chế xuất khẩu do quy định nghiêm ngặt.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Rủ ro pháp lý từ các vụ kiện liên quan đến an toàn nano-technology.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Cần hợp tác quốc tế để xây dựng tiêu chuẩn nano-minerals.</a:t>
            </a:r>
          </a:p>
        </p:txBody>
      </p:sp>
      <p:cxnSp>
        <p:nvCxnSpPr>
          <p:cNvPr id="208" name="PyramidConn1"/>
          <p:cNvCxnSpPr>
            <a:stCxn id="201" idx="2"/>
            <a:endCxn id="2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9" name="PyramidConn2"/>
          <p:cNvCxnSpPr>
            <a:stCxn id="201" idx="2"/>
            <a:endCxn id="2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10" name="PyramidConn3"/>
          <p:cNvCxnSpPr>
            <a:stCxn id="201" idx="2"/>
            <a:endCxn id="2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Shrimp-feed segment will be $6.4B by 2035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REVENUE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$4.3-4.6B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2024-25 forecast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Shrimp-feed segment growth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4.2-4.9% CAGR expected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REVENUE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$6.4B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2035 projection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Beachhead growth trend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Focus on trace minerals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MARKET SHARE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25%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Target capture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Shrimp-feed focus area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VNF market projections 2026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market projections 2026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Focus shrimp-feed trace minerals to capture 25% of the market.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Nano-Se vs. ZnO outperforms conventional minerals</a:t>
            </a:r>
          </a:p>
        </p:txBody>
      </p:sp>
      <p:sp>
        <p:nvSpPr>
          <p:cNvPr id="401" name="BarLbl1"/>
          <p:cNvSpPr txBox="1"/>
          <p:nvPr/>
        </p:nvSpPr>
        <p:spPr>
          <a:xfrm>
            <a:off x="457200" y="18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Nano-Se</a:t>
            </a:r>
          </a:p>
        </p:txBody>
      </p:sp>
      <p:sp>
        <p:nvSpPr>
          <p:cNvPr id="402" name="Bar1"/>
          <p:cNvSpPr/>
          <p:nvPr/>
        </p:nvSpPr>
        <p:spPr>
          <a:xfrm>
            <a:off x="2000000" y="1800000"/>
            <a:ext cx="300000" cy="6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BarVal1"/>
          <p:cNvSpPr txBox="1"/>
          <p:nvPr/>
        </p:nvSpPr>
        <p:spPr>
          <a:xfrm>
            <a:off x="2391440" y="18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1.5x growth</a:t>
            </a:r>
          </a:p>
        </p:txBody>
      </p:sp>
      <p:sp>
        <p:nvSpPr>
          <p:cNvPr id="404" name="BarLbl2"/>
          <p:cNvSpPr txBox="1"/>
          <p:nvPr/>
        </p:nvSpPr>
        <p:spPr>
          <a:xfrm>
            <a:off x="457200" y="26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Nano-ZnO</a:t>
            </a:r>
          </a:p>
        </p:txBody>
      </p:sp>
      <p:sp>
        <p:nvSpPr>
          <p:cNvPr id="405" name="Bar2"/>
          <p:cNvSpPr/>
          <p:nvPr/>
        </p:nvSpPr>
        <p:spPr>
          <a:xfrm>
            <a:off x="2000000" y="2600000"/>
            <a:ext cx="6000000" cy="6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BarVal2"/>
          <p:cNvSpPr txBox="1"/>
          <p:nvPr/>
        </p:nvSpPr>
        <p:spPr>
          <a:xfrm>
            <a:off x="8091440" y="26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30% gain</a:t>
            </a:r>
          </a:p>
        </p:txBody>
      </p:sp>
      <p:sp>
        <p:nvSpPr>
          <p:cNvPr id="407" name="BarLbl3"/>
          <p:cNvSpPr txBox="1"/>
          <p:nvPr/>
        </p:nvSpPr>
        <p:spPr>
          <a:xfrm>
            <a:off x="457200" y="34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ZnSO4</a:t>
            </a:r>
          </a:p>
        </p:txBody>
      </p:sp>
      <p:sp>
        <p:nvSpPr>
          <p:cNvPr id="408" name="Bar3"/>
          <p:cNvSpPr/>
          <p:nvPr/>
        </p:nvSpPr>
        <p:spPr>
          <a:xfrm>
            <a:off x="2000000" y="3400000"/>
            <a:ext cx="200000" cy="6000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BarVal3"/>
          <p:cNvSpPr txBox="1"/>
          <p:nvPr/>
        </p:nvSpPr>
        <p:spPr>
          <a:xfrm>
            <a:off x="2291440" y="34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baseline</a:t>
            </a:r>
          </a:p>
        </p:txBody>
      </p:sp>
      <p:sp>
        <p:nvSpPr>
          <p:cNvPr id="410" name="UnitNote"/>
          <p:cNvSpPr txBox="1"/>
          <p:nvPr/>
        </p:nvSpPr>
        <p:spPr>
          <a:xfrm>
            <a:off x="2000000" y="4200000"/>
            <a:ext cx="6000000" cy="3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</a:rPr>
              <a:t>Post-challenge mortality data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lab trials 2026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deliver 1.5-3x growth but require stabilisation.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cost 1.5-2.5x but have lower excretion</a:t>
            </a:r>
          </a:p>
        </p:txBody>
      </p:sp>
      <p:sp>
        <p:nvSpPr>
          <p:cNvPr id="501" name="Card1"/>
          <p:cNvSpPr/>
          <p:nvPr/>
        </p:nvSpPr>
        <p:spPr>
          <a:xfrm>
            <a:off x="457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Bar1"/>
          <p:cNvSpPr/>
          <p:nvPr/>
        </p:nvSpPr>
        <p:spPr>
          <a:xfrm>
            <a:off x="457200" y="1651000"/>
            <a:ext cx="4038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Txt1"/>
          <p:cNvSpPr txBox="1"/>
          <p:nvPr/>
        </p:nvSpPr>
        <p:spPr>
          <a:xfrm>
            <a:off x="660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ORGANIC CHELATES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40% lower excretion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$2.8M risk budget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cost vs inorganic salts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Immediate cash flow solution</a:t>
            </a:r>
          </a:p>
        </p:txBody>
      </p:sp>
      <p:sp>
        <p:nvSpPr>
          <p:cNvPr id="504" name="Card2"/>
          <p:cNvSpPr/>
          <p:nvPr/>
        </p:nvSpPr>
        <p:spPr>
          <a:xfrm>
            <a:off x="4648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Bar2"/>
          <p:cNvSpPr/>
          <p:nvPr/>
        </p:nvSpPr>
        <p:spPr>
          <a:xfrm>
            <a:off x="4648200" y="1651000"/>
            <a:ext cx="4038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CardTxt2"/>
          <p:cNvSpPr txBox="1"/>
          <p:nvPr/>
        </p:nvSpPr>
        <p:spPr>
          <a:xfrm>
            <a:off x="4851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INORGANIC SALTS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Cheaper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Higher excretion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Lower upfront cost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Long-term excretion risk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performance benchmarks 2026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Use organic chelates for immediate cash flow while developing nano-formulations.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From lab to pond: 3-year nano-mineral roadmap</a:t>
            </a:r>
          </a:p>
        </p:txBody>
      </p:sp>
      <p:sp>
        <p:nvSpPr>
          <p:cNvPr id="601" name="WfBar1"/>
          <p:cNvSpPr/>
          <p:nvPr/>
        </p:nvSpPr>
        <p:spPr>
          <a:xfrm>
            <a:off x="457200" y="1804702"/>
            <a:ext cx="1100000" cy="317529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" name="WfDelta1"/>
          <p:cNvSpPr txBox="1"/>
          <p:nvPr/>
        </p:nvSpPr>
        <p:spPr>
          <a:xfrm>
            <a:off x="457200" y="1552702"/>
            <a:ext cx="1100000" cy="25200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C2C2C"/>
                </a:solidFill>
                <a:latin typeface="Calibri"/>
              </a:rPr>
              <a:t>2026 year</a:t>
            </a:r>
          </a:p>
        </p:txBody>
      </p:sp>
      <p:sp>
        <p:nvSpPr>
          <p:cNvPr id="603" name="WfName1"/>
          <p:cNvSpPr txBox="1"/>
          <p:nvPr/>
        </p:nvSpPr>
        <p:spPr>
          <a:xfrm>
            <a:off x="407200" y="5040000"/>
            <a:ext cx="1200000" cy="34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000" dirty="0">
                <a:solidFill>
                  <a:srgbClr val="595959"/>
                </a:solidFill>
                <a:latin typeface="Calibri"/>
              </a:rPr>
              <a:t>Lab trials</a:t>
            </a:r>
          </a:p>
        </p:txBody>
      </p:sp>
      <p:sp>
        <p:nvSpPr>
          <p:cNvPr id="604" name="WfBar2"/>
          <p:cNvSpPr/>
          <p:nvPr/>
        </p:nvSpPr>
        <p:spPr>
          <a:xfrm>
            <a:off x="1657200" y="1803135"/>
            <a:ext cx="1100000" cy="1567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" name="WfDelta2"/>
          <p:cNvSpPr txBox="1"/>
          <p:nvPr/>
        </p:nvSpPr>
        <p:spPr>
          <a:xfrm>
            <a:off x="1657200" y="1551135"/>
            <a:ext cx="1100000" cy="25200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C2C2C"/>
                </a:solidFill>
                <a:latin typeface="Calibri"/>
              </a:rPr>
              <a:t>+1 year</a:t>
            </a:r>
          </a:p>
        </p:txBody>
      </p:sp>
      <p:sp>
        <p:nvSpPr>
          <p:cNvPr id="606" name="WfName2"/>
          <p:cNvSpPr txBox="1"/>
          <p:nvPr/>
        </p:nvSpPr>
        <p:spPr>
          <a:xfrm>
            <a:off x="1607200" y="5040000"/>
            <a:ext cx="1200000" cy="34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000" dirty="0">
                <a:solidFill>
                  <a:srgbClr val="595959"/>
                </a:solidFill>
                <a:latin typeface="Calibri"/>
              </a:rPr>
              <a:t>Pilot plants</a:t>
            </a:r>
          </a:p>
        </p:txBody>
      </p:sp>
      <p:sp>
        <p:nvSpPr>
          <p:cNvPr id="607" name="WfBar3"/>
          <p:cNvSpPr/>
          <p:nvPr/>
        </p:nvSpPr>
        <p:spPr>
          <a:xfrm>
            <a:off x="2857200" y="1800000"/>
            <a:ext cx="1100000" cy="313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" name="WfDelta3"/>
          <p:cNvSpPr txBox="1"/>
          <p:nvPr/>
        </p:nvSpPr>
        <p:spPr>
          <a:xfrm>
            <a:off x="2857200" y="1548000"/>
            <a:ext cx="1100000" cy="25200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C2C2C"/>
                </a:solidFill>
                <a:latin typeface="Calibri"/>
              </a:rPr>
              <a:t>+2 year</a:t>
            </a:r>
          </a:p>
        </p:txBody>
      </p:sp>
      <p:sp>
        <p:nvSpPr>
          <p:cNvPr id="609" name="WfName3"/>
          <p:cNvSpPr txBox="1"/>
          <p:nvPr/>
        </p:nvSpPr>
        <p:spPr>
          <a:xfrm>
            <a:off x="2807200" y="5040000"/>
            <a:ext cx="1200000" cy="34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000" dirty="0">
                <a:solidFill>
                  <a:srgbClr val="595959"/>
                </a:solidFill>
                <a:latin typeface="Calibri"/>
              </a:rPr>
              <a:t>Commercial</a:t>
            </a:r>
          </a:p>
        </p:txBody>
      </p:sp>
      <p:sp>
        <p:nvSpPr>
          <p:cNvPr id="610" name="WfBar4"/>
          <p:cNvSpPr/>
          <p:nvPr/>
        </p:nvSpPr>
        <p:spPr>
          <a:xfrm>
            <a:off x="4057200" y="1801567"/>
            <a:ext cx="1100000" cy="31784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" name="WfDelta4"/>
          <p:cNvSpPr txBox="1"/>
          <p:nvPr/>
        </p:nvSpPr>
        <p:spPr>
          <a:xfrm>
            <a:off x="4057200" y="1549567"/>
            <a:ext cx="1100000" cy="25200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rgbClr val="2C2C2C"/>
                </a:solidFill>
                <a:latin typeface="Calibri"/>
              </a:rPr>
              <a:t>2028 year</a:t>
            </a:r>
          </a:p>
        </p:txBody>
      </p:sp>
      <p:sp>
        <p:nvSpPr>
          <p:cNvPr id="612" name="WfName4"/>
          <p:cNvSpPr txBox="1"/>
          <p:nvPr/>
        </p:nvSpPr>
        <p:spPr>
          <a:xfrm>
            <a:off x="4007200" y="5040000"/>
            <a:ext cx="1200000" cy="34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000" dirty="0">
                <a:solidFill>
                  <a:srgbClr val="595959"/>
                </a:solidFill>
                <a:latin typeface="Calibri"/>
              </a:rPr>
              <a:t>Deployment</a:t>
            </a:r>
          </a:p>
        </p:txBody>
      </p:sp>
      <p:cxnSp>
        <p:nvCxnSpPr>
          <p:cNvPr id="613" name="WfConn1"/>
          <p:cNvCxnSpPr>
    </p:cNvCxnSpPr>
          <p:nvPr/>
        </p:nvCxnSpPr>
        <p:spPr>
          <a:xfrm>
            <a:off x="1557200" y="1804702"/>
            <a:ext cx="100000" cy="0"/>
          </a:xfrm>
          <a:prstGeom prst="line">
            <a:avLst/>
          </a:prstGeom>
          <a:ln w="9525">
            <a:prstDash val="dash"/>
            <a:solidFill>
              <a:srgbClr val="D9D9D9"/>
            </a:solidFill>
          </a:ln>
        </p:spPr>
      </p:cxnSp>
      <p:cxnSp>
        <p:nvCxnSpPr>
          <p:cNvPr id="614" name="WfConn2"/>
          <p:cNvCxnSpPr>
    </p:cNvCxnSpPr>
          <p:nvPr/>
        </p:nvCxnSpPr>
        <p:spPr>
          <a:xfrm>
            <a:off x="2757200" y="1803135"/>
            <a:ext cx="100000" cy="0"/>
          </a:xfrm>
          <a:prstGeom prst="line">
            <a:avLst/>
          </a:prstGeom>
          <a:ln w="9525">
            <a:prstDash val="dash"/>
            <a:solidFill>
              <a:srgbClr val="D9D9D9"/>
            </a:solidFill>
          </a:ln>
        </p:spPr>
      </p:cxnSp>
      <p:cxnSp>
        <p:nvCxnSpPr>
          <p:cNvPr id="615" name="WfConn3"/>
          <p:cNvCxnSpPr>
    </p:cNvCxnSpPr>
          <p:nvPr/>
        </p:nvCxnSpPr>
        <p:spPr>
          <a:xfrm>
            <a:off x="3957200" y="1800000"/>
            <a:ext cx="100000" cy="0"/>
          </a:xfrm>
          <a:prstGeom prst="line">
            <a:avLst/>
          </a:prstGeom>
          <a:ln w="9525">
            <a:prstDash val="dash"/>
            <a:solidFill>
              <a:srgbClr val="D9D9D9"/>
            </a:solidFill>
          </a:ln>
        </p:spPr>
      </p:cxnSp>
      <p:sp>
        <p:nvSpPr>
          <p:cNvPr id="10000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0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Validate stabilisation protocols before commercial-scale deployment.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Nano-bioefficacy failure is the highest-risk scenario</a:t>
            </a:r>
          </a:p>
        </p:txBody>
      </p:sp>
      <p:sp>
        <p:nvSpPr>
          <p:cNvPr id="701" name="HeatCell1"/>
          <p:cNvSpPr txBox="1"/>
          <p:nvPr/>
        </p:nvSpPr>
        <p:spPr>
          <a:xfrm>
            <a:off x="5833332" y="44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Nano-bioefficacy</a:t>
            </a:r>
          </a:p>
        </p:txBody>
      </p:sp>
      <p:sp>
        <p:nvSpPr>
          <p:cNvPr id="702" name="HeatCell2"/>
          <p:cNvSpPr txBox="1"/>
          <p:nvPr/>
        </p:nvSpPr>
        <p:spPr>
          <a:xfrm>
            <a:off x="3666666" y="44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</a:t>
            </a:r>
          </a:p>
        </p:txBody>
      </p:sp>
      <p:sp>
        <p:nvSpPr>
          <p:cNvPr id="703" name="HeatCell3"/>
          <p:cNvSpPr txBox="1"/>
          <p:nvPr/>
        </p:nvSpPr>
        <p:spPr>
          <a:xfrm>
            <a:off x="5833332" y="30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Zero IP</a:t>
            </a:r>
          </a:p>
        </p:txBody>
      </p:sp>
      <p:sp>
        <p:nvSpPr>
          <p:cNvPr id="7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7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7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7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7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7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7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7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0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risk assessment 2026</a:t>
            </a:r>
          </a:p>
        </p:txBody>
      </p:sp>
      <p:sp>
        <p:nvSpPr>
          <p:cNvPr id="10000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Allocate $2.8M for regulatory affairs to mitigate risks.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Three horizons for nano-mineral commercialisation</a:t>
            </a:r>
          </a:p>
        </p:txBody>
      </p:sp>
      <p:sp>
        <p:nvSpPr>
          <p:cNvPr id="8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Q1'26</a:t>
            </a:r>
          </a:p>
        </p:txBody>
      </p:sp>
      <p:sp>
        <p:nvSpPr>
          <p:cNvPr id="8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Q2'26</a:t>
            </a:r>
          </a:p>
        </p:txBody>
      </p:sp>
      <p:sp>
        <p:nvSpPr>
          <p:cNvPr id="8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8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cxnSp>
        <p:nvCxnSpPr>
          <p:cNvPr id="805" name="QGrid1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806" name="QGrid2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807" name="QGrid3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8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&amp; IP</a:t>
            </a:r>
          </a:p>
        </p:txBody>
      </p:sp>
      <p:sp>
        <p:nvSpPr>
          <p:cNvPr id="809" name="WsBar1_1"/>
          <p:cNvSpPr/>
          <p:nvPr/>
        </p:nvSpPr>
        <p:spPr>
          <a:xfrm>
            <a:off x="2245720" y="23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File patents</a:t>
            </a:r>
          </a:p>
        </p:txBody>
      </p:sp>
      <p:sp>
        <p:nvSpPr>
          <p:cNvPr id="810" name="Ms1_1"/>
          <p:cNvSpPr/>
          <p:nvPr/>
        </p:nvSpPr>
        <p:spPr>
          <a:xfrm>
            <a:off x="3699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1" name="MsLbl1_1"/>
          <p:cNvSpPr txBox="1"/>
          <p:nvPr/>
        </p:nvSpPr>
        <p:spPr>
          <a:xfrm>
            <a:off x="3457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Patent filed</a:t>
            </a:r>
          </a:p>
        </p:txBody>
      </p:sp>
      <p:sp>
        <p:nvSpPr>
          <p:cNvPr id="8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Validation</a:t>
            </a:r>
          </a:p>
        </p:txBody>
      </p:sp>
      <p:sp>
        <p:nvSpPr>
          <p:cNvPr id="813" name="WsBar2_1"/>
          <p:cNvSpPr/>
          <p:nvPr/>
        </p:nvSpPr>
        <p:spPr>
          <a:xfrm>
            <a:off x="3870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Stabilisation</a:t>
            </a:r>
          </a:p>
        </p:txBody>
      </p:sp>
      <p:sp>
        <p:nvSpPr>
          <p:cNvPr id="814" name="Ms2_1"/>
          <p:cNvSpPr/>
          <p:nvPr/>
        </p:nvSpPr>
        <p:spPr>
          <a:xfrm>
            <a:off x="53240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5" name="MsLbl2_1"/>
          <p:cNvSpPr txBox="1"/>
          <p:nvPr/>
        </p:nvSpPr>
        <p:spPr>
          <a:xfrm>
            <a:off x="50828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Validated</a:t>
            </a:r>
          </a:p>
        </p:txBody>
      </p:sp>
      <p:sp>
        <p:nvSpPr>
          <p:cNvPr id="816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Contracts</a:t>
            </a:r>
          </a:p>
        </p:txBody>
      </p:sp>
      <p:sp>
        <p:nvSpPr>
          <p:cNvPr id="817" name="WsBar3_1"/>
          <p:cNvSpPr/>
          <p:nvPr/>
        </p:nvSpPr>
        <p:spPr>
          <a:xfrm>
            <a:off x="5495720" y="39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Anchor deals</a:t>
            </a:r>
          </a:p>
        </p:txBody>
      </p:sp>
      <p:sp>
        <p:nvSpPr>
          <p:cNvPr id="818" name="Ms3_1"/>
          <p:cNvSpPr/>
          <p:nvPr/>
        </p:nvSpPr>
        <p:spPr>
          <a:xfrm>
            <a:off x="6949000" y="40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9" name="MsLbl3_1"/>
          <p:cNvSpPr txBox="1"/>
          <p:nvPr/>
        </p:nvSpPr>
        <p:spPr>
          <a:xfrm>
            <a:off x="6707800" y="42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Signed</a:t>
            </a:r>
          </a:p>
        </p:txBody>
      </p:sp>
      <p:cxnSp>
        <p:nvCxnSpPr>
          <p:cNvPr id="820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Pre-invest in regulatory and IP to avoid derailment.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Build nano-minerals with partner overlay for $28.6M NPV</a:t>
            </a:r>
          </a:p>
        </p:txBody>
      </p:sp>
      <p:sp>
        <p:nvSpPr>
          <p:cNvPr id="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BUILD (HIGH RISK, HIGH REWARD)</a:t>
            </a:r>
          </a:p>
        </p:txBody>
      </p:sp>
      <p:sp>
        <p:nvSpPr>
          <p:cNvPr id="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CHALLENGE (LOW RISK, HIGH REWARD)</a:t>
            </a:r>
          </a:p>
        </p:txBody>
      </p:sp>
      <p:sp>
        <p:nvSpPr>
          <p:cNvPr id="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PARTNER (MODERATE RISK, MODERATE REWARD)</a:t>
            </a:r>
          </a:p>
        </p:txBody>
      </p:sp>
      <p:sp>
        <p:nvSpPr>
          <p:cNvPr id="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NICHE (LOW RISK, LOW REWARD)</a:t>
            </a:r>
          </a:p>
        </p:txBody>
      </p:sp>
      <p:sp>
        <p:nvSpPr>
          <p:cNvPr id="9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Build nano-minerals</a:t>
            </a:r>
          </a:p>
        </p:txBody>
      </p:sp>
      <p:sp>
        <p:nvSpPr>
          <p:cNvPr id="913" name="Bubble2"/>
          <p:cNvSpPr/>
          <p:nvPr/>
        </p:nvSpPr>
        <p:spPr>
          <a:xfrm>
            <a:off x="4448000" y="304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Partner overlay</a:t>
            </a:r>
          </a:p>
        </p:txBody>
      </p:sp>
      <p:sp>
        <p:nvSpPr>
          <p:cNvPr id="9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RISK →</a:t>
            </a:r>
          </a:p>
        </p:txBody>
      </p:sp>
      <p:sp>
        <p:nvSpPr>
          <p:cNvPr id="9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REWARD ↑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financial model 2026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Partner overlay reduces risk while maintaining pricing power.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Three pillars to unlock the $41.9M shrimp-feed opportunity</a:t>
            </a:r>
          </a:p>
        </p:txBody>
      </p:sp>
      <p:sp>
        <p:nvSpPr>
          <p:cNvPr id="10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Shrimp-feed segment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$6.4B market size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demand for trace minerals</a:t>
            </a:r>
          </a:p>
        </p:txBody>
      </p:sp>
      <p:sp>
        <p:nvSpPr>
          <p:cNvPr id="10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Nano-minerals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1.5-3x growth potential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Innovative technology</a:t>
            </a:r>
          </a:p>
        </p:txBody>
      </p:sp>
      <p:sp>
        <p:nvSpPr>
          <p:cNvPr id="10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Regulatory compliance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EFSA opinions 2027-28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Critical for market access</a:t>
            </a:r>
          </a:p>
        </p:txBody>
      </p:sp>
      <p:sp>
        <p:nvSpPr>
          <p:cNvPr id="10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Focus on shrimp-feed trace minerals to capture 25% of the market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vs. nano-minerals: trade-offs</a:t>
            </a:r>
          </a:p>
        </p:txBody>
      </p:sp>
      <p:sp>
        <p:nvSpPr>
          <p:cNvPr id="11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chelates: lower excretion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chelates: cheaper</a:t>
            </a:r>
          </a:p>
        </p:txBody>
      </p:sp>
      <p:sp>
        <p:nvSpPr>
          <p:cNvPr id="11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Nano-minerals: stabilisation challenges</a:t>
            </a:r>
          </a:p>
        </p:txBody>
      </p:sp>
      <p:sp>
        <p:nvSpPr>
          <p:cNvPr id="11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Nano-minerals: higher growth</a:t>
            </a:r>
          </a:p>
        </p:txBody>
      </p:sp>
      <p:sp>
        <p:nvSpPr>
          <p:cNvPr id="11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chelates: limited growth potential</a:t>
            </a:r>
          </a:p>
        </p:txBody>
      </p: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performance benchmarks 2026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are safer but nano-minerals offer higher growth.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 stabilisation is the critical capability gap</a:t>
            </a:r>
          </a:p>
        </p:txBody>
      </p:sp>
      <p:sp>
        <p:nvSpPr>
          <p:cNvPr id="1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209" name="RadarTarget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0" name="RadarCurrent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Stabilisation</a:t>
            </a:r>
          </a:p>
        </p:txBody>
      </p:sp>
      <p:sp>
        <p:nvSpPr>
          <p:cNvPr id="1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Scale-up</a:t>
            </a:r>
          </a:p>
        </p:txBody>
      </p:sp>
      <p:sp>
        <p:nvSpPr>
          <p:cNvPr id="1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</a:t>
            </a:r>
          </a:p>
        </p:txBody>
      </p:sp>
      <p:sp>
        <p:nvSpPr>
          <p:cNvPr id="1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Develop commercial stabilisation protocol before scaling</a:t>
            </a:r>
          </a:p>
        </p:txBody>
      </p: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Develop a commercial stabilisation protocol before scaling.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Key stakeholders in the aquaculture mineral market</a:t>
            </a:r>
          </a:p>
        </p:txBody>
      </p:sp>
      <p:cxnSp>
        <p:nvCxnSpPr>
          <p:cNvPr id="13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3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4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5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1306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Feed mills</a:t>
            </a:r>
          </a:p>
        </p:txBody>
      </p:sp>
      <p:sp>
        <p:nvSpPr>
          <p:cNvPr id="1307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1308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1309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FDA</a:t>
            </a:r>
          </a:p>
        </p:txBody>
      </p:sp>
      <p:sp>
        <p:nvSpPr>
          <p:cNvPr id="1310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311 patent filings</a:t>
            </a:r>
          </a:p>
        </p:txBody>
      </p:sp>
      <p:sp>
        <p:nvSpPr>
          <p:cNvPr id="1311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VNF</a:t>
            </a:r>
          </a:p>
        </p:txBody>
      </p:sp>
      <p:sp>
        <p:nvSpPr>
          <p:cNvPr id="1312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1313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1314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1315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Collaborate with feed mills and regulators to accelerate adoption.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KPIs to track nano-mineral commercialisation progress</a:t>
            </a:r>
          </a:p>
        </p:txBody>
      </p:sp>
      <p:sp>
        <p:nvSpPr>
          <p:cNvPr id="14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C97A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Stabilisation success   </a:t>
            </a:r>
            <a:r>
              <a:rPr lang="en-US" sz="1200" b="1" dirty="0">
                <a:solidFill>
                  <a:srgbClr val="C97A00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75%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90%</a:t>
            </a:r>
          </a:p>
        </p:txBody>
      </p:sp>
      <p:sp>
        <p:nvSpPr>
          <p:cNvPr id="14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Regulatory approvals   </a:t>
            </a:r>
            <a:r>
              <a:rPr lang="en-US" sz="1200" b="1" dirty="0">
                <a:solidFill>
                  <a:srgbClr val="C00000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50%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80%</a:t>
            </a:r>
          </a:p>
        </p:txBody>
      </p:sp>
      <p:sp>
        <p:nvSpPr>
          <p:cNvPr id="1407" name="KpiTile3"/>
          <p:cNvSpPr/>
          <p:nvPr/>
        </p:nvSpPr>
        <p:spPr>
          <a:xfrm>
            <a:off x="47576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8" name="KpiStatus3"/>
          <p:cNvSpPr/>
          <p:nvPr/>
        </p:nvSpPr>
        <p:spPr>
          <a:xfrm>
            <a:off x="4757600" y="1620000"/>
            <a:ext cx="2030200" cy="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9" name="KpiText3"/>
          <p:cNvSpPr txBox="1"/>
          <p:nvPr/>
        </p:nvSpPr>
        <p:spPr>
          <a:xfrm>
            <a:off x="48719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Feed-mill adoption   </a:t>
            </a:r>
            <a:r>
              <a:rPr lang="en-US" sz="1200" b="1" dirty="0">
                <a:solidFill>
                  <a:srgbClr val="C00000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30%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60%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Monitor stabilisation success, regulatory approvals, and feed-mill adoption.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Data sources and methodology caveats</a:t>
            </a:r>
          </a:p>
        </p:txBody>
      </p:sp>
      <p:sp>
        <p:nvSpPr>
          <p:cNvPr id="1501" name="SrcMethodCol1"/>
          <p:cNvSpPr txBox="1"/>
          <p:nvPr/>
        </p:nvSpPr>
        <p:spPr>
          <a:xfrm>
            <a:off x="4572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DATA SOURCES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–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VNF strategic brief 2026</a:t>
            </a:r>
          </a:p>
        </p:txBody>
      </p:sp>
      <p:sp>
        <p:nvSpPr>
          <p:cNvPr id="1502" name="SrcMethodCol2"/>
          <p:cNvSpPr txBox="1"/>
          <p:nvPr/>
        </p:nvSpPr>
        <p:spPr>
          <a:xfrm>
            <a:off x="33274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METHODOLOGY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Market projections (2025-2034)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Lab trials (2026)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Risk assessments (2026)</a:t>
            </a:r>
          </a:p>
        </p:txBody>
      </p:sp>
      <p:sp>
        <p:nvSpPr>
          <p:cNvPr id="1503" name="SrcMethodCol3"/>
          <p:cNvSpPr txBox="1"/>
          <p:nvPr/>
        </p:nvSpPr>
        <p:spPr>
          <a:xfrm>
            <a:off x="61976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KEY ASSUMPTIONS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Nano-bioefficacy uncertainty</a:t>
            </a:r>
          </a:p>
        </p:txBody>
      </p:sp>
      <p:sp>
        <p:nvSpPr>
          <p:cNvPr id="10001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Acknowledge data limitations to manage expectations.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6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Executive summary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6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Market analysis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16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Technology assessment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6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Regulatory risks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6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Strategic recommendations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are the next frontier in aquaculture nutrition</a:t>
            </a:r>
          </a:p>
        </p:txBody>
      </p:sp>
      <p:sp>
        <p:nvSpPr>
          <p:cNvPr id="1701" name="QuoteMark"/>
          <p:cNvSpPr txBox="1"/>
          <p:nvPr/>
        </p:nvSpPr>
        <p:spPr>
          <a:xfrm>
            <a:off x="457200" y="1800000"/>
            <a:ext cx="800000" cy="9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7200" b="1" dirty="0">
                <a:solidFill>
                  <a:srgbClr val="0070C0"/>
                </a:solidFill>
                <a:latin typeface="Calibri"/>
              </a:rPr>
              <a:t>“</a:t>
            </a:r>
          </a:p>
        </p:txBody>
      </p:sp>
      <p:sp>
        <p:nvSpPr>
          <p:cNvPr id="1702" name="QuoteText"/>
          <p:cNvSpPr txBox="1"/>
          <p:nvPr/>
        </p:nvSpPr>
        <p:spPr>
          <a:xfrm>
            <a:off x="800000" y="2200000"/>
            <a:ext cx="7544000" cy="168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800" i="1" dirty="0">
                <a:solidFill>
                  <a:srgbClr val="002060"/>
                </a:solidFill>
                <a:latin typeface="Calibri"/>
              </a:rPr>
              <a:t>Nano-enabled minerals are the next frontier in aquaculture nutrition.</a:t>
            </a:r>
          </a:p>
        </p:txBody>
      </p:sp>
      <p:sp>
        <p:nvSpPr>
          <p:cNvPr id="1703" name="QuoteAttribution"/>
          <p:cNvSpPr txBox="1"/>
          <p:nvPr/>
        </p:nvSpPr>
        <p:spPr>
          <a:xfrm>
            <a:off x="800000" y="4000000"/>
            <a:ext cx="7544000" cy="400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lang="en-US" sz="1200" dirty="0">
                <a:solidFill>
                  <a:srgbClr val="888888"/>
                </a:solidFill>
                <a:latin typeface="Calibri"/>
              </a:rPr>
              <a:t>— VNF CEO, VNF strategic brief 2026</a:t>
            </a:r>
          </a:p>
        </p:txBody>
      </p:sp>
      <p:sp>
        <p:nvSpPr>
          <p:cNvPr id="10001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Invest in nano-minerals to lead the $28.5B market.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Multi-criteria scoring for nano-mineral candidates</a:t>
            </a:r>
          </a:p>
        </p:txBody>
      </p:sp>
      <p:sp>
        <p:nvSpPr>
          <p:cNvPr id="1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8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NANO-SE</a:t>
            </a:r>
          </a:p>
        </p:txBody>
      </p:sp>
      <p:sp>
        <p:nvSpPr>
          <p:cNvPr id="18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NANO-ZNO</a:t>
            </a:r>
          </a:p>
        </p:txBody>
      </p:sp>
      <p:sp>
        <p:nvSpPr>
          <p:cNvPr id="18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INORGANIC SALTS</a:t>
            </a:r>
          </a:p>
        </p:txBody>
      </p:sp>
      <p:sp>
        <p:nvSpPr>
          <p:cNvPr id="18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Growth</a:t>
            </a:r>
          </a:p>
        </p:txBody>
      </p:sp>
      <p:sp>
        <p:nvSpPr>
          <p:cNvPr id="18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Stabilisation</a:t>
            </a:r>
          </a:p>
        </p:txBody>
      </p:sp>
      <p:sp>
        <p:nvSpPr>
          <p:cNvPr id="18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0001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brief 2026</a:t>
            </a:r>
          </a:p>
        </p:txBody>
      </p:sp>
      <p:sp>
        <p:nvSpPr>
          <p:cNvPr id="10001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Prioritise candidates with high growth and low stabilisation risks.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