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77" r:id="rId3"/>
    <p:sldId id="1978" r:id="rId13"/>
    <p:sldId id="1979" r:id="rId14"/>
    <p:sldId id="1980" r:id="rId15"/>
    <p:sldId id="1981" r:id="rId16"/>
    <p:sldId id="1982" r:id="rId17"/>
    <p:sldId id="1983" r:id="rId18"/>
    <p:sldId id="1984" r:id="rId19"/>
    <p:sldId id="1985" r:id="rId20"/>
    <p:sldId id="1986" r:id="rId21"/>
    <p:sldId id="1987" r:id="rId22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C0504D"/>
    <a:srgbClr val="FFC000"/>
    <a:srgbClr val="F48153"/>
    <a:srgbClr val="4F81BD"/>
    <a:srgbClr val="E6EDF6"/>
    <a:srgbClr val="275791"/>
    <a:srgbClr val="404040"/>
    <a:srgbClr val="FFFFCC"/>
    <a:srgbClr val="803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377" autoAdjust="0"/>
  </p:normalViewPr>
  <p:slideViewPr>
    <p:cSldViewPr snapToGrid="0" showGuides="1">
      <p:cViewPr varScale="1">
        <p:scale>
          <a:sx n="113" d="100"/>
          <a:sy n="113" d="100"/>
        </p:scale>
        <p:origin x="2176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216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776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C5076-C0D7-4AF2-9063-F1C0BF846D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776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DAB6-898C-4C02-A73E-0E0DF3713DD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1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761DBF-6FEA-498D-A646-2CD9AE27086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1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2E8A083-D066-4100-8956-8C85C40E5E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64021" y="4710779"/>
            <a:ext cx="6105219" cy="4461858"/>
          </a:xfrm>
          <a:prstGeom prst="rect">
            <a:avLst/>
          </a:prstGeom>
        </p:spPr>
        <p:txBody>
          <a:bodyPr/>
          <a:lstStyle/>
          <a:p>
            <a:endParaRPr lang="en-US">
              <a:latin typeface="Cambria" panose="02040503050406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16864" y="6299732"/>
            <a:ext cx="8327136" cy="5582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657600" y="6545579"/>
            <a:ext cx="1674796" cy="28855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" y="6304483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71779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9075" y="6432694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89075" y="753936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Placeholder 13"/>
          <p:cNvSpPr>
            <a:spLocks noGrp="1"/>
          </p:cNvSpPr>
          <p:nvPr>
            <p:ph type="title"/>
          </p:nvPr>
        </p:nvSpPr>
        <p:spPr>
          <a:xfrm>
            <a:off x="89076" y="0"/>
            <a:ext cx="8919466" cy="753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000" i="0">
                <a:solidFill>
                  <a:srgbClr val="002060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89075" y="6492780"/>
            <a:ext cx="634076" cy="309971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3124200" y="6516531"/>
            <a:ext cx="2895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>
                    <a:tint val="75000"/>
                  </a:prstClr>
                </a:solidFill>
              </a:rPr>
              <a:t>Confidential</a:t>
            </a:r>
            <a:endParaRPr 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800" b="1" i="1" kern="1200">
          <a:solidFill>
            <a:srgbClr val="00206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microsoft.com/office/2007/relationships/hdphoto" Target="../media/image18.wdp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9144001" cy="6858000"/>
          </a:xfrm>
          <a:prstGeom prst="rect">
            <a:avLst/>
          </a:prstGeom>
          <a:blipFill dpi="0" rotWithShape="1">
            <a:blip r:embed="rId1">
              <a:alphaModFix amt="15000"/>
            </a:blip>
            <a:srcRect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" y="2194914"/>
            <a:ext cx="9144000" cy="1784419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vi-VN" sz="3200" b="1" i="0" u="none" strike="noStrike" kern="1200" cap="all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76944" y="2724749"/>
            <a:ext cx="8224740" cy="927771"/>
          </a:xfrm>
          <a:prstGeom prst="roundRect">
            <a:avLst>
              <a:gd name="adj" fmla="val 8027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VNF: $28.5B Aquaculture Mineral Supplements by 2034</a:t>
            </a:r>
            <a:endParaRPr kumimoji="0" lang="vi-VN" sz="4000" b="1" i="0" u="none" strike="noStrike" kern="1200" cap="all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250" y="557013"/>
            <a:ext cx="1568536" cy="1189113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092" y="522126"/>
            <a:ext cx="1568536" cy="1224000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171" y="522126"/>
            <a:ext cx="1568536" cy="1189113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1329" y="522126"/>
            <a:ext cx="1568536" cy="1224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5930" y="539716"/>
            <a:ext cx="855176" cy="12237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252" y="4174002"/>
            <a:ext cx="5429432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kumimoji="0" lang="en-US" sz="1200" b="1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SimSun" panose="02010600030101010101" pitchFamily="2" charset="-122"/>
                <a:cs typeface="Calibri" panose="020F0502020204030204" pitchFamily="34" charset="0"/>
              </a:rPr>
              <a:t>REP. OFFICE</a:t>
            </a: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en-US" sz="1200" b="1" i="1" dirty="0">
                <a:solidFill>
                  <a:srgbClr val="002060"/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i="1" dirty="0">
                <a:solidFill>
                  <a:srgbClr val="4F81BD">
                    <a:lumMod val="50000"/>
                  </a:srgbClr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latin typeface="+mj-lt"/>
              </a:rPr>
              <a:t>2A Phan Ke Binh, Tan Dinh Ward, Ho Chi Minh City, Viet Nam</a:t>
            </a:r>
            <a:endParaRPr lang="en-US" sz="1200" b="1" dirty="0">
              <a:latin typeface="+mj-lt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1: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Hoa Trung Industrial Zone, Hoa Trung Hamlet, Luong The Tran Commune, Ca Mau Province, Viet Nam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2:</a:t>
            </a:r>
            <a:r>
              <a:rPr lang="en-US" sz="1200" b="1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Song Hau Industrial Park, Chau Thanh Commune, Can Tho City, Viet Nam</a:t>
            </a:r>
            <a:endParaRPr lang="en-US" sz="1200" b="1" u="sng" dirty="0">
              <a:solidFill>
                <a:srgbClr val="002060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PHONE: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(+84) 28 3911 2183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WEBSITE: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www.vnfoods.vn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</p:txBody>
      </p:sp>
      <p:pic>
        <p:nvPicPr>
          <p:cNvPr id="8" name="Graphic 7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5000256"/>
            <a:ext cx="274320" cy="274320"/>
          </a:xfrm>
          <a:prstGeom prst="rect">
            <a:avLst/>
          </a:prstGeom>
        </p:spPr>
      </p:pic>
      <p:pic>
        <p:nvPicPr>
          <p:cNvPr id="12" name="Graphic 11" descr="Schoolhouse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1666" y="4211426"/>
            <a:ext cx="274320" cy="274320"/>
          </a:xfrm>
          <a:prstGeom prst="rect">
            <a:avLst/>
          </a:prstGeom>
        </p:spPr>
      </p:pic>
      <p:pic>
        <p:nvPicPr>
          <p:cNvPr id="15" name="Graphic 14" descr="Telephone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5537" y="5584913"/>
            <a:ext cx="274320" cy="274320"/>
          </a:xfrm>
          <a:prstGeom prst="rect">
            <a:avLst/>
          </a:prstGeom>
        </p:spPr>
      </p:pic>
      <p:pic>
        <p:nvPicPr>
          <p:cNvPr id="18" name="Graphic 17" descr="Worl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3379" y="5871023"/>
            <a:ext cx="274320" cy="274320"/>
          </a:xfrm>
          <a:prstGeom prst="rect">
            <a:avLst/>
          </a:prstGeom>
        </p:spPr>
      </p:pic>
      <p:pic>
        <p:nvPicPr>
          <p:cNvPr id="26" name="Graphic 25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4468795"/>
            <a:ext cx="274320" cy="2743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/>
          <a:srcRect/>
          <a:stretch>
            <a:fillRect/>
          </a:stretch>
        </p:blipFill>
        <p:spPr>
          <a:xfrm>
            <a:off x="430956" y="4749903"/>
            <a:ext cx="2189001" cy="1081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33731" y="6516531"/>
            <a:ext cx="1276539" cy="25243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</a:t>
            </a:r>
            <a:endParaRPr lang="en-US" sz="12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4037" y="6110181"/>
            <a:ext cx="1906406" cy="756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102" name="AgendaRow1"/>
          <p:cNvSpPr/>
          <p:nvPr/>
        </p:nvSpPr>
        <p:spPr>
          <a:xfrm>
            <a:off x="500000" y="162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AgendaNum1"/>
          <p:cNvSpPr/>
          <p:nvPr/>
        </p:nvSpPr>
        <p:spPr>
          <a:xfrm>
            <a:off x="5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4" name="AgendaTxt1"/>
          <p:cNvSpPr txBox="1"/>
          <p:nvPr/>
        </p:nvSpPr>
        <p:spPr>
          <a:xfrm>
            <a:off x="11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Aquaculture mineral supplements will reach $28.5B by 2034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105" name="AgendaRow2"/>
          <p:cNvSpPr/>
          <p:nvPr/>
        </p:nvSpPr>
        <p:spPr>
          <a:xfrm>
            <a:off x="500000" y="234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gendaNum2"/>
          <p:cNvSpPr/>
          <p:nvPr/>
        </p:nvSpPr>
        <p:spPr>
          <a:xfrm>
            <a:off x="5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7" name="AgendaTxt2"/>
          <p:cNvSpPr txBox="1"/>
          <p:nvPr/>
        </p:nvSpPr>
        <p:spPr>
          <a:xfrm>
            <a:off x="11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Nano-Se delivers 1.5× growth vs. inorganic selenite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108" name="AgendaRow3"/>
          <p:cNvSpPr/>
          <p:nvPr/>
        </p:nvSpPr>
        <p:spPr>
          <a:xfrm>
            <a:off x="500000" y="306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AgendaNum3"/>
          <p:cNvSpPr/>
          <p:nvPr/>
        </p:nvSpPr>
        <p:spPr>
          <a:xfrm>
            <a:off x="5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0" name="AgendaTxt3"/>
          <p:cNvSpPr txBox="1"/>
          <p:nvPr/>
        </p:nvSpPr>
        <p:spPr>
          <a:xfrm>
            <a:off x="11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Nano-mineral vs. organic-chelate economics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  <p:sp>
        <p:nvSpPr>
          <p:cNvPr id="111" name="AgendaRow4"/>
          <p:cNvSpPr/>
          <p:nvPr/>
        </p:nvSpPr>
        <p:spPr>
          <a:xfrm>
            <a:off x="500000" y="378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AgendaNum4"/>
          <p:cNvSpPr/>
          <p:nvPr/>
        </p:nvSpPr>
        <p:spPr>
          <a:xfrm>
            <a:off x="5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AgendaTxt4"/>
          <p:cNvSpPr txBox="1"/>
          <p:nvPr/>
        </p:nvSpPr>
        <p:spPr>
          <a:xfrm>
            <a:off x="11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Shrimp-feed trace mineral market: $4.3–4.6B (2024–25) → $6.4B by...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6</a:t>
            </a:r>
          </a:p>
        </p:txBody>
      </p:sp>
      <p:sp>
        <p:nvSpPr>
          <p:cNvPr id="114" name="AgendaRow5"/>
          <p:cNvSpPr/>
          <p:nvPr/>
        </p:nvSpPr>
        <p:spPr>
          <a:xfrm>
            <a:off x="500000" y="450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AgendaNum5"/>
          <p:cNvSpPr/>
          <p:nvPr/>
        </p:nvSpPr>
        <p:spPr>
          <a:xfrm>
            <a:off x="5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6" name="AgendaTxt5"/>
          <p:cNvSpPr txBox="1"/>
          <p:nvPr/>
        </p:nvSpPr>
        <p:spPr>
          <a:xfrm>
            <a:off x="11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Nano-minerals face scale-up engineering risks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7</a:t>
            </a:r>
          </a:p>
        </p:txBody>
      </p:sp>
      <p:sp>
        <p:nvSpPr>
          <p:cNvPr id="117" name="AgendaRow6"/>
          <p:cNvSpPr/>
          <p:nvPr/>
        </p:nvSpPr>
        <p:spPr>
          <a:xfrm>
            <a:off x="4600000" y="162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AgendaNum6"/>
          <p:cNvSpPr/>
          <p:nvPr/>
        </p:nvSpPr>
        <p:spPr>
          <a:xfrm>
            <a:off x="46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9" name="AgendaTxt6"/>
          <p:cNvSpPr txBox="1"/>
          <p:nvPr/>
        </p:nvSpPr>
        <p:spPr>
          <a:xfrm>
            <a:off x="52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Nano-minerals vs. organic chelates: trade-offs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8</a:t>
            </a:r>
          </a:p>
        </p:txBody>
      </p:sp>
      <p:sp>
        <p:nvSpPr>
          <p:cNvPr id="120" name="AgendaRow7"/>
          <p:cNvSpPr/>
          <p:nvPr/>
        </p:nvSpPr>
        <p:spPr>
          <a:xfrm>
            <a:off x="4600000" y="234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AgendaNum7"/>
          <p:cNvSpPr/>
          <p:nvPr/>
        </p:nvSpPr>
        <p:spPr>
          <a:xfrm>
            <a:off x="46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22" name="AgendaTxt7"/>
          <p:cNvSpPr txBox="1"/>
          <p:nvPr/>
        </p:nvSpPr>
        <p:spPr>
          <a:xfrm>
            <a:off x="52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Regulatory risks for nano-minerals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9</a:t>
            </a:r>
          </a:p>
        </p:txBody>
      </p:sp>
      <p:sp>
        <p:nvSpPr>
          <p:cNvPr id="123" name="AgendaRow8"/>
          <p:cNvSpPr/>
          <p:nvPr/>
        </p:nvSpPr>
        <p:spPr>
          <a:xfrm>
            <a:off x="4600000" y="306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AgendaNum8"/>
          <p:cNvSpPr/>
          <p:nvPr/>
        </p:nvSpPr>
        <p:spPr>
          <a:xfrm>
            <a:off x="46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5" name="AgendaTxt8"/>
          <p:cNvSpPr txBox="1"/>
          <p:nvPr/>
        </p:nvSpPr>
        <p:spPr>
          <a:xfrm>
            <a:off x="52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VNF's 100-day execution roadmap to first cash flow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10</a:t>
            </a:r>
          </a:p>
        </p:txBody>
      </p:sp>
      <p:sp>
        <p:nvSpPr>
          <p:cNvPr id="126" name="AgendaRow9"/>
          <p:cNvSpPr/>
          <p:nvPr/>
        </p:nvSpPr>
        <p:spPr>
          <a:xfrm>
            <a:off x="4600000" y="378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AgendaNum9"/>
          <p:cNvSpPr/>
          <p:nvPr/>
        </p:nvSpPr>
        <p:spPr>
          <a:xfrm>
            <a:off x="46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8" name="AgendaTxt9"/>
          <p:cNvSpPr txBox="1"/>
          <p:nvPr/>
        </p:nvSpPr>
        <p:spPr>
          <a:xfrm>
            <a:off x="52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Build-first with partner overlay: $41.9M phased program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Aquaculture mineral supplements will reach $28.5B by 2034</a:t>
            </a:r>
          </a:p>
        </p:txBody>
      </p:sp>
      <p:sp>
        <p:nvSpPr>
          <p:cNvPr id="2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REVENUE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$28.5B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2034 projection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6.2% CAGR growth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Nano-structured minerals drive demand</a:t>
            </a:r>
          </a:p>
        </p:txBody>
      </p:sp>
      <p:sp>
        <p:nvSpPr>
          <p:cNvPr id="2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GROWTH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1.5–3×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Potential boost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Organic-chelated minerals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Sustainable aquaculture focus</a:t>
            </a:r>
          </a:p>
        </p:txBody>
      </p:sp>
      <p:sp>
        <p:nvSpPr>
          <p:cNvPr id="2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SEGMENT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4.2–4.9%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Shrimp-feed CAGR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Key driver in aquaculture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High demand for mineral supplements</a:t>
            </a:r>
          </a:p>
        </p:txBody>
      </p:sp>
      <p:sp>
        <p:nvSpPr>
          <p:cNvPr id="10000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CAGR 6.2% projection</a:t>
            </a:r>
          </a:p>
        </p:txBody>
      </p:sp>
      <p:sp>
        <p:nvSpPr>
          <p:cNvPr id="10000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Nano-structured and organic-chelated minerals offer 1.5–3× growth potential.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Nano-Se delivers 1.5× growth vs. inorganic selenite</a:t>
            </a:r>
          </a:p>
        </p:txBody>
      </p:sp>
      <p:sp>
        <p:nvSpPr>
          <p:cNvPr id="301" name="Card1"/>
          <p:cNvSpPr/>
          <p:nvPr/>
        </p:nvSpPr>
        <p:spPr>
          <a:xfrm>
            <a:off x="457200" y="1651000"/>
            <a:ext cx="4038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Bar1"/>
          <p:cNvSpPr/>
          <p:nvPr/>
        </p:nvSpPr>
        <p:spPr>
          <a:xfrm>
            <a:off x="457200" y="1651000"/>
            <a:ext cx="4038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CardTxt1"/>
          <p:cNvSpPr txBox="1"/>
          <p:nvPr/>
        </p:nvSpPr>
        <p:spPr>
          <a:xfrm>
            <a:off x="660400" y="1879600"/>
            <a:ext cx="3632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GROWTH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1.5×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vs inorganic selenite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Nano-Se delivers superior growth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VNF lab data 2026</a:t>
            </a:r>
          </a:p>
        </p:txBody>
      </p:sp>
      <p:sp>
        <p:nvSpPr>
          <p:cNvPr id="304" name="Card2"/>
          <p:cNvSpPr/>
          <p:nvPr/>
        </p:nvSpPr>
        <p:spPr>
          <a:xfrm>
            <a:off x="4648200" y="1651000"/>
            <a:ext cx="4038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Bar2"/>
          <p:cNvSpPr/>
          <p:nvPr/>
        </p:nvSpPr>
        <p:spPr>
          <a:xfrm>
            <a:off x="4648200" y="1651000"/>
            <a:ext cx="4038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Txt2"/>
          <p:cNvSpPr txBox="1"/>
          <p:nvPr/>
        </p:nvSpPr>
        <p:spPr>
          <a:xfrm>
            <a:off x="4851400" y="1879600"/>
            <a:ext cx="3632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EXCRETION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40% reduction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vs inorganic salts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 improve retention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ZnO-K benefits: 3.9–3.5× SOD/CAT mRNA</a:t>
            </a:r>
          </a:p>
        </p:txBody>
      </p:sp>
      <p:sp>
        <p:nvSpPr>
          <p:cNvPr id="10000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lab data 2026</a:t>
            </a:r>
          </a:p>
        </p:txBody>
      </p:sp>
      <p:sp>
        <p:nvSpPr>
          <p:cNvPr id="10000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reduce excretion by 40% vs. inorganic salts.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 vs. organic-chelate economics</a:t>
            </a:r>
          </a:p>
        </p:txBody>
      </p:sp>
      <p:sp>
        <p:nvSpPr>
          <p:cNvPr id="401" name="BarLbl1"/>
          <p:cNvSpPr txBox="1"/>
          <p:nvPr/>
        </p:nvSpPr>
        <p:spPr>
          <a:xfrm>
            <a:off x="457200" y="1800000"/>
            <a:ext cx="14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100" b="1" dirty="0">
                <a:solidFill>
                  <a:srgbClr val="002060"/>
                </a:solidFill>
                <a:latin typeface="Calibri"/>
              </a:rPr>
              <a:t>Nano unit economics</a:t>
            </a:r>
          </a:p>
        </p:txBody>
      </p:sp>
      <p:sp>
        <p:nvSpPr>
          <p:cNvPr id="402" name="Bar1"/>
          <p:cNvSpPr/>
          <p:nvPr/>
        </p:nvSpPr>
        <p:spPr>
          <a:xfrm>
            <a:off x="2000000" y="1800000"/>
            <a:ext cx="4500000" cy="6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BarVal1"/>
          <p:cNvSpPr txBox="1"/>
          <p:nvPr/>
        </p:nvSpPr>
        <p:spPr>
          <a:xfrm>
            <a:off x="6591440" y="1800000"/>
            <a:ext cx="9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1.5–2×</a:t>
            </a:r>
          </a:p>
        </p:txBody>
      </p:sp>
      <p:sp>
        <p:nvSpPr>
          <p:cNvPr id="404" name="BarLbl2"/>
          <p:cNvSpPr txBox="1"/>
          <p:nvPr/>
        </p:nvSpPr>
        <p:spPr>
          <a:xfrm>
            <a:off x="457200" y="2600000"/>
            <a:ext cx="14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100" b="1" dirty="0">
                <a:solidFill>
                  <a:srgbClr val="002060"/>
                </a:solidFill>
                <a:latin typeface="Calibri"/>
              </a:rPr>
              <a:t>Organic price premium</a:t>
            </a:r>
          </a:p>
        </p:txBody>
      </p:sp>
      <p:sp>
        <p:nvSpPr>
          <p:cNvPr id="405" name="Bar2"/>
          <p:cNvSpPr/>
          <p:nvPr/>
        </p:nvSpPr>
        <p:spPr>
          <a:xfrm>
            <a:off x="2000000" y="2600000"/>
            <a:ext cx="4500000" cy="60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BarVal2"/>
          <p:cNvSpPr txBox="1"/>
          <p:nvPr/>
        </p:nvSpPr>
        <p:spPr>
          <a:xfrm>
            <a:off x="6591440" y="2600000"/>
            <a:ext cx="9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1.5–2.5×</a:t>
            </a:r>
          </a:p>
        </p:txBody>
      </p:sp>
      <p:sp>
        <p:nvSpPr>
          <p:cNvPr id="407" name="BarLbl3"/>
          <p:cNvSpPr txBox="1"/>
          <p:nvPr/>
        </p:nvSpPr>
        <p:spPr>
          <a:xfrm>
            <a:off x="457200" y="3400000"/>
            <a:ext cx="14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100" b="1" dirty="0">
                <a:solidFill>
                  <a:srgbClr val="002060"/>
                </a:solidFill>
                <a:latin typeface="Calibri"/>
              </a:rPr>
              <a:t>Nano CapEx</a:t>
            </a:r>
          </a:p>
        </p:txBody>
      </p:sp>
      <p:sp>
        <p:nvSpPr>
          <p:cNvPr id="408" name="Bar3"/>
          <p:cNvSpPr/>
          <p:nvPr/>
        </p:nvSpPr>
        <p:spPr>
          <a:xfrm>
            <a:off x="2000000" y="3400000"/>
            <a:ext cx="6000000" cy="6000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BarVal3"/>
          <p:cNvSpPr txBox="1"/>
          <p:nvPr/>
        </p:nvSpPr>
        <p:spPr>
          <a:xfrm>
            <a:off x="8091440" y="3400000"/>
            <a:ext cx="9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2–3×</a:t>
            </a:r>
          </a:p>
        </p:txBody>
      </p:sp>
      <p:sp>
        <p:nvSpPr>
          <p:cNvPr id="410" name="UnitNote"/>
          <p:cNvSpPr txBox="1"/>
          <p:nvPr/>
        </p:nvSpPr>
        <p:spPr>
          <a:xfrm>
            <a:off x="2000000" y="4200000"/>
            <a:ext cx="6000000" cy="3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</a:rPr>
              <a:t>Unit economics vs. CapEx comparison</a:t>
            </a:r>
          </a:p>
        </p:txBody>
      </p:sp>
      <p:sp>
        <p:nvSpPr>
          <p:cNvPr id="10000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cost modeling 2026</a:t>
            </a:r>
          </a:p>
        </p:txBody>
      </p:sp>
      <p:sp>
        <p:nvSpPr>
          <p:cNvPr id="10000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Nano-forms have 1.5–2× unit economics but 2–3× manufacturing CapEx.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Shrimp-feed trace mineral market: $4.3–4.6B (2024–25) → $6.4B by…</a:t>
            </a:r>
          </a:p>
        </p:txBody>
      </p:sp>
      <p:graphicFrame>
        <p:nvGraphicFramePr>
          <p:cNvPr id="501" name="DataTable"/>
          <p:cNvGraphicFramePr>
            <a:graphicFrameLocks noGrp="1"/>
          </p:cNvGraphicFramePr>
          <p:nvPr/>
        </p:nvGraphicFramePr>
        <p:xfrm>
          <a:off x="457200" y="1651000"/>
          <a:ext cx="8229600" cy="11000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2743200"/>
                <a:gridCol w="27432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Market Size (USD Billion)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CAGR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2024–25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$4.3–4.6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2035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$6.4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0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Aquaculture Intelligence 2026</a:t>
            </a:r>
          </a:p>
        </p:txBody>
      </p:sp>
      <p:sp>
        <p:nvSpPr>
          <p:cNvPr id="10000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Shrimp is the highest-growth segment in aquaculture mineral supplements.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Validate commercial stabilisation protocols before scaling to mitigate nano-minerals' scale-up engineering risks.</a:t>
            </a:r>
          </a:p>
        </p:txBody>
      </p:sp>
      <p:sp>
        <p:nvSpPr>
          <p:cNvPr id="6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TRL 6–7 validation challenges</a:t>
            </a:r>
          </a:p>
        </p:txBody>
      </p:sp>
      <p:sp>
        <p:nvSpPr>
          <p:cNvPr id="6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Manufacturing process challenges</a:t>
            </a:r>
          </a:p>
        </p:txBody>
      </p:sp>
      <p:sp>
        <p:nvSpPr>
          <p:cNvPr id="6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Regulatory uncertainty</a:t>
            </a:r>
          </a:p>
        </p:txBody>
      </p:sp>
      <p:sp>
        <p:nvSpPr>
          <p:cNvPr id="6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Lack of standardised protocols for nano-mineral stability testing at pilot scale.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Inconsistent performance metrics across different lab-to-pilot transition methods.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Limited data on long-term aggregation behaviour in commercial manufacturing.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Gaps in predictive models for scale-up-induced property degradation.</a:t>
            </a:r>
          </a:p>
        </p:txBody>
      </p:sp>
      <p:sp>
        <p:nvSpPr>
          <p:cNvPr id="6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Scaling up from lab reactors to continuous production lines disrupts nano-mineral dispersion.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Aggregation risks increase with higher throughput and different mixing equipment.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Surface modification stability varies unpredictably at industrial scales.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Post-processing steps (e.g., drying, granulation) alter nano-mineral properties.</a:t>
            </a:r>
          </a:p>
        </p:txBody>
      </p:sp>
      <p:sp>
        <p:nvSpPr>
          <p:cNvPr id="6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Lack of harmonised guidelines for nano-mineral classification and risk assessment.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Unclear liability frameworks for scale-up failures in commercial products.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Dynamic regulatory landscapes create compliance risks for stabilisation protocols.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Standardisation efforts lag behind rapid nano-mineral commercialisation trends.</a:t>
            </a:r>
          </a:p>
        </p:txBody>
      </p:sp>
      <p:cxnSp>
        <p:nvCxnSpPr>
          <p:cNvPr id="608" name="PyramidConn1"/>
          <p:cNvCxnSpPr>
            <a:stCxn id="601" idx="2"/>
            <a:endCxn id="6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609" name="PyramidConn2"/>
          <p:cNvCxnSpPr>
            <a:stCxn id="601" idx="2"/>
            <a:endCxn id="6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610" name="PyramidConn3"/>
          <p:cNvCxnSpPr>
            <a:stCxn id="601" idx="2"/>
            <a:endCxn id="6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vs. organic chelates: trade-offs</a:t>
            </a:r>
          </a:p>
        </p:txBody>
      </p:sp>
      <p:sp>
        <p:nvSpPr>
          <p:cNvPr id="7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High growth potential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Innovative technology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Market demand for nano-minerals</a:t>
            </a:r>
          </a:p>
        </p:txBody>
      </p:sp>
      <p:sp>
        <p:nvSpPr>
          <p:cNvPr id="7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High regulatory risks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Technical complexity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Longer development time</a:t>
            </a:r>
          </a:p>
        </p:txBody>
      </p:sp>
      <p:sp>
        <p:nvSpPr>
          <p:cNvPr id="7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Faster market entry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Lower initial investment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Established supply chains</a:t>
            </a:r>
          </a:p>
        </p:txBody>
      </p:sp>
      <p:sp>
        <p:nvSpPr>
          <p:cNvPr id="7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Lower long-term growth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nano-minerals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Volatility in organic chelate prices</a:t>
            </a:r>
          </a:p>
        </p:txBody>
      </p:sp>
      <p:sp>
        <p:nvSpPr>
          <p:cNvPr id="10000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SWOT analysis 2026</a:t>
            </a:r>
          </a:p>
        </p:txBody>
      </p:sp>
      <p:sp>
        <p:nvSpPr>
          <p:cNvPr id="10000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may offer faster commercialisation but lower long-term growth.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Regulatory risks for nano-minerals</a:t>
            </a:r>
          </a:p>
        </p:txBody>
      </p:sp>
      <p:sp>
        <p:nvSpPr>
          <p:cNvPr id="801" name="HeatCell1"/>
          <p:cNvSpPr txBox="1"/>
          <p:nvPr/>
        </p:nvSpPr>
        <p:spPr>
          <a:xfrm>
            <a:off x="5833332" y="44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8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EU Zn</a:t>
            </a:r>
          </a:p>
        </p:txBody>
      </p:sp>
      <p:sp>
        <p:nvSpPr>
          <p:cNvPr id="803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804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805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8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8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8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8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8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0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EFSA opinions 2026</a:t>
            </a:r>
          </a:p>
        </p:txBody>
      </p:sp>
      <p:sp>
        <p:nvSpPr>
          <p:cNvPr id="10000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File defensive IP in high-risk regions (Vietnam/India/Ecuador).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VNF's 100-day execution roadmap to first cash flow</a:t>
            </a:r>
          </a:p>
        </p:txBody>
      </p:sp>
      <p:sp>
        <p:nvSpPr>
          <p:cNvPr id="9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Q1'26</a:t>
            </a:r>
          </a:p>
        </p:txBody>
      </p:sp>
      <p:sp>
        <p:nvSpPr>
          <p:cNvPr id="9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Q2'26</a:t>
            </a:r>
          </a:p>
        </p:txBody>
      </p:sp>
      <p:sp>
        <p:nvSpPr>
          <p:cNvPr id="9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Q3'26</a:t>
            </a:r>
          </a:p>
        </p:txBody>
      </p:sp>
      <p:sp>
        <p:nvSpPr>
          <p:cNvPr id="9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Q4'26</a:t>
            </a:r>
          </a:p>
        </p:txBody>
      </p:sp>
      <p:cxnSp>
        <p:nvCxnSpPr>
          <p:cNvPr id="905" name="QGrid1"/>
          <p:cNvCxnSpPr>
    </p:cNvCxnSpPr>
          <p:nvPr/>
        </p:nvCxnSpPr>
        <p:spPr>
          <a:xfrm>
            <a:off x="382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906" name="QGrid2"/>
          <p:cNvCxnSpPr>
    </p:cNvCxnSpPr>
          <p:nvPr/>
        </p:nvCxnSpPr>
        <p:spPr>
          <a:xfrm>
            <a:off x="5450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907" name="QGrid3"/>
          <p:cNvCxnSpPr>
    </p:cNvCxnSpPr>
          <p:nvPr/>
        </p:nvCxnSpPr>
        <p:spPr>
          <a:xfrm>
            <a:off x="707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9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IP filing</a:t>
            </a:r>
          </a:p>
        </p:txBody>
      </p:sp>
      <p:sp>
        <p:nvSpPr>
          <p:cNvPr id="909" name="WsBar1_1"/>
          <p:cNvSpPr/>
          <p:nvPr/>
        </p:nvSpPr>
        <p:spPr>
          <a:xfrm>
            <a:off x="2245720" y="23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IP filing</a:t>
            </a:r>
          </a:p>
        </p:txBody>
      </p:sp>
      <p:sp>
        <p:nvSpPr>
          <p:cNvPr id="910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Pilot integration</a:t>
            </a:r>
          </a:p>
        </p:txBody>
      </p:sp>
      <p:sp>
        <p:nvSpPr>
          <p:cNvPr id="911" name="WsBar2_1"/>
          <p:cNvSpPr/>
          <p:nvPr/>
        </p:nvSpPr>
        <p:spPr>
          <a:xfrm>
            <a:off x="3870720" y="31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912" name="WsLbl3"/>
          <p:cNvSpPr txBox="1"/>
          <p:nvPr/>
        </p:nvSpPr>
        <p:spPr>
          <a:xfrm>
            <a:off x="230400" y="37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First cash flow</a:t>
            </a:r>
          </a:p>
        </p:txBody>
      </p:sp>
      <p:sp>
        <p:nvSpPr>
          <p:cNvPr id="913" name="WsBar3_1"/>
          <p:cNvSpPr/>
          <p:nvPr/>
        </p:nvSpPr>
        <p:spPr>
          <a:xfrm>
            <a:off x="5495720" y="39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953735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Cash flow</a:t>
            </a:r>
          </a:p>
        </p:txBody>
      </p:sp>
      <p:cxnSp>
        <p:nvCxnSpPr>
          <p:cNvPr id="914" name="TodayLine"/>
          <p:cNvCxnSpPr>
    </p:cNvCxnSpPr>
          <p:nvPr/>
        </p:nvCxnSpPr>
        <p:spPr>
          <a:xfrm>
            <a:off x="2200000" y="2160000"/>
            <a:ext cx="0" cy="24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0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strategy workshop 2026</a:t>
            </a:r>
          </a:p>
        </p:txBody>
      </p:sp>
      <p:sp>
        <p:nvSpPr>
          <p:cNvPr id="10000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Anchor on organic chelates for faster commercialisation.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Build-first with partner overlay: $41.9M phased program</a:t>
            </a:r>
          </a:p>
        </p:txBody>
      </p:sp>
      <p:sp>
        <p:nvSpPr>
          <p:cNvPr id="10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Build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</a:t>
            </a:r>
          </a:p>
        </p:txBody>
      </p:sp>
      <p:sp>
        <p:nvSpPr>
          <p:cNvPr id="10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Partner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Nano-minerals</a:t>
            </a:r>
          </a:p>
        </p:txBody>
      </p:sp>
      <p:sp>
        <p:nvSpPr>
          <p:cNvPr id="10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Overlay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IP filing</a:t>
            </a:r>
          </a:p>
        </p:txBody>
      </p:sp>
      <p:sp>
        <p:nvSpPr>
          <p:cNvPr id="10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Partner overlay reduces upfront CapEx and accelerates commercialisation.</a:t>
            </a:r>
          </a:p>
        </p:txBody>
      </p:sp>
    </p:spTree>
  </p:cSld>
</p:sld>
</file>

<file path=ppt/tags/tag1.xml><?xml version="1.0" encoding="utf-8"?>
<p:tagLst xmlns:p="http://schemas.openxmlformats.org/presentationml/2006/main">
  <p:tag name="MM_SLIDE_TYPE" val="6"/>
</p:tagLst>
</file>

<file path=ppt/tags/tag2.xml><?xml version="1.0" encoding="utf-8"?>
<p:tagLst xmlns:p="http://schemas.openxmlformats.org/presentationml/2006/main">
  <p:tag name="MM_SLIDE_TYPE" val="6"/>
</p:tagLst>
</file>

<file path=ppt/tags/tag6.xml><?xml version="1.0" encoding="utf-8"?>
<p:tagLst xmlns:p="http://schemas.openxmlformats.org/presentationml/2006/main">
  <p:tag name="DH_FLYSHEET_STYL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9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8169476D4E494B950A59EBCB7A573C" ma:contentTypeVersion="19" ma:contentTypeDescription="Create a new document." ma:contentTypeScope="" ma:versionID="029978e329cdaafd2d145a8ff8cd7be5">
  <xsd:schema xmlns:xsd="http://www.w3.org/2001/XMLSchema" xmlns:xs="http://www.w3.org/2001/XMLSchema" xmlns:p="http://schemas.microsoft.com/office/2006/metadata/properties" xmlns:ns2="bd46642e-baf8-4e0b-90a8-08a61c43d436" xmlns:ns3="da89c8aa-bdf1-4272-829d-0bf2fbc1fefc" targetNamespace="http://schemas.microsoft.com/office/2006/metadata/properties" ma:root="true" ma:fieldsID="45975fc9e5c42f58d0005cd0e0642dc9" ns2:_="" ns3:_="">
    <xsd:import namespace="bd46642e-baf8-4e0b-90a8-08a61c43d436"/>
    <xsd:import namespace="da89c8aa-bdf1-4272-829d-0bf2fbc1fe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6642e-baf8-4e0b-90a8-08a61c43d4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9187416-f788-437a-8c7c-a113f37dc8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9c8aa-bdf1-4272-829d-0bf2fbc1fe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ba7653-8b86-4d71-9290-79e61846c644}" ma:internalName="TaxCatchAll" ma:showField="CatchAllData" ma:web="da89c8aa-bdf1-4272-829d-0bf2fbc1fe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46642e-baf8-4e0b-90a8-08a61c43d436">
      <Terms xmlns="http://schemas.microsoft.com/office/infopath/2007/PartnerControls"/>
    </lcf76f155ced4ddcb4097134ff3c332f>
    <TaxCatchAll xmlns="da89c8aa-bdf1-4272-829d-0bf2fbc1fe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05064457-A99B-4F5A-8265-53D78F6EBD13}">
  <ds:schemaRefs/>
</ds:datastoreItem>
</file>

<file path=customXml/itemProps4.xml><?xml version="1.0" encoding="utf-8"?>
<ds:datastoreItem xmlns:ds="http://schemas.openxmlformats.org/officeDocument/2006/customXml" ds:itemID="{AED47698-1855-40F8-88F1-9046674C7C6F}">
  <ds:schemaRefs/>
</ds:datastoreItem>
</file>

<file path=customXml/itemProps5.xml><?xml version="1.0" encoding="utf-8"?>
<ds:datastoreItem xmlns:ds="http://schemas.openxmlformats.org/officeDocument/2006/customXml" ds:itemID="{A168439B-1DAE-4F2B-934D-367C7A79D1E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330</Words>
  <Application>WPS Presentation</Application>
  <PresentationFormat>On-screen Show (4:3)</PresentationFormat>
  <Paragraphs>10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Montserrat</vt:lpstr>
      <vt:lpstr>Liberation Mono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Trí Phạm</cp:lastModifiedBy>
  <cp:revision>2</cp:revision>
  <dcterms:created xsi:type="dcterms:W3CDTF">2020-07-24T09:46:00Z</dcterms:created>
  <dcterms:modified xsi:type="dcterms:W3CDTF">2026-08-05T07:19:31Z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0x010100DD8169476D4E494B950A59EBCB7A573C</vt:lpwstr>
  </property>
  <property fmtid="{D5CDD505-2E9C-101B-9397-08002B2CF9AE}" pid="3" name="MediaServiceImageTags">
    <vt:lpwstr/>
  </property>
  <property fmtid="{D5CDD505-2E9C-101B-9397-08002B2CF9AE}" pid="4" name="ICV">
    <vt:lpwstr>3A92109A331E46C8A8FC5A7A47822D39_12</vt:lpwstr>
  </property>
  <property fmtid="{D5CDD505-2E9C-101B-9397-08002B2CF9AE}" pid="5" name="KSOProductBuildVer">
    <vt:lpwstr>1033-12.1.0.28032</vt:lpwstr>
  </property>
</Properties>
</file>