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977" r:id="rId3"/>
    <p:sldId id="1978" r:id="rId13"/>
    <p:sldId id="1979" r:id="rId14"/>
    <p:sldId id="1980" r:id="rId15"/>
    <p:sldId id="1981" r:id="rId16"/>
    <p:sldId id="1982" r:id="rId17"/>
    <p:sldId id="1983" r:id="rId18"/>
    <p:sldId id="1984" r:id="rId19"/>
    <p:sldId id="1985" r:id="rId20"/>
    <p:sldId id="1986" r:id="rId21"/>
    <p:sldId id="1987" r:id="rId22"/>
    <p:sldId id="1988" r:id="rId23"/>
    <p:sldId id="1989" r:id="rId24"/>
    <p:sldId id="1990" r:id="rId25"/>
    <p:sldId id="1991" r:id="rId26"/>
    <p:sldId id="1992" r:id="rId27"/>
    <p:sldId id="1993" r:id="rId28"/>
    <p:sldId id="1994" r:id="rId29"/>
    <p:sldId id="1995" r:id="rId30"/>
    <p:sldId id="1996" r:id="rId31"/>
    <p:sldId id="1997" r:id="rId32"/>
    <p:sldId id="1998" r:id="rId33"/>
    <p:sldId id="1999" r:id="rId34"/>
    <p:sldId id="2000" r:id="rId35"/>
    <p:sldId id="2001" r:id="rId36"/>
    <p:sldId id="2002" r:id="rId37"/>
    <p:sldId id="2003" r:id="rId38"/>
    <p:sldId id="2004" r:id="rId39"/>
    <p:sldId id="2005" r:id="rId40"/>
    <p:sldId id="2006" r:id="rId41"/>
    <p:sldId id="2007" r:id="rId42"/>
    <p:sldId id="2008" r:id="rId43"/>
    <p:sldId id="2009" r:id="rId44"/>
    <p:sldId id="2010" r:id="rId45"/>
    <p:sldId id="2011" r:id="rId46"/>
    <p:sldId id="2012" r:id="rId47"/>
    <p:sldId id="2013" r:id="rId48"/>
    <p:sldId id="2014" r:id="rId49"/>
    <p:sldId id="2015" r:id="rId50"/>
    <p:sldId id="2016" r:id="rId51"/>
    <p:sldId id="2017" r:id="rId52"/>
    <p:sldId id="2018" r:id="rId53"/>
    <p:sldId id="2019" r:id="rId54"/>
    <p:sldId id="2020" r:id="rId55"/>
    <p:sldId id="2021" r:id="rId56"/>
    <p:sldId id="2022" r:id="rId57"/>
    <p:sldId id="2023" r:id="rId58"/>
    <p:sldId id="2024" r:id="rId59"/>
    <p:sldId id="2025" r:id="rId60"/>
    <p:sldId id="2026" r:id="rId61"/>
    <p:sldId id="2027" r:id="rId62"/>
    <p:sldId id="2028" r:id="rId63"/>
    <p:sldId id="2029" r:id="rId64"/>
    <p:sldId id="2030" r:id="rId65"/>
    <p:sldId id="2031" r:id="rId66"/>
  </p:sldIdLst>
  <p:sldSz cx="9144000" cy="6858000" type="screen4x3"/>
  <p:notesSz cx="7315200" cy="96012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C0504D"/>
    <a:srgbClr val="FFC000"/>
    <a:srgbClr val="F48153"/>
    <a:srgbClr val="4F81BD"/>
    <a:srgbClr val="E6EDF6"/>
    <a:srgbClr val="275791"/>
    <a:srgbClr val="404040"/>
    <a:srgbClr val="FFFFCC"/>
    <a:srgbClr val="803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377" autoAdjust="0"/>
  </p:normalViewPr>
  <p:slideViewPr>
    <p:cSldViewPr snapToGrid="0" showGuides="1">
      <p:cViewPr varScale="1">
        <p:scale>
          <a:sx n="113" d="100"/>
          <a:sy n="113" d="100"/>
        </p:scale>
        <p:origin x="2176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3216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2776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C5076-C0D7-4AF2-9063-F1C0BF846D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2776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0DAB6-898C-4C02-A73E-0E0DF3713DD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1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3761DBF-6FEA-498D-A646-2CD9AE27086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1"/>
            <a:ext cx="5852160" cy="378047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1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2E8A083-D066-4100-8956-8C85C40E5EF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64021" y="4710779"/>
            <a:ext cx="6105219" cy="4461858"/>
          </a:xfrm>
          <a:prstGeom prst="rect">
            <a:avLst/>
          </a:prstGeom>
        </p:spPr>
        <p:txBody>
          <a:bodyPr/>
          <a:lstStyle/>
          <a:p>
            <a:endParaRPr lang="en-US">
              <a:latin typeface="Cambria" panose="02040503050406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816864" y="6299732"/>
            <a:ext cx="8327136" cy="55826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3657600" y="6545579"/>
            <a:ext cx="1674796" cy="28855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" y="6304483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" y="671779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9075" y="6432694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89075" y="753936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itle Placeholder 13"/>
          <p:cNvSpPr>
            <a:spLocks noGrp="1"/>
          </p:cNvSpPr>
          <p:nvPr>
            <p:ph type="title"/>
          </p:nvPr>
        </p:nvSpPr>
        <p:spPr>
          <a:xfrm>
            <a:off x="89076" y="0"/>
            <a:ext cx="8919466" cy="753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000" i="0">
                <a:solidFill>
                  <a:srgbClr val="002060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pic>
        <p:nvPicPr>
          <p:cNvPr id="3" name="Picture 2" descr="A close up of a 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89075" y="6492780"/>
            <a:ext cx="634076" cy="309971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 txBox="1"/>
          <p:nvPr userDrawn="1"/>
        </p:nvSpPr>
        <p:spPr>
          <a:xfrm>
            <a:off x="3124200" y="6516531"/>
            <a:ext cx="2895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>
                    <a:tint val="75000"/>
                  </a:prstClr>
                </a:solidFill>
              </a:rPr>
              <a:t>Confidential</a:t>
            </a:r>
            <a:endParaRPr 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1800" b="1" i="1" kern="1200">
          <a:solidFill>
            <a:srgbClr val="002060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.xml"/><Relationship Id="rId17" Type="http://schemas.microsoft.com/office/2007/relationships/hdphoto" Target="../media/image18.wdp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svg"/><Relationship Id="rId13" Type="http://schemas.openxmlformats.org/officeDocument/2006/relationships/image" Target="../media/image14.png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image" Target="../media/image11.svg"/><Relationship Id="rId1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0"/>
            <a:ext cx="9144001" cy="6858000"/>
          </a:xfrm>
          <a:prstGeom prst="rect">
            <a:avLst/>
          </a:prstGeom>
          <a:blipFill dpi="0" rotWithShape="1">
            <a:blip r:embed="rId1">
              <a:alphaModFix amt="15000"/>
            </a:blip>
            <a:srcRect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" y="2194914"/>
            <a:ext cx="9144000" cy="1784419"/>
          </a:xfrm>
          <a:prstGeom prst="rect">
            <a:avLst/>
          </a:prstGeom>
          <a:solidFill>
            <a:schemeClr val="bg1">
              <a:alpha val="7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vi-VN" sz="3200" b="1" i="0" u="none" strike="noStrike" kern="1200" cap="all" spc="0" normalizeH="0" baseline="0" noProof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576944" y="2724749"/>
            <a:ext cx="8224740" cy="927771"/>
          </a:xfrm>
          <a:prstGeom prst="roundRect">
            <a:avLst>
              <a:gd name="adj" fmla="val 8027"/>
            </a:avLst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cap="al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**"Aquaculture Mineral Supplements: $28.5B Market Opportunity with Nano &amp; Organic Chelates"**</a:t>
            </a:r>
            <a:endParaRPr kumimoji="0" lang="vi-VN" sz="4000" b="1" i="0" u="none" strike="noStrike" kern="1200" cap="all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9250" y="557013"/>
            <a:ext cx="1568536" cy="1189113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17092" y="522126"/>
            <a:ext cx="1568536" cy="1224000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171" y="522126"/>
            <a:ext cx="1568536" cy="1189113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81329" y="522126"/>
            <a:ext cx="1568536" cy="1224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5930" y="539716"/>
            <a:ext cx="855176" cy="12237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72252" y="4174002"/>
            <a:ext cx="5429432" cy="2002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kumimoji="0" lang="en-US" sz="1200" b="1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SimSun" panose="02010600030101010101" pitchFamily="2" charset="-122"/>
                <a:cs typeface="Calibri" panose="020F0502020204030204" pitchFamily="34" charset="0"/>
              </a:rPr>
              <a:t>REP. OFFICE</a:t>
            </a: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:</a:t>
            </a:r>
            <a:r>
              <a:rPr lang="en-US" sz="1200" b="1" i="1" dirty="0">
                <a:solidFill>
                  <a:srgbClr val="002060"/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i="1" dirty="0">
                <a:solidFill>
                  <a:srgbClr val="4F81BD">
                    <a:lumMod val="50000"/>
                  </a:srgbClr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latin typeface="+mj-lt"/>
              </a:rPr>
              <a:t>2A Phan Ke Binh, Tan Dinh Ward, Ho Chi Minh City, Viet Nam</a:t>
            </a:r>
            <a:endParaRPr lang="en-US" sz="1200" b="1" dirty="0">
              <a:latin typeface="+mj-lt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1: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Hoa Trung Industrial Zone, Hoa Trung Hamlet, Luong The Tran Commune, Ca Mau Province, Viet Nam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2:</a:t>
            </a:r>
            <a:r>
              <a:rPr lang="en-US" sz="1200" b="1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Song Hau Industrial Park, Chau Thanh Commune, Can Tho City, Viet Nam</a:t>
            </a:r>
            <a:endParaRPr lang="en-US" sz="1200" b="1" u="sng" dirty="0">
              <a:solidFill>
                <a:srgbClr val="002060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PHONE: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(+84) 28 3911 2183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WEBSITE: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www.vnfoods.vn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</p:txBody>
      </p:sp>
      <p:pic>
        <p:nvPicPr>
          <p:cNvPr id="8" name="Graphic 7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5000256"/>
            <a:ext cx="274320" cy="274320"/>
          </a:xfrm>
          <a:prstGeom prst="rect">
            <a:avLst/>
          </a:prstGeom>
        </p:spPr>
      </p:pic>
      <p:pic>
        <p:nvPicPr>
          <p:cNvPr id="12" name="Graphic 11" descr="Schoolhouse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41666" y="4211426"/>
            <a:ext cx="274320" cy="274320"/>
          </a:xfrm>
          <a:prstGeom prst="rect">
            <a:avLst/>
          </a:prstGeom>
        </p:spPr>
      </p:pic>
      <p:pic>
        <p:nvPicPr>
          <p:cNvPr id="15" name="Graphic 14" descr="Telephone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35537" y="5584913"/>
            <a:ext cx="274320" cy="274320"/>
          </a:xfrm>
          <a:prstGeom prst="rect">
            <a:avLst/>
          </a:prstGeom>
        </p:spPr>
      </p:pic>
      <p:pic>
        <p:nvPicPr>
          <p:cNvPr id="18" name="Graphic 17" descr="Worl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33379" y="5871023"/>
            <a:ext cx="274320" cy="274320"/>
          </a:xfrm>
          <a:prstGeom prst="rect">
            <a:avLst/>
          </a:prstGeom>
        </p:spPr>
      </p:pic>
      <p:pic>
        <p:nvPicPr>
          <p:cNvPr id="26" name="Graphic 25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4468795"/>
            <a:ext cx="274320" cy="2743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 cstate="print"/>
          <a:srcRect/>
          <a:stretch>
            <a:fillRect/>
          </a:stretch>
        </p:blipFill>
        <p:spPr>
          <a:xfrm>
            <a:off x="430956" y="4749903"/>
            <a:ext cx="2189001" cy="10812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33731" y="6516531"/>
            <a:ext cx="1276539" cy="25243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</a:t>
            </a:r>
            <a:endParaRPr lang="en-US" sz="1200" b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5000" contrast="5000"/>
                    </a14:imgEffect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64037" y="6110181"/>
            <a:ext cx="1906406" cy="7560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102" name="AgendaRow1"/>
          <p:cNvSpPr/>
          <p:nvPr/>
        </p:nvSpPr>
        <p:spPr>
          <a:xfrm>
            <a:off x="1000000" y="162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AgendaNum1"/>
          <p:cNvSpPr/>
          <p:nvPr/>
        </p:nvSpPr>
        <p:spPr>
          <a:xfrm>
            <a:off x="10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4" name="AgendaTxt1"/>
          <p:cNvSpPr txBox="1"/>
          <p:nvPr/>
        </p:nvSpPr>
        <p:spPr>
          <a:xfrm>
            <a:off x="16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Science: Mineral supplements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</a:t>
            </a:r>
          </a:p>
        </p:txBody>
      </p:sp>
      <p:sp>
        <p:nvSpPr>
          <p:cNvPr id="105" name="AgendaRow2"/>
          <p:cNvSpPr/>
          <p:nvPr/>
        </p:nvSpPr>
        <p:spPr>
          <a:xfrm>
            <a:off x="1000000" y="234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AgendaNum2"/>
          <p:cNvSpPr/>
          <p:nvPr/>
        </p:nvSpPr>
        <p:spPr>
          <a:xfrm>
            <a:off x="10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7" name="AgendaTxt2"/>
          <p:cNvSpPr txBox="1"/>
          <p:nvPr/>
        </p:nvSpPr>
        <p:spPr>
          <a:xfrm>
            <a:off x="16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Technology: Nano-organic chelates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9</a:t>
            </a:r>
          </a:p>
        </p:txBody>
      </p:sp>
      <p:sp>
        <p:nvSpPr>
          <p:cNvPr id="108" name="AgendaRow3"/>
          <p:cNvSpPr/>
          <p:nvPr/>
        </p:nvSpPr>
        <p:spPr>
          <a:xfrm>
            <a:off x="10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AgendaNum3"/>
          <p:cNvSpPr/>
          <p:nvPr/>
        </p:nvSpPr>
        <p:spPr>
          <a:xfrm>
            <a:off x="10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0" name="AgendaTxt3"/>
          <p:cNvSpPr txBox="1"/>
          <p:nvPr/>
        </p:nvSpPr>
        <p:spPr>
          <a:xfrm>
            <a:off x="16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Industrial: Market transition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22</a:t>
            </a:r>
          </a:p>
        </p:txBody>
      </p:sp>
      <p:sp>
        <p:nvSpPr>
          <p:cNvPr id="111" name="AgendaRow4"/>
          <p:cNvSpPr/>
          <p:nvPr/>
        </p:nvSpPr>
        <p:spPr>
          <a:xfrm>
            <a:off x="1000000" y="378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AgendaNum4"/>
          <p:cNvSpPr/>
          <p:nvPr/>
        </p:nvSpPr>
        <p:spPr>
          <a:xfrm>
            <a:off x="10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3" name="AgendaTxt4"/>
          <p:cNvSpPr txBox="1"/>
          <p:nvPr/>
        </p:nvSpPr>
        <p:spPr>
          <a:xfrm>
            <a:off x="16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Market: $28.5B opportunity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33</a:t>
            </a:r>
          </a:p>
        </p:txBody>
      </p:sp>
      <p:sp>
        <p:nvSpPr>
          <p:cNvPr id="114" name="AgendaRow5"/>
          <p:cNvSpPr/>
          <p:nvPr/>
        </p:nvSpPr>
        <p:spPr>
          <a:xfrm>
            <a:off x="1000000" y="450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AgendaNum5"/>
          <p:cNvSpPr/>
          <p:nvPr/>
        </p:nvSpPr>
        <p:spPr>
          <a:xfrm>
            <a:off x="10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6" name="AgendaTxt5"/>
          <p:cNvSpPr txBox="1"/>
          <p:nvPr/>
        </p:nvSpPr>
        <p:spPr>
          <a:xfrm>
            <a:off x="16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Shrimp focus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41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Vietnam's food safety sector offers 3x growth potential</a:t>
            </a:r>
          </a:p>
        </p:txBody>
      </p:sp>
      <p:sp>
        <p:nvSpPr>
          <p:cNvPr id="202" name="Pillar1"/>
          <p:cNvSpPr/>
          <p:nvPr/>
        </p:nvSpPr>
        <p:spPr>
          <a:xfrm>
            <a:off x="4572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3" name="PillarBadge1"/>
          <p:cNvSpPr/>
          <p:nvPr/>
        </p:nvSpPr>
        <p:spPr>
          <a:xfrm>
            <a:off x="6604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4" name="PillarText1"/>
          <p:cNvSpPr txBox="1"/>
          <p:nvPr/>
        </p:nvSpPr>
        <p:spPr>
          <a:xfrm>
            <a:off x="6604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Market demand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Growing 15% YoY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Premium segment expanding</a:t>
            </a:r>
          </a:p>
        </p:txBody>
      </p:sp>
      <p:sp>
        <p:nvSpPr>
          <p:cNvPr id="205" name="Pillar2"/>
          <p:cNvSpPr/>
          <p:nvPr/>
        </p:nvSpPr>
        <p:spPr>
          <a:xfrm>
            <a:off x="33274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6" name="PillarBadge2"/>
          <p:cNvSpPr/>
          <p:nvPr/>
        </p:nvSpPr>
        <p:spPr>
          <a:xfrm>
            <a:off x="35306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7" name="PillarText2"/>
          <p:cNvSpPr txBox="1"/>
          <p:nvPr/>
        </p:nvSpPr>
        <p:spPr>
          <a:xfrm>
            <a:off x="35306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Regulatory push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New compliance requirements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Government incentives</a:t>
            </a:r>
          </a:p>
        </p:txBody>
      </p:sp>
      <p:sp>
        <p:nvSpPr>
          <p:cNvPr id="208" name="Pillar3"/>
          <p:cNvSpPr/>
          <p:nvPr/>
        </p:nvSpPr>
        <p:spPr>
          <a:xfrm>
            <a:off x="61976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9" name="PillarBadge3"/>
          <p:cNvSpPr/>
          <p:nvPr/>
        </p:nvSpPr>
        <p:spPr>
          <a:xfrm>
            <a:off x="64008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0" name="PillarText3"/>
          <p:cNvSpPr txBox="1"/>
          <p:nvPr/>
        </p:nvSpPr>
        <p:spPr>
          <a:xfrm>
            <a:off x="64008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Capability gaps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Technology adoption low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Skills shortage</a:t>
            </a:r>
          </a:p>
        </p:txBody>
      </p:sp>
      <p:sp>
        <p:nvSpPr>
          <p:cNvPr id="211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212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Kết luận: </a:t>
            </a:r>
            <a:r>
              <a:rPr lang="en-US" sz="1300" b="1" dirty="0">
                <a:solidFill>
                  <a:srgbClr val="002060"/>
                </a:solidFill>
                <a:latin typeface="Calibri"/>
              </a:rPr>
              <a:t>Focus on technology and training to capture market opportunity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Market size and growth trajectory</a:t>
            </a:r>
          </a:p>
        </p:txBody>
      </p:sp>
      <p:sp>
        <p:nvSpPr>
          <p:cNvPr id="3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TAM (CURRENT/2030)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$X.XB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Market size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Current market size: $X.XB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Projected to $X.XB by 2030</a:t>
            </a:r>
          </a:p>
        </p:txBody>
      </p:sp>
      <p:sp>
        <p:nvSpPr>
          <p:cNvPr id="3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CAGR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X.X%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Growth rate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Consistent annual growth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Drives investment confidence</a:t>
            </a:r>
          </a:p>
        </p:txBody>
      </p:sp>
      <p:sp>
        <p:nvSpPr>
          <p:cNvPr id="3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ADDRESSABLE SEGMENT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X.X%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Market share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Key segment driving demand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High growth potential</a:t>
            </a:r>
          </a:p>
        </p:txBody>
      </p:sp>
      <p:sp>
        <p:nvSpPr>
          <p:cNvPr id="10000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Market analysis</a:t>
            </a:r>
          </a:p>
        </p:txBody>
      </p:sp>
      <p:sp>
        <p:nvSpPr>
          <p:cNvPr id="10000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Scale of opportunity drives investment case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Top 3 opportunities for capture</a:t>
            </a:r>
          </a:p>
        </p:txBody>
      </p:sp>
      <p:sp>
        <p:nvSpPr>
          <p:cNvPr id="4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MARKET GAP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High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Unmet demand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Identified by strategic analysis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Prioritize for highest impact</a:t>
            </a:r>
          </a:p>
        </p:txBody>
      </p:sp>
      <p:sp>
        <p:nvSpPr>
          <p:cNvPr id="4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COMPETITIVE ADVANTAGE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Strong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Differentiation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Strategic analysis confirms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Leverage for market lead</a:t>
            </a:r>
          </a:p>
        </p:txBody>
      </p:sp>
      <p:sp>
        <p:nvSpPr>
          <p:cNvPr id="4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TIMELINE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Tight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Critical window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Act now for competitive edge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Align with strategic priorities</a:t>
            </a:r>
          </a:p>
        </p:txBody>
      </p:sp>
      <p:sp>
        <p:nvSpPr>
          <p:cNvPr id="10000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Strategic analysis</a:t>
            </a:r>
          </a:p>
        </p:txBody>
      </p:sp>
      <p:sp>
        <p:nvSpPr>
          <p:cNvPr id="10000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Prioritize highest-leverage plays first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Top 3 risks requiring mitigation</a:t>
            </a:r>
          </a:p>
        </p:txBody>
      </p:sp>
      <p:sp>
        <p:nvSpPr>
          <p:cNvPr id="5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REGULATORY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High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Compliance risk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Lack of nano-specific feed-additive pathways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uncertainty in EU/US/China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fines for non-compliance</a:t>
            </a:r>
          </a:p>
        </p:txBody>
      </p:sp>
      <p:sp>
        <p:nvSpPr>
          <p:cNvPr id="5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TECHNICAL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Critical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Nano-stability challenges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Particle aggregation in feed matrices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Narrow therapeutic windows (e.g., nano-Se toxicity)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Limited species-specific translation</a:t>
            </a:r>
          </a:p>
        </p:txBody>
      </p:sp>
      <p:sp>
        <p:nvSpPr>
          <p:cNvPr id="5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MARKET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Moderate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Supply chain concentration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Feed triad dominance (Cargill, Skretting/Nutreco)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US tariffs on shrimp imports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Customer adoption delays</a:t>
            </a:r>
          </a:p>
        </p:txBody>
      </p:sp>
      <p:sp>
        <p:nvSpPr>
          <p:cNvPr id="10000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Risk assessment</a:t>
            </a:r>
          </a:p>
        </p:txBody>
      </p:sp>
      <p:sp>
        <p:nvSpPr>
          <p:cNvPr id="10000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De-risk before scaling commitment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Phân giai lộ trình triển khai theo 3 giai đoạn</a:t>
            </a:r>
          </a:p>
        </p:txBody>
      </p:sp>
      <p:sp>
        <p:nvSpPr>
          <p:cNvPr id="602" name="Pillar1"/>
          <p:cNvSpPr/>
          <p:nvPr/>
        </p:nvSpPr>
        <p:spPr>
          <a:xfrm>
            <a:off x="4572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" name="PillarBadge1"/>
          <p:cNvSpPr/>
          <p:nvPr/>
        </p:nvSpPr>
        <p:spPr>
          <a:xfrm>
            <a:off x="6604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04" name="PillarText1"/>
          <p:cNvSpPr txBox="1"/>
          <p:nvPr/>
        </p:nvSpPr>
        <p:spPr>
          <a:xfrm>
            <a:off x="6604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Giai đoạn 1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Xác thực nhu cầu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Đánh giá khả năng triển khai</a:t>
            </a:r>
          </a:p>
        </p:txBody>
      </p:sp>
      <p:sp>
        <p:nvSpPr>
          <p:cNvPr id="605" name="Pillar2"/>
          <p:cNvSpPr/>
          <p:nvPr/>
        </p:nvSpPr>
        <p:spPr>
          <a:xfrm>
            <a:off x="33274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6" name="PillarBadge2"/>
          <p:cNvSpPr/>
          <p:nvPr/>
        </p:nvSpPr>
        <p:spPr>
          <a:xfrm>
            <a:off x="35306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07" name="PillarText2"/>
          <p:cNvSpPr txBox="1"/>
          <p:nvPr/>
        </p:nvSpPr>
        <p:spPr>
          <a:xfrm>
            <a:off x="35306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Giai đoạn 2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Triển khai thử nghiệm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Đánh giá hiệu quả</a:t>
            </a:r>
          </a:p>
        </p:txBody>
      </p:sp>
      <p:sp>
        <p:nvSpPr>
          <p:cNvPr id="608" name="Pillar3"/>
          <p:cNvSpPr/>
          <p:nvPr/>
        </p:nvSpPr>
        <p:spPr>
          <a:xfrm>
            <a:off x="61976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9" name="PillarBadge3"/>
          <p:cNvSpPr/>
          <p:nvPr/>
        </p:nvSpPr>
        <p:spPr>
          <a:xfrm>
            <a:off x="64008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10" name="PillarText3"/>
          <p:cNvSpPr txBox="1"/>
          <p:nvPr/>
        </p:nvSpPr>
        <p:spPr>
          <a:xfrm>
            <a:off x="64008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Giai đoạn 3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Mở rộng quy mô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Tối ưu hóa quy trình</a:t>
            </a:r>
          </a:p>
        </p:txBody>
      </p:sp>
      <p:sp>
        <p:nvSpPr>
          <p:cNvPr id="611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612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Kết luận: </a:t>
            </a:r>
            <a:r>
              <a:rPr lang="en-US" sz="1300" b="1" dirty="0">
                <a:solidFill>
                  <a:srgbClr val="002060"/>
                </a:solidFill>
                <a:latin typeface="Calibri"/>
              </a:rPr>
              <a:t>Tập trung vào từng giai đoạn để đảm bảo thành công dài hạn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Inorganic salts deliver only 30-50% of theoretical mineral uptake, creating a $1.2B annual opportunity in shrimp feed trace minerals.</a:t>
            </a:r>
          </a:p>
        </p:txBody>
      </p:sp>
      <p:sp>
        <p:nvSpPr>
          <p:cNvPr id="7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Low bioavailability of inorganic salts</a:t>
            </a:r>
          </a:p>
        </p:txBody>
      </p:sp>
      <p:sp>
        <p:nvSpPr>
          <p:cNvPr id="7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Economic impact of mineral waste</a:t>
            </a:r>
          </a:p>
        </p:txBody>
      </p:sp>
      <p:sp>
        <p:nvSpPr>
          <p:cNvPr id="7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Potential solutions for better mineral uptake</a:t>
            </a:r>
          </a:p>
        </p:txBody>
      </p:sp>
      <p:sp>
        <p:nvSpPr>
          <p:cNvPr id="7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Inorganic salts deliver only 30-50% of theoretical mineral uptake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40-60% of ingested minerals are excreted, wasting feed resources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Bioavailability gaps stem from poor absorption and utilization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Mineral loss reduces feed efficiency and productivity</a:t>
            </a:r>
          </a:p>
        </p:txBody>
      </p:sp>
      <p:sp>
        <p:nvSpPr>
          <p:cNvPr id="7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Bioavailability gaps create a $1.2B annual opportunity in shrimp feed trace minerals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Wasted minerals represent significant feed cost inefficiencies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Opportunity exists for better mineral formulations or delivery systems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Industry losses highlight the need for improved mineral bioavailability</a:t>
            </a:r>
          </a:p>
        </p:txBody>
      </p:sp>
      <p:sp>
        <p:nvSpPr>
          <p:cNvPr id="7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Research into chelated or organic mineral forms could improve bioavailability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Feed additives or encapsulation may enhance mineral absorption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Alternative delivery systems could reduce excretion rates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Investment in mineral bioavailability research could unlock productivity gains</a:t>
            </a:r>
          </a:p>
        </p:txBody>
      </p:sp>
      <p:cxnSp>
        <p:nvCxnSpPr>
          <p:cNvPr id="708" name="PyramidConn1"/>
          <p:cNvCxnSpPr>
            <a:stCxn id="701" idx="2"/>
            <a:endCxn id="7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709" name="PyramidConn2"/>
          <p:cNvCxnSpPr>
            <a:stCxn id="701" idx="2"/>
            <a:endCxn id="7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710" name="PyramidConn3"/>
          <p:cNvCxnSpPr>
            <a:stCxn id="701" idx="2"/>
            <a:endCxn id="7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Nano-SeNPs deliver 57% weight gain increase in shrimp</a:t>
            </a:r>
          </a:p>
        </p:txBody>
      </p:sp>
      <p:sp>
        <p:nvSpPr>
          <p:cNvPr id="8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57% weight gain increase at 0.4 mg/kg Nano-SeNPs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1.5-3x growth improvements vs. inorganic salts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40.3% post-challenge mortality reduction</a:t>
            </a:r>
          </a:p>
        </p:txBody>
      </p:sp>
      <p:sp>
        <p:nvSpPr>
          <p:cNvPr id="8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Specific dosage (0.4 mg/kg) may limit scalability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No data on long-term effects or sustainability</a:t>
            </a:r>
          </a:p>
        </p:txBody>
      </p:sp>
      <p:sp>
        <p:nvSpPr>
          <p:cNvPr id="8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for broader application in aquaculture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Nano-formulations may offer cost savings vs. traditional methods</a:t>
            </a:r>
          </a:p>
        </p:txBody>
      </p:sp>
      <p:sp>
        <p:nvSpPr>
          <p:cNvPr id="8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hurdles for nano-based feed additives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Competition from existing inorganic salt solutions</a:t>
            </a:r>
          </a:p>
        </p:txBody>
      </p:sp>
      <p:sp>
        <p:nvSpPr>
          <p:cNvPr id="10000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 (2023)</a:t>
            </a:r>
          </a:p>
        </p:txBody>
      </p:sp>
      <p:sp>
        <p:nvSpPr>
          <p:cNvPr id="10000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Nano-formulations achieve 1.5-3x growth improvements vs. inorganic salts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reduce trace-mineral excretion by 40%</a:t>
            </a:r>
          </a:p>
        </p:txBody>
      </p:sp>
      <p:sp>
        <p:nvSpPr>
          <p:cNvPr id="9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9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9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9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COST, LOW SUSTAINABILITY</a:t>
            </a:r>
          </a:p>
        </p:txBody>
      </p:sp>
      <p:sp>
        <p:nvSpPr>
          <p:cNvPr id="9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COST, HIGH SUSTAINABILITY</a:t>
            </a:r>
          </a:p>
        </p:txBody>
      </p:sp>
      <p:sp>
        <p:nvSpPr>
          <p:cNvPr id="9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COST, LOW SUSTAINABILITY</a:t>
            </a:r>
          </a:p>
        </p:txBody>
      </p:sp>
      <p:sp>
        <p:nvSpPr>
          <p:cNvPr id="9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COST, HIGH SUSTAINABILITY</a:t>
            </a:r>
          </a:p>
        </p:txBody>
      </p:sp>
      <p:sp>
        <p:nvSpPr>
          <p:cNvPr id="912" name="Bubble1"/>
          <p:cNvSpPr/>
          <p:nvPr/>
        </p:nvSpPr>
        <p:spPr>
          <a:xfrm>
            <a:off x="6380000" y="168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Organic Chelates</a:t>
            </a:r>
          </a:p>
        </p:txBody>
      </p:sp>
      <p:sp>
        <p:nvSpPr>
          <p:cNvPr id="913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PRICING PREMIUM →</a:t>
            </a:r>
          </a:p>
        </p:txBody>
      </p:sp>
      <p:sp>
        <p:nvSpPr>
          <p:cNvPr id="914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SUSTAINABILITY ↑</a:t>
            </a:r>
          </a:p>
        </p:txBody>
      </p:sp>
      <p:sp>
        <p:nvSpPr>
          <p:cNvPr id="10000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 (2025)</a:t>
            </a:r>
          </a:p>
        </p:txBody>
      </p:sp>
      <p:sp>
        <p:nvSpPr>
          <p:cNvPr id="10000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Chelates enable premiumization while addressing sustainability concerns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Nano-Fe₂O₃ achieves 46% weight gain at 0.4 mg/kg</a:t>
            </a:r>
          </a:p>
        </p:txBody>
      </p:sp>
      <p:sp>
        <p:nvSpPr>
          <p:cNvPr id="10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002" name="HvHeadOpt1"/>
          <p:cNvSpPr txBox="1"/>
          <p:nvPr/>
        </p:nvSpPr>
        <p:spPr>
          <a:xfrm>
            <a:off x="31572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NANO-FE₂O₃</a:t>
            </a:r>
          </a:p>
        </p:txBody>
      </p:sp>
      <p:sp>
        <p:nvSpPr>
          <p:cNvPr id="1003" name="HvHeadOpt2"/>
          <p:cNvSpPr txBox="1"/>
          <p:nvPr/>
        </p:nvSpPr>
        <p:spPr>
          <a:xfrm>
            <a:off x="59220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INORGANIC FE₂O₃</a:t>
            </a:r>
          </a:p>
        </p:txBody>
      </p:sp>
      <p:sp>
        <p:nvSpPr>
          <p:cNvPr id="1004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Weight gain</a:t>
            </a:r>
          </a:p>
        </p:txBody>
      </p:sp>
      <p:sp>
        <p:nvSpPr>
          <p:cNvPr id="1005" name="HvCell1_1"/>
          <p:cNvSpPr txBox="1"/>
          <p:nvPr/>
        </p:nvSpPr>
        <p:spPr>
          <a:xfrm>
            <a:off x="31572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006" name="HvCell1_2"/>
          <p:cNvSpPr txBox="1"/>
          <p:nvPr/>
        </p:nvSpPr>
        <p:spPr>
          <a:xfrm>
            <a:off x="59220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Calibri"/>
              </a:rPr>
              <a:t>○</a:t>
            </a:r>
          </a:p>
        </p:txBody>
      </p:sp>
      <p:sp>
        <p:nvSpPr>
          <p:cNvPr id="1007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Dosage</a:t>
            </a:r>
          </a:p>
        </p:txBody>
      </p:sp>
      <p:sp>
        <p:nvSpPr>
          <p:cNvPr id="1008" name="HvCell2_1"/>
          <p:cNvSpPr txBox="1"/>
          <p:nvPr/>
        </p:nvSpPr>
        <p:spPr>
          <a:xfrm>
            <a:off x="31572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Calibri"/>
              </a:rPr>
              <a:t>○</a:t>
            </a:r>
          </a:p>
        </p:txBody>
      </p:sp>
      <p:sp>
        <p:nvSpPr>
          <p:cNvPr id="1009" name="HvCell2_2"/>
          <p:cNvSpPr txBox="1"/>
          <p:nvPr/>
        </p:nvSpPr>
        <p:spPr>
          <a:xfrm>
            <a:off x="59220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010" name="HvCrit3"/>
          <p:cNvSpPr txBox="1"/>
          <p:nvPr/>
        </p:nvSpPr>
        <p:spPr>
          <a:xfrm>
            <a:off x="457200" y="2844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Performance</a:t>
            </a:r>
          </a:p>
        </p:txBody>
      </p:sp>
      <p:sp>
        <p:nvSpPr>
          <p:cNvPr id="1011" name="HvCell3_1"/>
          <p:cNvSpPr txBox="1"/>
          <p:nvPr/>
        </p:nvSpPr>
        <p:spPr>
          <a:xfrm>
            <a:off x="3157200" y="2844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012" name="HvCell3_2"/>
          <p:cNvSpPr txBox="1"/>
          <p:nvPr/>
        </p:nvSpPr>
        <p:spPr>
          <a:xfrm>
            <a:off x="5922000" y="2844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Calibri"/>
              </a:rPr>
              <a:t>○</a:t>
            </a:r>
          </a:p>
        </p:txBody>
      </p:sp>
      <p:sp>
        <p:nvSpPr>
          <p:cNvPr id="1013" name="HvScoreLbl"/>
          <p:cNvSpPr txBox="1"/>
          <p:nvPr/>
        </p:nvSpPr>
        <p:spPr>
          <a:xfrm>
            <a:off x="457200" y="3276000"/>
            <a:ext cx="2700000" cy="504000"/>
          </a:xfrm>
          <a:prstGeom prst="rect">
            <a:avLst/>
          </a:prstGeom>
          <a:solidFill>
            <a:srgbClr val="002F69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WEIGHTED SCORE</a:t>
            </a:r>
          </a:p>
        </p:txBody>
      </p:sp>
      <p:sp>
        <p:nvSpPr>
          <p:cNvPr id="1014" name="HvScore1"/>
          <p:cNvSpPr txBox="1"/>
          <p:nvPr/>
        </p:nvSpPr>
        <p:spPr>
          <a:xfrm>
            <a:off x="3157200" y="3276000"/>
            <a:ext cx="2764800" cy="504000"/>
          </a:xfrm>
          <a:prstGeom prst="rect">
            <a:avLst/>
          </a:prstGeom>
          <a:solidFill>
            <a:srgbClr val="FFF7E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/>
              </a:rPr>
              <a:t>4</a:t>
            </a:r>
          </a:p>
        </p:txBody>
      </p:sp>
      <p:sp>
        <p:nvSpPr>
          <p:cNvPr id="1015" name="HvScore2"/>
          <p:cNvSpPr txBox="1"/>
          <p:nvPr/>
        </p:nvSpPr>
        <p:spPr>
          <a:xfrm>
            <a:off x="5922000" y="3276000"/>
            <a:ext cx="2764800" cy="504000"/>
          </a:xfrm>
          <a:prstGeom prst="rect">
            <a:avLst/>
          </a:prstGeom>
          <a:solidFill>
            <a:srgbClr val="FFF7E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/>
              </a:rPr>
              <a:t>0</a:t>
            </a:r>
          </a:p>
        </p:txBody>
      </p:sp>
      <p:sp>
        <p:nvSpPr>
          <p:cNvPr id="10001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Mohammady et al. (2023)</a:t>
            </a:r>
          </a:p>
        </p:txBody>
      </p:sp>
      <p:sp>
        <p:nvSpPr>
          <p:cNvPr id="10001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Nano-formulations show superior performance across shrimp, tilapia, and salmon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Nano-particle aggregation destabilizes in feed matrices</a:t>
            </a:r>
          </a:p>
        </p:txBody>
      </p:sp>
      <p:sp>
        <p:nvSpPr>
          <p:cNvPr id="1101" name="HeatCell1"/>
          <p:cNvSpPr txBox="1"/>
          <p:nvPr/>
        </p:nvSpPr>
        <p:spPr>
          <a:xfrm>
            <a:off x="5833332" y="16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1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High</a:t>
            </a:r>
          </a:p>
        </p:txBody>
      </p:sp>
      <p:sp>
        <p:nvSpPr>
          <p:cNvPr id="1103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1104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1105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1106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1107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1108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1109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Impact</a:t>
            </a:r>
          </a:p>
        </p:txBody>
      </p:sp>
      <p:sp>
        <p:nvSpPr>
          <p:cNvPr id="1110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Likelihood</a:t>
            </a:r>
          </a:p>
        </p:txBody>
      </p:sp>
      <p:sp>
        <p:nvSpPr>
          <p:cNvPr id="10001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Mohammady et al. (2021)</a:t>
            </a:r>
          </a:p>
        </p:txBody>
      </p:sp>
      <p:sp>
        <p:nvSpPr>
          <p:cNvPr id="10001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Stability remains critical constraint for nano-formulations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offer 1.5-2.5x pricing premium</a:t>
            </a:r>
          </a:p>
        </p:txBody>
      </p:sp>
      <p:sp>
        <p:nvSpPr>
          <p:cNvPr id="12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Revenue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$100M</a:t>
            </a:r>
            <a:r>
              <a:rPr lang="en-US" sz="1100" b="1" dirty="0">
                <a:solidFill>
                  <a:srgbClr val="2E7D32"/>
                </a:solidFill>
                <a:latin typeface="Calibri"/>
              </a:rPr>
              <a:t> ▲ +15%</a:t>
            </a:r>
          </a:p>
        </p:txBody>
      </p:sp>
      <p:sp>
        <p:nvSpPr>
          <p:cNvPr id="12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Price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+1.5-2.5x</a:t>
            </a:r>
          </a:p>
        </p:txBody>
      </p:sp>
      <p:sp>
        <p:nvSpPr>
          <p:cNvPr id="1203" name="DriverL3_1_1"/>
          <p:cNvSpPr/>
          <p:nvPr/>
        </p:nvSpPr>
        <p:spPr>
          <a:xfrm>
            <a:off x="5300000" y="138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Chelate cost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$8-18/kg</a:t>
            </a:r>
          </a:p>
        </p:txBody>
      </p:sp>
      <p:sp>
        <p:nvSpPr>
          <p:cNvPr id="1204" name="DriverL3_1_2"/>
          <p:cNvSpPr/>
          <p:nvPr/>
        </p:nvSpPr>
        <p:spPr>
          <a:xfrm>
            <a:off x="5300000" y="203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Excretion reduction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40%</a:t>
            </a:r>
          </a:p>
        </p:txBody>
      </p:sp>
      <p:sp>
        <p:nvSpPr>
          <p:cNvPr id="1208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Market share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Premiumization</a:t>
            </a:r>
          </a:p>
        </p:txBody>
      </p:sp>
      <p:sp>
        <p:nvSpPr>
          <p:cNvPr id="1209" name="DriverL3_2_1"/>
          <p:cNvSpPr/>
          <p:nvPr/>
        </p:nvSpPr>
        <p:spPr>
          <a:xfrm>
            <a:off x="5300000" y="315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Shrimp feed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Immediate</a:t>
            </a:r>
          </a:p>
        </p:txBody>
      </p:sp>
      <p:cxnSp>
        <p:nvCxnSpPr>
          <p:cNvPr id="1205" name="BranchRoot_1"/>
          <p:cNvCxnSpPr>
            <a:stCxn id="1201" idx="1"/>
            <a:endCxn id="12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206" name="BranchL2_1_1"/>
          <p:cNvCxnSpPr>
            <a:stCxn id="1202" idx="1"/>
            <a:endCxn id="1203" idx="3"/>
          </p:cNvCxnSpPr>
          <p:nvPr/>
        </p:nvCxnSpPr>
        <p:spPr>
          <a:xfrm flipV="1">
            <a:off x="4800000" y="165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207" name="BranchL2_1_2"/>
          <p:cNvCxnSpPr>
            <a:stCxn id="1202" idx="1"/>
            <a:endCxn id="1204" idx="3"/>
          </p:cNvCxnSpPr>
          <p:nvPr/>
        </p:nvCxnSpPr>
        <p:spPr>
          <a:xfrm>
            <a:off x="4800000" y="198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210" name="BranchRoot_2"/>
          <p:cNvCxnSpPr>
            <a:stCxn id="1201" idx="1"/>
            <a:endCxn id="1208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211" name="BranchL2_2_1"/>
          <p:cNvCxnSpPr>
            <a:stCxn id="1208" idx="1"/>
            <a:endCxn id="1209" idx="3"/>
          </p:cNvCxnSpPr>
          <p:nvPr/>
        </p:nvCxnSpPr>
        <p:spPr>
          <a:xfrm>
            <a:off x="4800000" y="342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1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 (2025)</a:t>
            </a:r>
          </a:p>
        </p:txBody>
      </p:sp>
      <p:sp>
        <p:nvSpPr>
          <p:cNvPr id="10001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Chelates enable immediate premiumization in shrimp feed market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Nano-specific feed-additive pathways remain undefined</a:t>
            </a:r>
          </a:p>
        </p:txBody>
      </p:sp>
      <p:sp>
        <p:nvSpPr>
          <p:cNvPr id="1301" name="QHead1"/>
          <p:cNvSpPr txBox="1"/>
          <p:nvPr/>
        </p:nvSpPr>
        <p:spPr>
          <a:xfrm>
            <a:off x="2200000" y="1620000"/>
            <a:ext cx="650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Q1'23</a:t>
            </a:r>
          </a:p>
        </p:txBody>
      </p:sp>
      <p:sp>
        <p:nvSpPr>
          <p:cNvPr id="1302" name="QHead2"/>
          <p:cNvSpPr txBox="1"/>
          <p:nvPr/>
        </p:nvSpPr>
        <p:spPr>
          <a:xfrm>
            <a:off x="2850000" y="1620000"/>
            <a:ext cx="650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Q2'23</a:t>
            </a:r>
          </a:p>
        </p:txBody>
      </p:sp>
      <p:sp>
        <p:nvSpPr>
          <p:cNvPr id="1303" name="QHead3"/>
          <p:cNvSpPr txBox="1"/>
          <p:nvPr/>
        </p:nvSpPr>
        <p:spPr>
          <a:xfrm>
            <a:off x="3500000" y="1620000"/>
            <a:ext cx="650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Q3'23</a:t>
            </a:r>
          </a:p>
        </p:txBody>
      </p:sp>
      <p:sp>
        <p:nvSpPr>
          <p:cNvPr id="1304" name="QHead4"/>
          <p:cNvSpPr txBox="1"/>
          <p:nvPr/>
        </p:nvSpPr>
        <p:spPr>
          <a:xfrm>
            <a:off x="4150000" y="1620000"/>
            <a:ext cx="650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Q4'23</a:t>
            </a:r>
          </a:p>
        </p:txBody>
      </p:sp>
      <p:sp>
        <p:nvSpPr>
          <p:cNvPr id="1305" name="QHead5"/>
          <p:cNvSpPr txBox="1"/>
          <p:nvPr/>
        </p:nvSpPr>
        <p:spPr>
          <a:xfrm>
            <a:off x="4800000" y="1620000"/>
            <a:ext cx="650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Q1'24</a:t>
            </a:r>
          </a:p>
        </p:txBody>
      </p:sp>
      <p:sp>
        <p:nvSpPr>
          <p:cNvPr id="1306" name="QHead6"/>
          <p:cNvSpPr txBox="1"/>
          <p:nvPr/>
        </p:nvSpPr>
        <p:spPr>
          <a:xfrm>
            <a:off x="5450000" y="1620000"/>
            <a:ext cx="650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Q2'24</a:t>
            </a:r>
          </a:p>
        </p:txBody>
      </p:sp>
      <p:sp>
        <p:nvSpPr>
          <p:cNvPr id="1307" name="QHead7"/>
          <p:cNvSpPr txBox="1"/>
          <p:nvPr/>
        </p:nvSpPr>
        <p:spPr>
          <a:xfrm>
            <a:off x="6100000" y="1620000"/>
            <a:ext cx="650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Q3'24</a:t>
            </a:r>
          </a:p>
        </p:txBody>
      </p:sp>
      <p:sp>
        <p:nvSpPr>
          <p:cNvPr id="1308" name="QHead8"/>
          <p:cNvSpPr txBox="1"/>
          <p:nvPr/>
        </p:nvSpPr>
        <p:spPr>
          <a:xfrm>
            <a:off x="6750000" y="1620000"/>
            <a:ext cx="650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Q4'24</a:t>
            </a:r>
          </a:p>
        </p:txBody>
      </p:sp>
      <p:sp>
        <p:nvSpPr>
          <p:cNvPr id="1309" name="QHead9"/>
          <p:cNvSpPr txBox="1"/>
          <p:nvPr/>
        </p:nvSpPr>
        <p:spPr>
          <a:xfrm>
            <a:off x="7400000" y="1620000"/>
            <a:ext cx="650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Q1'25</a:t>
            </a:r>
          </a:p>
        </p:txBody>
      </p:sp>
      <p:sp>
        <p:nvSpPr>
          <p:cNvPr id="1310" name="QHead10"/>
          <p:cNvSpPr txBox="1"/>
          <p:nvPr/>
        </p:nvSpPr>
        <p:spPr>
          <a:xfrm>
            <a:off x="8050000" y="1620000"/>
            <a:ext cx="650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Q2'25</a:t>
            </a:r>
          </a:p>
        </p:txBody>
      </p:sp>
      <p:cxnSp>
        <p:nvCxnSpPr>
          <p:cNvPr id="1311" name="QGrid1"/>
          <p:cNvCxnSpPr>
    </p:cNvCxnSpPr>
          <p:nvPr/>
        </p:nvCxnSpPr>
        <p:spPr>
          <a:xfrm>
            <a:off x="28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2" name="QGrid2"/>
          <p:cNvCxnSpPr>
    </p:cNvCxnSpPr>
          <p:nvPr/>
        </p:nvCxnSpPr>
        <p:spPr>
          <a:xfrm>
            <a:off x="350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3" name="QGrid3"/>
          <p:cNvCxnSpPr>
    </p:cNvCxnSpPr>
          <p:nvPr/>
        </p:nvCxnSpPr>
        <p:spPr>
          <a:xfrm>
            <a:off x="41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4" name="QGrid4"/>
          <p:cNvCxnSpPr>
    </p:cNvCxnSpPr>
          <p:nvPr/>
        </p:nvCxnSpPr>
        <p:spPr>
          <a:xfrm>
            <a:off x="480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5" name="QGrid5"/>
          <p:cNvCxnSpPr>
    </p:cNvCxnSpPr>
          <p:nvPr/>
        </p:nvCxnSpPr>
        <p:spPr>
          <a:xfrm>
            <a:off x="54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6" name="QGrid6"/>
          <p:cNvCxnSpPr>
    </p:cNvCxnSpPr>
          <p:nvPr/>
        </p:nvCxnSpPr>
        <p:spPr>
          <a:xfrm>
            <a:off x="610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7" name="QGrid7"/>
          <p:cNvCxnSpPr>
    </p:cNvCxnSpPr>
          <p:nvPr/>
        </p:nvCxnSpPr>
        <p:spPr>
          <a:xfrm>
            <a:off x="67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8" name="QGrid8"/>
          <p:cNvCxnSpPr>
    </p:cNvCxnSpPr>
          <p:nvPr/>
        </p:nvCxnSpPr>
        <p:spPr>
          <a:xfrm>
            <a:off x="740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9" name="QGrid9"/>
          <p:cNvCxnSpPr>
    </p:cNvCxnSpPr>
          <p:nvPr/>
        </p:nvCxnSpPr>
        <p:spPr>
          <a:xfrm>
            <a:off x="80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1320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EFSA opinion</a:t>
            </a:r>
          </a:p>
        </p:txBody>
      </p:sp>
      <p:sp>
        <p:nvSpPr>
          <p:cNvPr id="1321" name="WsBar1_1"/>
          <p:cNvSpPr/>
          <p:nvPr/>
        </p:nvSpPr>
        <p:spPr>
          <a:xfrm>
            <a:off x="2245720" y="2344000"/>
            <a:ext cx="6408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1322" name="Ms1_1"/>
          <p:cNvSpPr/>
          <p:nvPr/>
        </p:nvSpPr>
        <p:spPr>
          <a:xfrm>
            <a:off x="79240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3" name="MsLbl1_1"/>
          <p:cNvSpPr txBox="1"/>
          <p:nvPr/>
        </p:nvSpPr>
        <p:spPr>
          <a:xfrm>
            <a:off x="76828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Approval</a:t>
            </a:r>
          </a:p>
        </p:txBody>
      </p:sp>
      <p:sp>
        <p:nvSpPr>
          <p:cNvPr id="1324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Regulatory prep</a:t>
            </a:r>
          </a:p>
        </p:txBody>
      </p:sp>
      <p:sp>
        <p:nvSpPr>
          <p:cNvPr id="1325" name="WsBar2_1"/>
          <p:cNvSpPr/>
          <p:nvPr/>
        </p:nvSpPr>
        <p:spPr>
          <a:xfrm>
            <a:off x="2245720" y="3144000"/>
            <a:ext cx="3158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Investment</a:t>
            </a:r>
          </a:p>
        </p:txBody>
      </p:sp>
      <p:cxnSp>
        <p:nvCxnSpPr>
          <p:cNvPr id="1326" name="TodayLine"/>
          <p:cNvCxnSpPr>
    </p:cNvCxnSpPr>
          <p:nvPr/>
        </p:nvCxnSpPr>
        <p:spPr>
          <a:xfrm>
            <a:off x="4800000" y="2160000"/>
            <a:ext cx="0" cy="16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1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EFSA (2023)</a:t>
            </a:r>
          </a:p>
        </p:txBody>
      </p:sp>
      <p:sp>
        <p:nvSpPr>
          <p:cNvPr id="10001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pre-investment required for nano-formulations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Shrimp feed trace-mineral segment grows from $4.3B to $6.4B by 2035</a:t>
            </a:r>
          </a:p>
        </p:txBody>
      </p:sp>
      <p:sp>
        <p:nvSpPr>
          <p:cNvPr id="14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4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4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4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409" name="RadarTarget"/>
          <p:cNvSpPr/>
          <p:nvPr/>
        </p:nvSpPr>
        <p:spPr>
          <a:xfrm>
            <a:off x="2664693" y="1920000"/>
            <a:ext cx="2182384" cy="2520000"/>
          </a:xfrm>
          <a:custGeom>
            <a:avLst/>
            <a:gdLst/>
            <a:ahLst/>
            <a:cxnLst/>
            <a:rect l="0" t="0" r="2182384" b="2520000"/>
            <a:pathLst>
              <a:path w="2182384" h="2520000">
                <a:moveTo>
                  <a:pt x="935307" y="0"/>
                </a:moveTo>
                <a:lnTo>
                  <a:pt x="2182384" y="2520000"/>
                </a:lnTo>
                <a:lnTo>
                  <a:pt x="0" y="234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0" name="RadarCurrent"/>
          <p:cNvSpPr/>
          <p:nvPr/>
        </p:nvSpPr>
        <p:spPr>
          <a:xfrm>
            <a:off x="3288231" y="2640000"/>
            <a:ext cx="935307" cy="1440000"/>
          </a:xfrm>
          <a:custGeom>
            <a:avLst/>
            <a:gdLst/>
            <a:ahLst/>
            <a:cxnLst/>
            <a:rect l="0" t="0" r="935307" b="1440000"/>
            <a:pathLst>
              <a:path w="935307" h="1440000">
                <a:moveTo>
                  <a:pt x="311769" y="0"/>
                </a:moveTo>
                <a:lnTo>
                  <a:pt x="935307" y="1440000"/>
                </a:lnTo>
                <a:lnTo>
                  <a:pt x="0" y="126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Market growth</a:t>
            </a:r>
          </a:p>
        </p:txBody>
      </p:sp>
      <p:sp>
        <p:nvSpPr>
          <p:cNvPr id="14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Tech adoption</a:t>
            </a:r>
          </a:p>
        </p:txBody>
      </p:sp>
      <p:sp>
        <p:nvSpPr>
          <p:cNvPr id="14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Regulation</a:t>
            </a:r>
          </a:p>
        </p:txBody>
      </p:sp>
      <p:sp>
        <p:nvSpPr>
          <p:cNvPr id="14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14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14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Shrimp segment dominates 28% of $28.5B global market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Projected 4.2-4.9% CAGR to $6.4B by 2035</a:t>
            </a:r>
          </a:p>
        </p:txBody>
      </p:sp>
      <p:sp>
        <p:nvSpPr>
          <p:cNvPr id="10001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 (2024)</a:t>
            </a:r>
          </a:p>
        </p:txBody>
      </p:sp>
      <p:sp>
        <p:nvSpPr>
          <p:cNvPr id="10001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Shrimp segment represents 28% of $28.5B global mineral supplements market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Nano-minerals deliver 1.5-3x growth improvements but require regulatory approvals before commercialization.</a:t>
            </a:r>
          </a:p>
        </p:txBody>
      </p:sp>
      <p:sp>
        <p:nvSpPr>
          <p:cNvPr id="15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Performance benefits of nano-forms</a:t>
            </a:r>
          </a:p>
        </p:txBody>
      </p:sp>
      <p:sp>
        <p:nvSpPr>
          <p:cNvPr id="15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Regulatory hurdles for commercialization</a:t>
            </a:r>
          </a:p>
        </p:txBody>
      </p:sp>
      <p:sp>
        <p:nvSpPr>
          <p:cNvPr id="15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Strategic pre-investment needed</a:t>
            </a:r>
          </a:p>
        </p:txBody>
      </p:sp>
      <p:sp>
        <p:nvSpPr>
          <p:cNvPr id="15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Nano-SeNPs show 57% weight gain increase and 40.3% mortality reduction (Eissa et al., 2023).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Clay-supported ZnO-K nano-forms achieve +30% weight gain (Mohammady et al., 2021).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Nano-forms demonstrate strong performance in plant growth and stress resistance.</a:t>
            </a:r>
          </a:p>
        </p:txBody>
      </p:sp>
      <p:sp>
        <p:nvSpPr>
          <p:cNvPr id="15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Regulatory approvals are required before commercializing nano-minerals.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Pre-investment in regulatory compliance is necessary for market entry.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Lack of regulatory clarity may delay or prevent commercialization.</a:t>
            </a:r>
          </a:p>
        </p:txBody>
      </p:sp>
      <p:sp>
        <p:nvSpPr>
          <p:cNvPr id="15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Regulatory pre-investment ensures compliance and market readiness.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Proactive engagement with regulators accelerates commercialization.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Pre-investment mitigates risks associated with regulatory uncertainty.</a:t>
            </a:r>
          </a:p>
        </p:txBody>
      </p:sp>
      <p:cxnSp>
        <p:nvCxnSpPr>
          <p:cNvPr id="1508" name="PyramidConn1"/>
          <p:cNvCxnSpPr>
            <a:stCxn id="1501" idx="2"/>
            <a:endCxn id="15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509" name="PyramidConn2"/>
          <p:cNvCxnSpPr>
            <a:stCxn id="1501" idx="2"/>
            <a:endCxn id="15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510" name="PyramidConn3"/>
          <p:cNvCxnSpPr>
            <a:stCxn id="1501" idx="2"/>
            <a:endCxn id="15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offer 1.5-2.5x pricing premium with 40% excretion…</a:t>
            </a:r>
          </a:p>
        </p:txBody>
      </p:sp>
      <p:sp>
        <p:nvSpPr>
          <p:cNvPr id="16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1.5-2.5x pricing premium ($8.00-$18.00/kg)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40% excretion reduction vs. inorganic salts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Immediate commercial advantage</a:t>
            </a:r>
          </a:p>
        </p:txBody>
      </p:sp>
      <p:sp>
        <p:nvSpPr>
          <p:cNvPr id="16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higher production costs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Limited market penetration</a:t>
            </a:r>
          </a:p>
        </p:txBody>
      </p:sp>
      <p:sp>
        <p:nvSpPr>
          <p:cNvPr id="16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Proven performance metrics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market expansion</a:t>
            </a:r>
          </a:p>
        </p:txBody>
      </p:sp>
      <p:sp>
        <p:nvSpPr>
          <p:cNvPr id="16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Competition from inorganic alternatives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hurdles</a:t>
            </a:r>
          </a:p>
        </p:txBody>
      </p:sp>
      <p:sp>
        <p:nvSpPr>
          <p:cNvPr id="10001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 (2025)</a:t>
            </a:r>
          </a:p>
        </p:txBody>
      </p:sp>
      <p:sp>
        <p:nvSpPr>
          <p:cNvPr id="10001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Chelates provide immediate commercial advantage with proven performance metrics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7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Nano-particle aggregation poses stability risks during feed processing</a:t>
            </a:r>
          </a:p>
        </p:txBody>
      </p:sp>
      <p:sp>
        <p:nvSpPr>
          <p:cNvPr id="17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7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17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7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STABILITY, LOW TOXICITY</a:t>
            </a:r>
          </a:p>
        </p:txBody>
      </p:sp>
      <p:sp>
        <p:nvSpPr>
          <p:cNvPr id="17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STABILITY, HIGH TOXICITY</a:t>
            </a:r>
          </a:p>
        </p:txBody>
      </p:sp>
      <p:sp>
        <p:nvSpPr>
          <p:cNvPr id="17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STABILITY, LOW TOXICITY</a:t>
            </a:r>
          </a:p>
        </p:txBody>
      </p:sp>
      <p:sp>
        <p:nvSpPr>
          <p:cNvPr id="17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STABILITY, HIGH TOXICITY</a:t>
            </a:r>
          </a:p>
        </p:txBody>
      </p:sp>
      <p:sp>
        <p:nvSpPr>
          <p:cNvPr id="1712" name="Bubble1"/>
          <p:cNvSpPr/>
          <p:nvPr/>
        </p:nvSpPr>
        <p:spPr>
          <a:xfrm>
            <a:off x="5808000" y="430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Nano-Se Toxicity</a:t>
            </a:r>
          </a:p>
        </p:txBody>
      </p:sp>
      <p:sp>
        <p:nvSpPr>
          <p:cNvPr id="1713" name="Bubble2"/>
          <p:cNvSpPr/>
          <p:nvPr/>
        </p:nvSpPr>
        <p:spPr>
          <a:xfrm>
            <a:off x="2980000" y="252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Feed Matrix Issues</a:t>
            </a:r>
          </a:p>
        </p:txBody>
      </p:sp>
      <p:sp>
        <p:nvSpPr>
          <p:cNvPr id="1714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STABILITY RISK →</a:t>
            </a:r>
          </a:p>
        </p:txBody>
      </p:sp>
      <p:sp>
        <p:nvSpPr>
          <p:cNvPr id="1715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TOXICITY RISK ↑</a:t>
            </a:r>
          </a:p>
        </p:txBody>
      </p:sp>
      <p:sp>
        <p:nvSpPr>
          <p:cNvPr id="100017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Mohammady et al. (2023)</a:t>
            </a:r>
          </a:p>
        </p:txBody>
      </p:sp>
      <p:sp>
        <p:nvSpPr>
          <p:cNvPr id="100017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7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Stability remains critical technical hurdle for nano-mineral commercialization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Regulatory uncertainty creates 18-36 month approval delays</a:t>
            </a:r>
          </a:p>
        </p:txBody>
      </p:sp>
      <p:sp>
        <p:nvSpPr>
          <p:cNvPr id="18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802" name="HvHeadOpt1"/>
          <p:cNvSpPr txBox="1"/>
          <p:nvPr/>
        </p:nvSpPr>
        <p:spPr>
          <a:xfrm>
            <a:off x="31572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EU APPROVAL</a:t>
            </a:r>
          </a:p>
        </p:txBody>
      </p:sp>
      <p:sp>
        <p:nvSpPr>
          <p:cNvPr id="1803" name="HvHeadOpt2"/>
          <p:cNvSpPr txBox="1"/>
          <p:nvPr/>
        </p:nvSpPr>
        <p:spPr>
          <a:xfrm>
            <a:off x="50004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US APPROVAL</a:t>
            </a:r>
          </a:p>
        </p:txBody>
      </p:sp>
      <p:sp>
        <p:nvSpPr>
          <p:cNvPr id="1804" name="HvHeadOpt3"/>
          <p:cNvSpPr txBox="1"/>
          <p:nvPr/>
        </p:nvSpPr>
        <p:spPr>
          <a:xfrm>
            <a:off x="68436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PRE-INVESTMENT</a:t>
            </a:r>
          </a:p>
        </p:txBody>
      </p:sp>
      <p:sp>
        <p:nvSpPr>
          <p:cNvPr id="1805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Delay risk</a:t>
            </a:r>
          </a:p>
        </p:txBody>
      </p:sp>
      <p:sp>
        <p:nvSpPr>
          <p:cNvPr id="1806" name="HvCell1_1"/>
          <p:cNvSpPr txBox="1"/>
          <p:nvPr/>
        </p:nvSpPr>
        <p:spPr>
          <a:xfrm>
            <a:off x="31572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807" name="HvCell1_2"/>
          <p:cNvSpPr txBox="1"/>
          <p:nvPr/>
        </p:nvSpPr>
        <p:spPr>
          <a:xfrm>
            <a:off x="50004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1808" name="HvCell1_3"/>
          <p:cNvSpPr txBox="1"/>
          <p:nvPr/>
        </p:nvSpPr>
        <p:spPr>
          <a:xfrm>
            <a:off x="68436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1809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Regulatory cost</a:t>
            </a:r>
          </a:p>
        </p:txBody>
      </p:sp>
      <p:sp>
        <p:nvSpPr>
          <p:cNvPr id="1810" name="HvCell2_1"/>
          <p:cNvSpPr txBox="1"/>
          <p:nvPr/>
        </p:nvSpPr>
        <p:spPr>
          <a:xfrm>
            <a:off x="31572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811" name="HvCell2_2"/>
          <p:cNvSpPr txBox="1"/>
          <p:nvPr/>
        </p:nvSpPr>
        <p:spPr>
          <a:xfrm>
            <a:off x="50004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1812" name="HvCell2_3"/>
          <p:cNvSpPr txBox="1"/>
          <p:nvPr/>
        </p:nvSpPr>
        <p:spPr>
          <a:xfrm>
            <a:off x="68436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1813" name="HvCrit3"/>
          <p:cNvSpPr txBox="1"/>
          <p:nvPr/>
        </p:nvSpPr>
        <p:spPr>
          <a:xfrm>
            <a:off x="457200" y="2844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Commercialization</a:t>
            </a:r>
          </a:p>
        </p:txBody>
      </p:sp>
      <p:sp>
        <p:nvSpPr>
          <p:cNvPr id="1814" name="HvCell3_1"/>
          <p:cNvSpPr txBox="1"/>
          <p:nvPr/>
        </p:nvSpPr>
        <p:spPr>
          <a:xfrm>
            <a:off x="3157200" y="2844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1815" name="HvCell3_2"/>
          <p:cNvSpPr txBox="1"/>
          <p:nvPr/>
        </p:nvSpPr>
        <p:spPr>
          <a:xfrm>
            <a:off x="5000400" y="2844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816" name="HvCell3_3"/>
          <p:cNvSpPr txBox="1"/>
          <p:nvPr/>
        </p:nvSpPr>
        <p:spPr>
          <a:xfrm>
            <a:off x="6843600" y="2844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0001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EFSA, FDA CVM</a:t>
            </a:r>
          </a:p>
        </p:txBody>
      </p:sp>
      <p:sp>
        <p:nvSpPr>
          <p:cNvPr id="10001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pre-investment required to secure commercialization pathways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provide immediate commercial launch opportunity</a:t>
            </a:r>
          </a:p>
        </p:txBody>
      </p:sp>
      <p:sp>
        <p:nvSpPr>
          <p:cNvPr id="1901" name="HeatCell1"/>
          <p:cNvSpPr txBox="1"/>
          <p:nvPr/>
        </p:nvSpPr>
        <p:spPr>
          <a:xfrm>
            <a:off x="1500000" y="1620000"/>
            <a:ext cx="3250000" cy="210000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TRL 6-7</a:t>
            </a:r>
          </a:p>
        </p:txBody>
      </p:sp>
      <p:sp>
        <p:nvSpPr>
          <p:cNvPr id="1902" name="HeatCell2"/>
          <p:cNvSpPr txBox="1"/>
          <p:nvPr/>
        </p:nvSpPr>
        <p:spPr>
          <a:xfrm>
            <a:off x="4750000" y="1620000"/>
            <a:ext cx="3250000" cy="2100000"/>
          </a:xfrm>
          <a:prstGeom prst="rect">
            <a:avLst/>
          </a:prstGeom>
          <a:solidFill>
            <a:srgbClr val="2E7BBF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TRL 5-6</a:t>
            </a:r>
          </a:p>
        </p:txBody>
      </p:sp>
      <p:sp>
        <p:nvSpPr>
          <p:cNvPr id="1903" name="HeatCell3"/>
          <p:cNvSpPr txBox="1"/>
          <p:nvPr/>
        </p:nvSpPr>
        <p:spPr>
          <a:xfrm>
            <a:off x="1500000" y="3720000"/>
            <a:ext cx="3250000" cy="2100000"/>
          </a:xfrm>
          <a:prstGeom prst="rect">
            <a:avLst/>
          </a:prstGeom>
          <a:solidFill>
            <a:srgbClr val="7FB1D9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3 years</a:t>
            </a:r>
          </a:p>
        </p:txBody>
      </p:sp>
      <p:sp>
        <p:nvSpPr>
          <p:cNvPr id="1904" name="HeatCell4"/>
          <p:cNvSpPr txBox="1"/>
          <p:nvPr/>
        </p:nvSpPr>
        <p:spPr>
          <a:xfrm>
            <a:off x="4750000" y="3720000"/>
            <a:ext cx="3250000" cy="210000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5 years</a:t>
            </a:r>
          </a:p>
        </p:txBody>
      </p:sp>
      <p:sp>
        <p:nvSpPr>
          <p:cNvPr id="1905" name="YTick1"/>
          <p:cNvSpPr txBox="1"/>
          <p:nvPr/>
        </p:nvSpPr>
        <p:spPr>
          <a:xfrm>
            <a:off x="400000" y="1620000"/>
            <a:ext cx="1060000" cy="21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TRL</a:t>
            </a:r>
          </a:p>
        </p:txBody>
      </p:sp>
      <p:sp>
        <p:nvSpPr>
          <p:cNvPr id="1906" name="YTick2"/>
          <p:cNvSpPr txBox="1"/>
          <p:nvPr/>
        </p:nvSpPr>
        <p:spPr>
          <a:xfrm>
            <a:off x="400000" y="3720000"/>
            <a:ext cx="1060000" cy="21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Time</a:t>
            </a:r>
          </a:p>
        </p:txBody>
      </p:sp>
      <p:sp>
        <p:nvSpPr>
          <p:cNvPr id="1907" name="XTick1"/>
          <p:cNvSpPr txBox="1"/>
          <p:nvPr/>
        </p:nvSpPr>
        <p:spPr>
          <a:xfrm>
            <a:off x="1500000" y="5760000"/>
            <a:ext cx="3250000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Chelates</a:t>
            </a:r>
          </a:p>
        </p:txBody>
      </p:sp>
      <p:sp>
        <p:nvSpPr>
          <p:cNvPr id="1908" name="XTick2"/>
          <p:cNvSpPr txBox="1"/>
          <p:nvPr/>
        </p:nvSpPr>
        <p:spPr>
          <a:xfrm>
            <a:off x="4750000" y="5760000"/>
            <a:ext cx="3250000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Nano-forms</a:t>
            </a:r>
          </a:p>
        </p:txBody>
      </p:sp>
      <p:sp>
        <p:nvSpPr>
          <p:cNvPr id="1909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Technology</a:t>
            </a:r>
          </a:p>
        </p:txBody>
      </p:sp>
      <p:sp>
        <p:nvSpPr>
          <p:cNvPr id="1910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Development</a:t>
            </a:r>
          </a:p>
        </p:txBody>
      </p:sp>
      <p:sp>
        <p:nvSpPr>
          <p:cNvPr id="10001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Internal TRL assessment</a:t>
            </a:r>
          </a:p>
        </p:txBody>
      </p:sp>
      <p:sp>
        <p:nvSpPr>
          <p:cNvPr id="10001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Chelates should be commercialized first to generate cash flow for nano development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require $2.8M mitigation program to address stability risks</a:t>
            </a:r>
          </a:p>
        </p:txBody>
      </p:sp>
      <p:sp>
        <p:nvSpPr>
          <p:cNvPr id="20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Mitigation cost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$2.8M</a:t>
            </a:r>
            <a:r>
              <a:rPr lang="en-US" sz="1100" b="1" dirty="0">
                <a:solidFill>
                  <a:srgbClr val="2E7D32"/>
                </a:solidFill>
                <a:latin typeface="Calibri"/>
              </a:rPr>
              <a:t> ▲ Significant</a:t>
            </a:r>
          </a:p>
        </p:txBody>
      </p:sp>
      <p:sp>
        <p:nvSpPr>
          <p:cNvPr id="20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Lab setup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Nano-characterization</a:t>
            </a:r>
          </a:p>
        </p:txBody>
      </p:sp>
      <p:sp>
        <p:nvSpPr>
          <p:cNvPr id="2003" name="DriverL3_1_1"/>
          <p:cNvSpPr/>
          <p:nvPr/>
        </p:nvSpPr>
        <p:spPr>
          <a:xfrm>
            <a:off x="5300000" y="138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Equipment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High-cost</a:t>
            </a:r>
          </a:p>
        </p:txBody>
      </p:sp>
      <p:sp>
        <p:nvSpPr>
          <p:cNvPr id="2004" name="DriverL3_1_2"/>
          <p:cNvSpPr/>
          <p:nvPr/>
        </p:nvSpPr>
        <p:spPr>
          <a:xfrm>
            <a:off x="5300000" y="203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Staffing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Specialized</a:t>
            </a:r>
          </a:p>
        </p:txBody>
      </p:sp>
      <p:sp>
        <p:nvSpPr>
          <p:cNvPr id="2008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Process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Optimization</a:t>
            </a:r>
          </a:p>
        </p:txBody>
      </p:sp>
      <p:sp>
        <p:nvSpPr>
          <p:cNvPr id="2009" name="DriverL3_2_1"/>
          <p:cNvSpPr/>
          <p:nvPr/>
        </p:nvSpPr>
        <p:spPr>
          <a:xfrm>
            <a:off x="5300000" y="315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Testing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Pilot phase</a:t>
            </a:r>
          </a:p>
        </p:txBody>
      </p:sp>
      <p:cxnSp>
        <p:nvCxnSpPr>
          <p:cNvPr id="2005" name="BranchRoot_1"/>
          <p:cNvCxnSpPr>
            <a:stCxn id="2001" idx="1"/>
            <a:endCxn id="20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06" name="BranchL2_1_1"/>
          <p:cNvCxnSpPr>
            <a:stCxn id="2002" idx="1"/>
            <a:endCxn id="2003" idx="3"/>
          </p:cNvCxnSpPr>
          <p:nvPr/>
        </p:nvCxnSpPr>
        <p:spPr>
          <a:xfrm flipV="1">
            <a:off x="4800000" y="165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07" name="BranchL2_1_2"/>
          <p:cNvCxnSpPr>
            <a:stCxn id="2002" idx="1"/>
            <a:endCxn id="2004" idx="3"/>
          </p:cNvCxnSpPr>
          <p:nvPr/>
        </p:nvCxnSpPr>
        <p:spPr>
          <a:xfrm>
            <a:off x="4800000" y="198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10" name="BranchRoot_2"/>
          <p:cNvCxnSpPr>
            <a:stCxn id="2001" idx="1"/>
            <a:endCxn id="2008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11" name="BranchL2_2_1"/>
          <p:cNvCxnSpPr>
            <a:stCxn id="2008" idx="1"/>
            <a:endCxn id="2009" idx="3"/>
          </p:cNvCxnSpPr>
          <p:nvPr/>
        </p:nvCxnSpPr>
        <p:spPr>
          <a:xfrm>
            <a:off x="4800000" y="342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2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Internal cost estimates</a:t>
            </a:r>
          </a:p>
        </p:txBody>
      </p:sp>
      <p:sp>
        <p:nvSpPr>
          <p:cNvPr id="10002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Significant capital required to overcome nano-technology challenges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Feed triad concentration creates competitive barriers</a:t>
            </a:r>
          </a:p>
        </p:txBody>
      </p:sp>
      <p:graphicFrame>
        <p:nvGraphicFramePr>
          <p:cNvPr id="2101" name="DataTable"/>
          <p:cNvGraphicFramePr>
            <a:graphicFrameLocks noGrp="1"/>
          </p:cNvGraphicFramePr>
          <p:nvPr/>
        </p:nvGraphicFramePr>
        <p:xfrm>
          <a:off x="457200" y="1651000"/>
          <a:ext cx="8229600" cy="1100000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41148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Feed triad concentration creates competitive barriers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Key Finding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Competitive advantage may require strategic partnerships or alternative markets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2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Internal market analysis</a:t>
            </a:r>
          </a:p>
        </p:txBody>
      </p:sp>
      <p:sp>
        <p:nvSpPr>
          <p:cNvPr id="10002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Competitive advantage may require strategic partnerships or alternative markets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Nano-minerals show species-specific translation challenges</a:t>
            </a:r>
          </a:p>
        </p:txBody>
      </p:sp>
      <p:sp>
        <p:nvSpPr>
          <p:cNvPr id="22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2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22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22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209" name="RadarTarget"/>
          <p:cNvSpPr/>
          <p:nvPr/>
        </p:nvSpPr>
        <p:spPr>
          <a:xfrm>
            <a:off x="2664693" y="1920000"/>
            <a:ext cx="2182384" cy="2520000"/>
          </a:xfrm>
          <a:custGeom>
            <a:avLst/>
            <a:gdLst/>
            <a:ahLst/>
            <a:cxnLst/>
            <a:rect l="0" t="0" r="2182384" b="2520000"/>
            <a:pathLst>
              <a:path w="2182384" h="2520000">
                <a:moveTo>
                  <a:pt x="935307" y="0"/>
                </a:moveTo>
                <a:lnTo>
                  <a:pt x="2182384" y="2520000"/>
                </a:lnTo>
                <a:lnTo>
                  <a:pt x="0" y="234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0" name="RadarCurrent"/>
          <p:cNvSpPr/>
          <p:nvPr/>
        </p:nvSpPr>
        <p:spPr>
          <a:xfrm>
            <a:off x="3288231" y="2640000"/>
            <a:ext cx="935307" cy="1440000"/>
          </a:xfrm>
          <a:custGeom>
            <a:avLst/>
            <a:gdLst/>
            <a:ahLst/>
            <a:cxnLst/>
            <a:rect l="0" t="0" r="935307" b="1440000"/>
            <a:pathLst>
              <a:path w="935307" h="1440000">
                <a:moveTo>
                  <a:pt x="311769" y="0"/>
                </a:moveTo>
                <a:lnTo>
                  <a:pt x="935307" y="1440000"/>
                </a:lnTo>
                <a:lnTo>
                  <a:pt x="0" y="126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Species-specific</a:t>
            </a:r>
          </a:p>
        </p:txBody>
      </p:sp>
      <p:sp>
        <p:nvSpPr>
          <p:cNvPr id="22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Formulation dev</a:t>
            </a:r>
          </a:p>
        </p:txBody>
      </p:sp>
      <p:sp>
        <p:nvSpPr>
          <p:cNvPr id="22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Replication</a:t>
            </a:r>
          </a:p>
        </p:txBody>
      </p:sp>
      <p:sp>
        <p:nvSpPr>
          <p:cNvPr id="22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22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22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Focus on nano-mineral efficacy across shrimp/salmon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Develop species-specific formulations for performance</a:t>
            </a:r>
          </a:p>
        </p:txBody>
      </p:sp>
      <p:sp>
        <p:nvSpPr>
          <p:cNvPr id="10002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Mohammady et al. (2023)</a:t>
            </a:r>
          </a:p>
        </p:txBody>
      </p:sp>
      <p:sp>
        <p:nvSpPr>
          <p:cNvPr id="10002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Nano-performance may require species-specific formulation development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achieve 12-15% market penetration in shrimp feed</a:t>
            </a:r>
          </a:p>
        </p:txBody>
      </p:sp>
      <p:sp>
        <p:nvSpPr>
          <p:cNvPr id="2301" name="YCaption"/>
          <p:cNvSpPr txBox="1"/>
          <p:nvPr/>
        </p:nvSpPr>
        <p:spPr>
          <a:xfrm>
            <a:off x="230400" y="1360000"/>
            <a:ext cx="24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↑ MARKET PENETRATION</a:t>
            </a:r>
          </a:p>
        </p:txBody>
      </p:sp>
      <p:sp>
        <p:nvSpPr>
          <p:cNvPr id="2302" name="H1Curve"/>
          <p:cNvSpPr/>
          <p:nvPr/>
        </p:nvSpPr>
        <p:spPr>
          <a:xfrm>
            <a:off x="230400" y="4400000"/>
            <a:ext cx="2600000" cy="720000"/>
          </a:xfrm>
          <a:prstGeom prst="rightArrow">
            <a:avLst/>
          </a:prstGeom>
          <a:solidFill>
            <a:srgbClr val="002060">
              <a:alpha val="10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2303" name="H1Panel"/>
          <p:cNvSpPr/>
          <p:nvPr/>
        </p:nvSpPr>
        <p:spPr>
          <a:xfrm>
            <a:off x="6000000" y="162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HORIZON 1 · 0–12 MONTHS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Leverage chelates' adoption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Target shrimp feed segment ($4.3-$4.6B)</a:t>
            </a:r>
          </a:p>
        </p:txBody>
      </p:sp>
      <p:sp>
        <p:nvSpPr>
          <p:cNvPr id="2304" name="H2Curve"/>
          <p:cNvSpPr/>
          <p:nvPr/>
        </p:nvSpPr>
        <p:spPr>
          <a:xfrm>
            <a:off x="1700000" y="3200000"/>
            <a:ext cx="3300000" cy="720000"/>
          </a:xfrm>
          <a:prstGeom prst="rightArrow">
            <a:avLst/>
          </a:prstGeom>
          <a:solidFill>
            <a:srgbClr val="0070C0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2305" name="H2Panel"/>
          <p:cNvSpPr/>
          <p:nvPr/>
        </p:nvSpPr>
        <p:spPr>
          <a:xfrm>
            <a:off x="6000000" y="306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70C0"/>
                </a:solidFill>
                <a:latin typeface="Calibri"/>
              </a:rPr>
              <a:t>HORIZON 2 · 1–3 YEARS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Expand chelate applications</a:t>
            </a:r>
          </a:p>
          <a:p>
            <a:pPr marL="171450" indent="-171450">
              <a:spcBef>
                <a:spcPts val="4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Optimize for 12-15% market share</a:t>
            </a:r>
          </a:p>
        </p:txBody>
      </p:sp>
      <p:sp>
        <p:nvSpPr>
          <p:cNvPr id="2306" name="H3Curve"/>
          <p:cNvSpPr/>
          <p:nvPr/>
        </p:nvSpPr>
        <p:spPr>
          <a:xfrm>
            <a:off x="3300000" y="2000000"/>
            <a:ext cx="2900000" cy="720000"/>
          </a:xfrm>
          <a:prstGeom prst="rightArrow">
            <a:avLst/>
          </a:prstGeom>
          <a:solidFill>
            <a:srgbClr val="953735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2307" name="H3Panel"/>
          <p:cNvSpPr/>
          <p:nvPr/>
        </p:nvSpPr>
        <p:spPr>
          <a:xfrm>
            <a:off x="6000000" y="450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53735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953735"/>
                </a:solidFill>
                <a:latin typeface="Calibri"/>
              </a:rPr>
              <a:t>HORIZON 3 · 3+ YEARS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Compare nano-forms</a:t>
            </a:r>
          </a:p>
          <a:p>
            <a:pPr marL="171450" indent="-171450">
              <a:spcBef>
                <a:spcPts val="4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Assess &lt;15% penetration potential</a:t>
            </a:r>
          </a:p>
        </p:txBody>
      </p:sp>
      <p:sp>
        <p:nvSpPr>
          <p:cNvPr id="2308" name="XAxisLabel"/>
          <p:cNvSpPr txBox="1"/>
          <p:nvPr/>
        </p:nvSpPr>
        <p:spPr>
          <a:xfrm>
            <a:off x="230400" y="5940000"/>
            <a:ext cx="5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TIME TO MARKET →</a:t>
            </a:r>
          </a:p>
        </p:txBody>
      </p:sp>
      <p:sp>
        <p:nvSpPr>
          <p:cNvPr id="10002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Internal market projections</a:t>
            </a:r>
          </a:p>
        </p:txBody>
      </p:sp>
      <p:sp>
        <p:nvSpPr>
          <p:cNvPr id="10002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Chelates have higher immediate market adoption potential than nano-forms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require 5-year development timeline to achieve…</a:t>
            </a:r>
          </a:p>
        </p:txBody>
      </p:sp>
      <p:cxnSp>
        <p:nvCxnSpPr>
          <p:cNvPr id="2401" name="LinkIn1"/>
          <p:cNvCxnSpPr>
    </p:cNvCxnSpPr>
          <p:nvPr/>
        </p:nvCxnSpPr>
        <p:spPr>
          <a:xfrm flipH="1" flipV="1">
            <a:off x="2350000" y="2060000"/>
            <a:ext cx="222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2" name="LinkIn2"/>
          <p:cNvCxnSpPr>
    </p:cNvCxnSpPr>
          <p:nvPr/>
        </p:nvCxnSpPr>
        <p:spPr>
          <a:xfrm flipV="1">
            <a:off x="4575000" y="2060000"/>
            <a:ext cx="187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3" name="LinkIn3"/>
          <p:cNvCxnSpPr>
    </p:cNvCxnSpPr>
          <p:nvPr/>
        </p:nvCxnSpPr>
        <p:spPr>
          <a:xfrm flipH="1">
            <a:off x="2350000" y="3425000"/>
            <a:ext cx="2225000" cy="113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4" name="LinkOut1"/>
          <p:cNvCxnSpPr>
    </p:cNvCxnSpPr>
          <p:nvPr/>
        </p:nvCxnSpPr>
        <p:spPr>
          <a:xfrm flipV="1">
            <a:off x="4575000" y="1595000"/>
            <a:ext cx="0" cy="1830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5" name="LinkOut3"/>
          <p:cNvCxnSpPr>
    </p:cNvCxnSpPr>
          <p:nvPr/>
        </p:nvCxnSpPr>
        <p:spPr>
          <a:xfrm>
            <a:off x="4575000" y="3425000"/>
            <a:ext cx="3450000" cy="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6" name="LinkOut4"/>
          <p:cNvCxnSpPr>
    </p:cNvCxnSpPr>
          <p:nvPr/>
        </p:nvCxnSpPr>
        <p:spPr>
          <a:xfrm>
            <a:off x="4575000" y="3425000"/>
            <a:ext cx="2900000" cy="152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7" name="LinkOut5"/>
          <p:cNvCxnSpPr>
    </p:cNvCxnSpPr>
          <p:nvPr/>
        </p:nvCxnSpPr>
        <p:spPr>
          <a:xfrm>
            <a:off x="4575000" y="3425000"/>
            <a:ext cx="0" cy="170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8" name="LinkOut6"/>
          <p:cNvCxnSpPr>
    </p:cNvCxnSpPr>
          <p:nvPr/>
        </p:nvCxnSpPr>
        <p:spPr>
          <a:xfrm flipH="1">
            <a:off x="1675000" y="3425000"/>
            <a:ext cx="2900000" cy="152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9" name="LinkOut7"/>
          <p:cNvCxnSpPr>
    </p:cNvCxnSpPr>
          <p:nvPr/>
        </p:nvCxnSpPr>
        <p:spPr>
          <a:xfrm flipH="1">
            <a:off x="1125000" y="3425000"/>
            <a:ext cx="3450000" cy="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sp>
        <p:nvSpPr>
          <p:cNvPr id="2410" name="EcoInner1"/>
          <p:cNvSpPr/>
          <p:nvPr/>
        </p:nvSpPr>
        <p:spPr>
          <a:xfrm>
            <a:off x="17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2411" name="EcoInner2"/>
          <p:cNvSpPr/>
          <p:nvPr/>
        </p:nvSpPr>
        <p:spPr>
          <a:xfrm>
            <a:off x="58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Partners</a:t>
            </a:r>
          </a:p>
        </p:txBody>
      </p:sp>
      <p:sp>
        <p:nvSpPr>
          <p:cNvPr id="2412" name="EcoInner3"/>
          <p:cNvSpPr/>
          <p:nvPr/>
        </p:nvSpPr>
        <p:spPr>
          <a:xfrm>
            <a:off x="1700000" y="42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Regulators</a:t>
            </a:r>
          </a:p>
        </p:txBody>
      </p:sp>
      <p:sp>
        <p:nvSpPr>
          <p:cNvPr id="2413" name="EcoOuter1"/>
          <p:cNvSpPr/>
          <p:nvPr/>
        </p:nvSpPr>
        <p:spPr>
          <a:xfrm>
            <a:off x="4025000" y="132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Competitors</a:t>
            </a:r>
          </a:p>
        </p:txBody>
      </p:sp>
      <p:sp>
        <p:nvSpPr>
          <p:cNvPr id="2414" name="EcoOuter3"/>
          <p:cNvSpPr/>
          <p:nvPr/>
        </p:nvSpPr>
        <p:spPr>
          <a:xfrm>
            <a:off x="7475000" y="315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Suppliers</a:t>
            </a:r>
          </a:p>
        </p:txBody>
      </p:sp>
      <p:sp>
        <p:nvSpPr>
          <p:cNvPr id="2415" name="EcoOuter4"/>
          <p:cNvSpPr/>
          <p:nvPr/>
        </p:nvSpPr>
        <p:spPr>
          <a:xfrm>
            <a:off x="6925000" y="4680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Media</a:t>
            </a:r>
          </a:p>
        </p:txBody>
      </p:sp>
      <p:sp>
        <p:nvSpPr>
          <p:cNvPr id="2416" name="EcoOuter5"/>
          <p:cNvSpPr/>
          <p:nvPr/>
        </p:nvSpPr>
        <p:spPr>
          <a:xfrm>
            <a:off x="4025000" y="4860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Investors</a:t>
            </a:r>
          </a:p>
        </p:txBody>
      </p:sp>
      <p:sp>
        <p:nvSpPr>
          <p:cNvPr id="2417" name="EcoOuter6"/>
          <p:cNvSpPr/>
          <p:nvPr/>
        </p:nvSpPr>
        <p:spPr>
          <a:xfrm>
            <a:off x="1125000" y="4680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Government</a:t>
            </a:r>
          </a:p>
        </p:txBody>
      </p:sp>
      <p:sp>
        <p:nvSpPr>
          <p:cNvPr id="2418" name="EcoOuter7"/>
          <p:cNvSpPr/>
          <p:nvPr/>
        </p:nvSpPr>
        <p:spPr>
          <a:xfrm>
            <a:off x="575000" y="315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Environmental groups</a:t>
            </a:r>
          </a:p>
        </p:txBody>
      </p:sp>
      <p:sp>
        <p:nvSpPr>
          <p:cNvPr id="2419" name="EcoCenter"/>
          <p:cNvSpPr/>
          <p:nvPr/>
        </p:nvSpPr>
        <p:spPr>
          <a:xfrm>
            <a:off x="3850000" y="2700000"/>
            <a:ext cx="1450000" cy="145000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Nano-minerals</a:t>
            </a:r>
          </a:p>
        </p:txBody>
      </p:sp>
      <p:sp>
        <p:nvSpPr>
          <p:cNvPr id="2420" name="EcoQuad0"/>
          <p:cNvSpPr txBox="1"/>
          <p:nvPr/>
        </p:nvSpPr>
        <p:spPr>
          <a:xfrm>
            <a:off x="2304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INFLUENCE</a:t>
            </a:r>
          </a:p>
        </p:txBody>
      </p:sp>
      <p:sp>
        <p:nvSpPr>
          <p:cNvPr id="2421" name="EcoQuad1"/>
          <p:cNvSpPr txBox="1"/>
          <p:nvPr/>
        </p:nvSpPr>
        <p:spPr>
          <a:xfrm>
            <a:off x="65592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IMPACT</a:t>
            </a:r>
          </a:p>
        </p:txBody>
      </p:sp>
      <p:sp>
        <p:nvSpPr>
          <p:cNvPr id="2422" name="EcoQuad2"/>
          <p:cNvSpPr txBox="1"/>
          <p:nvPr/>
        </p:nvSpPr>
        <p:spPr>
          <a:xfrm>
            <a:off x="2304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MONITOR</a:t>
            </a:r>
          </a:p>
        </p:txBody>
      </p:sp>
      <p:sp>
        <p:nvSpPr>
          <p:cNvPr id="2423" name="EcoQuad3"/>
          <p:cNvSpPr txBox="1"/>
          <p:nvPr/>
        </p:nvSpPr>
        <p:spPr>
          <a:xfrm>
            <a:off x="65592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ENGAGE</a:t>
            </a:r>
          </a:p>
        </p:txBody>
      </p:sp>
      <p:sp>
        <p:nvSpPr>
          <p:cNvPr id="10002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Internal development plan</a:t>
            </a:r>
          </a:p>
        </p:txBody>
      </p:sp>
      <p:sp>
        <p:nvSpPr>
          <p:cNvPr id="10002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Nano-minerals will be long-term differentiated pipeline product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achieve 42% gross margin at scale</a:t>
            </a:r>
          </a:p>
        </p:txBody>
      </p:sp>
      <p:sp>
        <p:nvSpPr>
          <p:cNvPr id="2501" name="KpiTile1"/>
          <p:cNvSpPr/>
          <p:nvPr/>
        </p:nvSpPr>
        <p:spPr>
          <a:xfrm>
            <a:off x="4572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02" name="KpiStatus1"/>
          <p:cNvSpPr/>
          <p:nvPr/>
        </p:nvSpPr>
        <p:spPr>
          <a:xfrm>
            <a:off x="457200" y="1620000"/>
            <a:ext cx="2030200" cy="3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03" name="KpiText1"/>
          <p:cNvSpPr txBox="1"/>
          <p:nvPr/>
        </p:nvSpPr>
        <p:spPr>
          <a:xfrm>
            <a:off x="5715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Gross margin (chelates)   </a:t>
            </a:r>
            <a:r>
              <a:rPr lang="en-US" sz="1200" b="1" dirty="0">
                <a:solidFill>
                  <a:srgbClr val="2E7D32"/>
                </a:solidFill>
                <a:latin typeface="Calibri"/>
              </a:rPr>
              <a:t>▲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42%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/>
            </a:r>
          </a:p>
        </p:txBody>
      </p:sp>
      <p:sp>
        <p:nvSpPr>
          <p:cNvPr id="2504" name="KpiTile2"/>
          <p:cNvSpPr/>
          <p:nvPr/>
        </p:nvSpPr>
        <p:spPr>
          <a:xfrm>
            <a:off x="26074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05" name="KpiStatus2"/>
          <p:cNvSpPr/>
          <p:nvPr/>
        </p:nvSpPr>
        <p:spPr>
          <a:xfrm>
            <a:off x="2607400" y="1620000"/>
            <a:ext cx="20302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06" name="KpiText2"/>
          <p:cNvSpPr txBox="1"/>
          <p:nvPr/>
        </p:nvSpPr>
        <p:spPr>
          <a:xfrm>
            <a:off x="27217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EBITDA margin (nano)   </a:t>
            </a:r>
            <a:r>
              <a:rPr lang="en-US" sz="1200" b="1" dirty="0">
                <a:solidFill>
                  <a:srgbClr val="0070C0"/>
                </a:solidFill>
                <a:latin typeface="Calibri"/>
              </a:rPr>
              <a:t>◆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24%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/>
            </a:r>
          </a:p>
        </p:txBody>
      </p:sp>
      <p:sp>
        <p:nvSpPr>
          <p:cNvPr id="2507" name="KpiTile3"/>
          <p:cNvSpPr/>
          <p:nvPr/>
        </p:nvSpPr>
        <p:spPr>
          <a:xfrm>
            <a:off x="47576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08" name="KpiStatus3"/>
          <p:cNvSpPr/>
          <p:nvPr/>
        </p:nvSpPr>
        <p:spPr>
          <a:xfrm>
            <a:off x="4757600" y="1620000"/>
            <a:ext cx="2030200" cy="3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09" name="KpiText3"/>
          <p:cNvSpPr txBox="1"/>
          <p:nvPr/>
        </p:nvSpPr>
        <p:spPr>
          <a:xfrm>
            <a:off x="48719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Base-case NPV   </a:t>
            </a:r>
            <a:r>
              <a:rPr lang="en-US" sz="1200" b="1" dirty="0">
                <a:solidFill>
                  <a:srgbClr val="2E7D32"/>
                </a:solidFill>
                <a:latin typeface="Calibri"/>
              </a:rPr>
              <a:t>▲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$41.9M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/>
            </a:r>
          </a:p>
        </p:txBody>
      </p:sp>
      <p:sp>
        <p:nvSpPr>
          <p:cNvPr id="2510" name="KpiTile4"/>
          <p:cNvSpPr/>
          <p:nvPr/>
        </p:nvSpPr>
        <p:spPr>
          <a:xfrm>
            <a:off x="69078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11" name="KpiStatus4"/>
          <p:cNvSpPr/>
          <p:nvPr/>
        </p:nvSpPr>
        <p:spPr>
          <a:xfrm>
            <a:off x="6907800" y="1620000"/>
            <a:ext cx="2030200" cy="3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12" name="KpiText4"/>
          <p:cNvSpPr txBox="1"/>
          <p:nvPr/>
        </p:nvSpPr>
        <p:spPr>
          <a:xfrm>
            <a:off x="70221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IRR   </a:t>
            </a:r>
            <a:r>
              <a:rPr lang="en-US" sz="1200" b="1" dirty="0">
                <a:solidFill>
                  <a:srgbClr val="2E7D32"/>
                </a:solidFill>
                <a:latin typeface="Calibri"/>
              </a:rPr>
              <a:t>▲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19.6%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/>
            </a:r>
          </a:p>
        </p:txBody>
      </p:sp>
      <p:sp>
        <p:nvSpPr>
          <p:cNvPr id="10002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Internal financial model</a:t>
            </a:r>
          </a:p>
        </p:txBody>
      </p:sp>
      <p:sp>
        <p:nvSpPr>
          <p:cNvPr id="10002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Chelates provide immediate financial upside while nano remains long-term play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2602" name="AgendaRow1"/>
          <p:cNvSpPr/>
          <p:nvPr/>
        </p:nvSpPr>
        <p:spPr>
          <a:xfrm>
            <a:off x="1000000" y="162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3" name="AgendaNum1"/>
          <p:cNvSpPr/>
          <p:nvPr/>
        </p:nvSpPr>
        <p:spPr>
          <a:xfrm>
            <a:off x="10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04" name="AgendaTxt1"/>
          <p:cNvSpPr txBox="1"/>
          <p:nvPr/>
        </p:nvSpPr>
        <p:spPr>
          <a:xfrm>
            <a:off x="16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Capital investment overview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</a:t>
            </a:r>
          </a:p>
        </p:txBody>
      </p:sp>
      <p:sp>
        <p:nvSpPr>
          <p:cNvPr id="2605" name="AgendaRow2"/>
          <p:cNvSpPr/>
          <p:nvPr/>
        </p:nvSpPr>
        <p:spPr>
          <a:xfrm>
            <a:off x="1000000" y="234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6" name="AgendaNum2"/>
          <p:cNvSpPr/>
          <p:nvPr/>
        </p:nvSpPr>
        <p:spPr>
          <a:xfrm>
            <a:off x="10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07" name="AgendaTxt2"/>
          <p:cNvSpPr txBox="1"/>
          <p:nvPr/>
        </p:nvSpPr>
        <p:spPr>
          <a:xfrm>
            <a:off x="16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Ramp-up timeline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2</a:t>
            </a:r>
          </a:p>
        </p:txBody>
      </p:sp>
      <p:sp>
        <p:nvSpPr>
          <p:cNvPr id="2608" name="AgendaRow3"/>
          <p:cNvSpPr/>
          <p:nvPr/>
        </p:nvSpPr>
        <p:spPr>
          <a:xfrm>
            <a:off x="10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9" name="AgendaNum3"/>
          <p:cNvSpPr/>
          <p:nvPr/>
        </p:nvSpPr>
        <p:spPr>
          <a:xfrm>
            <a:off x="10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10" name="AgendaTxt3"/>
          <p:cNvSpPr txBox="1"/>
          <p:nvPr/>
        </p:nvSpPr>
        <p:spPr>
          <a:xfrm>
            <a:off x="16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Working capital estimate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</a:t>
            </a:r>
          </a:p>
        </p:txBody>
      </p:sp>
      <p:sp>
        <p:nvSpPr>
          <p:cNvPr id="2611" name="AgendaRow4"/>
          <p:cNvSpPr/>
          <p:nvPr/>
        </p:nvSpPr>
        <p:spPr>
          <a:xfrm>
            <a:off x="1000000" y="378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2" name="AgendaNum4"/>
          <p:cNvSpPr/>
          <p:nvPr/>
        </p:nvSpPr>
        <p:spPr>
          <a:xfrm>
            <a:off x="10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13" name="AgendaTxt4"/>
          <p:cNvSpPr txBox="1"/>
          <p:nvPr/>
        </p:nvSpPr>
        <p:spPr>
          <a:xfrm>
            <a:off x="16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Cost breakdown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4</a:t>
            </a:r>
          </a:p>
        </p:txBody>
      </p:sp>
      <p:sp>
        <p:nvSpPr>
          <p:cNvPr id="2614" name="AgendaRow5"/>
          <p:cNvSpPr/>
          <p:nvPr/>
        </p:nvSpPr>
        <p:spPr>
          <a:xfrm>
            <a:off x="1000000" y="450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5" name="AgendaNum5"/>
          <p:cNvSpPr/>
          <p:nvPr/>
        </p:nvSpPr>
        <p:spPr>
          <a:xfrm>
            <a:off x="10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16" name="AgendaTxt5"/>
          <p:cNvSpPr txBox="1"/>
          <p:nvPr/>
        </p:nvSpPr>
        <p:spPr>
          <a:xfrm>
            <a:off x="16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Financial implications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5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7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Build-first strategy prioritizes organic chelates with nano-platform…</a:t>
            </a:r>
          </a:p>
        </p:txBody>
      </p:sp>
      <p:sp>
        <p:nvSpPr>
          <p:cNvPr id="2701" name="SrcMethodCol1"/>
          <p:cNvSpPr txBox="1"/>
          <p:nvPr/>
        </p:nvSpPr>
        <p:spPr>
          <a:xfrm>
            <a:off x="457200" y="1620000"/>
            <a:ext cx="2641600" cy="4320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NGUỒN DỮ LIỆU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–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Khung chiến lược nội bộ</a:t>
            </a:r>
          </a:p>
        </p:txBody>
      </p:sp>
      <p:sp>
        <p:nvSpPr>
          <p:cNvPr id="2702" name="SrcMethodCol2"/>
          <p:cNvSpPr txBox="1"/>
          <p:nvPr/>
        </p:nvSpPr>
        <p:spPr>
          <a:xfrm>
            <a:off x="3327400" y="1620000"/>
            <a:ext cx="2641600" cy="4320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PHƯƠNG PHÁP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Phân tích định tính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Đánh giá nội bộ</a:t>
            </a:r>
          </a:p>
        </p:txBody>
      </p:sp>
      <p:sp>
        <p:nvSpPr>
          <p:cNvPr id="2703" name="SrcMethodCol3"/>
          <p:cNvSpPr txBox="1"/>
          <p:nvPr/>
        </p:nvSpPr>
        <p:spPr>
          <a:xfrm>
            <a:off x="6197600" y="1620000"/>
            <a:ext cx="2641600" cy="4320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GIẢ ĐỊNH QUAN TRỌNG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Lên kế hoạch thương mại cho Q3 2026-Q1 2027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Phát triển nền tảng nano như một đường ống khác biệt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Nộp bảo hộ IP phòng thủ</a:t>
            </a:r>
          </a:p>
        </p:txBody>
      </p:sp>
      <p:sp>
        <p:nvSpPr>
          <p:cNvPr id="100027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Internal strategy framework</a:t>
            </a:r>
          </a:p>
        </p:txBody>
      </p:sp>
      <p:sp>
        <p:nvSpPr>
          <p:cNvPr id="100027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7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Balanced approach to maximize near-term value while building long-term nano-capabilities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Nano-minerals deliver 1.5-3x growth improvements but require precise dosing to maximize benefits.</a:t>
            </a:r>
          </a:p>
        </p:txBody>
      </p:sp>
      <p:sp>
        <p:nvSpPr>
          <p:cNvPr id="28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Significant productivity gains</a:t>
            </a:r>
          </a:p>
        </p:txBody>
      </p:sp>
      <p:sp>
        <p:nvSpPr>
          <p:cNvPr id="28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Dose control is critical</a:t>
            </a:r>
          </a:p>
        </p:txBody>
      </p:sp>
      <p:sp>
        <p:nvSpPr>
          <p:cNvPr id="28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Nano-formulations offer unique benefits</a:t>
            </a:r>
          </a:p>
        </p:txBody>
      </p:sp>
      <p:sp>
        <p:nvSpPr>
          <p:cNvPr id="28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Nano-SeNPs: 57% weight gain increase (Eissa et al., 2023)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Clay-supported ZnO-K: +30% weight gain (Mohammady et al., 2021)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40.3% post-challenge mortality reduction (Eissa et al., 2023)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35x IgM-2 upregulation (Mohammady et al., 2021)</a:t>
            </a:r>
          </a:p>
        </p:txBody>
      </p:sp>
      <p:sp>
        <p:nvSpPr>
          <p:cNvPr id="28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Overdosing can negate benefits (Eissa et al., 2023)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Precise application required for optimal results (Mohammady et al., 2021)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Excessive nano-formulations may reduce effectiveness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Careful monitoring needed to avoid toxicity risks</a:t>
            </a:r>
          </a:p>
        </p:txBody>
      </p:sp>
      <p:sp>
        <p:nvSpPr>
          <p:cNvPr id="28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Targeted delivery improves nutrient uptake (Eissa et al., 2023)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Enhanced immune response via IgM-2 upregulation (Mohammady et al., 2021)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Reduced mortality in stressed conditions (Eissa et al., 2023)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Sustainable growth without excessive resource use</a:t>
            </a:r>
          </a:p>
        </p:txBody>
      </p:sp>
      <p:cxnSp>
        <p:nvCxnSpPr>
          <p:cNvPr id="2808" name="PyramidConn1"/>
          <p:cNvCxnSpPr>
            <a:stCxn id="2801" idx="2"/>
            <a:endCxn id="28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809" name="PyramidConn2"/>
          <p:cNvCxnSpPr>
            <a:stCxn id="2801" idx="2"/>
            <a:endCxn id="28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810" name="PyramidConn3"/>
          <p:cNvCxnSpPr>
            <a:stCxn id="2801" idx="2"/>
            <a:endCxn id="28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reduce excretion by 40%</a:t>
            </a:r>
          </a:p>
        </p:txBody>
      </p:sp>
      <p:sp>
        <p:nvSpPr>
          <p:cNvPr id="29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Organic chelates reduce trace-mineral excretion by 40% vs. inorganic salts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Proven performance offers immediate commercial advantage</a:t>
            </a:r>
          </a:p>
        </p:txBody>
      </p:sp>
      <p:sp>
        <p:nvSpPr>
          <p:cNvPr id="29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1.5-2.5x pricing premium compared to inorganic salts</a:t>
            </a:r>
          </a:p>
        </p:txBody>
      </p:sp>
      <p:sp>
        <p:nvSpPr>
          <p:cNvPr id="29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for higher pricing due to proven performance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Growing demand for organic chelates in trace-mineral applications</a:t>
            </a:r>
          </a:p>
        </p:txBody>
      </p:sp>
      <p:sp>
        <p:nvSpPr>
          <p:cNvPr id="29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Competition from established inorganic salt suppliers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challenges in trace-mineral excretion claims</a:t>
            </a:r>
          </a:p>
        </p:txBody>
      </p:sp>
      <p:sp>
        <p:nvSpPr>
          <p:cNvPr id="10002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 (2025)</a:t>
            </a:r>
          </a:p>
        </p:txBody>
      </p:sp>
      <p:sp>
        <p:nvSpPr>
          <p:cNvPr id="10002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Chelates offer immediate commercial advantage with proven performance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Shrimp feed trace-mineral segment grows to $6.4B by 2035</a:t>
            </a:r>
          </a:p>
        </p:txBody>
      </p:sp>
      <p:sp>
        <p:nvSpPr>
          <p:cNvPr id="30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30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30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30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GROWTH, SMALL MARKET</a:t>
            </a:r>
          </a:p>
        </p:txBody>
      </p:sp>
      <p:sp>
        <p:nvSpPr>
          <p:cNvPr id="30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GROWTH, SMALL MARKET</a:t>
            </a:r>
          </a:p>
        </p:txBody>
      </p:sp>
      <p:sp>
        <p:nvSpPr>
          <p:cNvPr id="30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GROWTH, LARGE MARKET</a:t>
            </a:r>
          </a:p>
        </p:txBody>
      </p:sp>
      <p:sp>
        <p:nvSpPr>
          <p:cNvPr id="30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GROWTH, LARGE MARKET</a:t>
            </a:r>
          </a:p>
        </p:txBody>
      </p:sp>
      <p:sp>
        <p:nvSpPr>
          <p:cNvPr id="3012" name="Bubble1"/>
          <p:cNvSpPr/>
          <p:nvPr/>
        </p:nvSpPr>
        <p:spPr>
          <a:xfrm>
            <a:off x="6380000" y="168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Shrimp Feed</a:t>
            </a:r>
          </a:p>
        </p:txBody>
      </p:sp>
      <p:sp>
        <p:nvSpPr>
          <p:cNvPr id="3013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GROWTH RATE →</a:t>
            </a:r>
          </a:p>
        </p:txBody>
      </p:sp>
      <p:sp>
        <p:nvSpPr>
          <p:cNvPr id="3014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MARKET SIZE ↑</a:t>
            </a:r>
          </a:p>
        </p:txBody>
      </p:sp>
      <p:sp>
        <p:nvSpPr>
          <p:cNvPr id="10003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</a:t>
            </a:r>
          </a:p>
        </p:txBody>
      </p:sp>
      <p:sp>
        <p:nvSpPr>
          <p:cNvPr id="10003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Shrimp represents the largest and fastest-growing segment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Feed triad controls 50-55% of shrimp feed market</a:t>
            </a:r>
          </a:p>
        </p:txBody>
      </p:sp>
      <p:sp>
        <p:nvSpPr>
          <p:cNvPr id="31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3102" name="HvHeadOpt1"/>
          <p:cNvSpPr txBox="1"/>
          <p:nvPr/>
        </p:nvSpPr>
        <p:spPr>
          <a:xfrm>
            <a:off x="31572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CARGILL</a:t>
            </a:r>
          </a:p>
        </p:txBody>
      </p:sp>
      <p:sp>
        <p:nvSpPr>
          <p:cNvPr id="3103" name="HvHeadOpt2"/>
          <p:cNvSpPr txBox="1"/>
          <p:nvPr/>
        </p:nvSpPr>
        <p:spPr>
          <a:xfrm>
            <a:off x="50004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SKRETTING/NUTRECO</a:t>
            </a:r>
          </a:p>
        </p:txBody>
      </p:sp>
      <p:sp>
        <p:nvSpPr>
          <p:cNvPr id="3104" name="HvHeadOpt3"/>
          <p:cNvSpPr txBox="1"/>
          <p:nvPr/>
        </p:nvSpPr>
        <p:spPr>
          <a:xfrm>
            <a:off x="68436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BIOMAR</a:t>
            </a:r>
          </a:p>
        </p:txBody>
      </p:sp>
      <p:sp>
        <p:nvSpPr>
          <p:cNvPr id="3105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Market share</a:t>
            </a:r>
          </a:p>
        </p:txBody>
      </p:sp>
      <p:sp>
        <p:nvSpPr>
          <p:cNvPr id="3106" name="HvCell1_1"/>
          <p:cNvSpPr txBox="1"/>
          <p:nvPr/>
        </p:nvSpPr>
        <p:spPr>
          <a:xfrm>
            <a:off x="31572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3107" name="HvCell1_2"/>
          <p:cNvSpPr txBox="1"/>
          <p:nvPr/>
        </p:nvSpPr>
        <p:spPr>
          <a:xfrm>
            <a:off x="50004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3108" name="HvCell1_3"/>
          <p:cNvSpPr txBox="1"/>
          <p:nvPr/>
        </p:nvSpPr>
        <p:spPr>
          <a:xfrm>
            <a:off x="68436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3109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Patents</a:t>
            </a:r>
          </a:p>
        </p:txBody>
      </p:sp>
      <p:sp>
        <p:nvSpPr>
          <p:cNvPr id="3110" name="HvCell2_1"/>
          <p:cNvSpPr txBox="1"/>
          <p:nvPr/>
        </p:nvSpPr>
        <p:spPr>
          <a:xfrm>
            <a:off x="31572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3111" name="HvCell2_2"/>
          <p:cNvSpPr txBox="1"/>
          <p:nvPr/>
        </p:nvSpPr>
        <p:spPr>
          <a:xfrm>
            <a:off x="50004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3112" name="HvCell2_3"/>
          <p:cNvSpPr txBox="1"/>
          <p:nvPr/>
        </p:nvSpPr>
        <p:spPr>
          <a:xfrm>
            <a:off x="68436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3113" name="HvScoreLbl"/>
          <p:cNvSpPr txBox="1"/>
          <p:nvPr/>
        </p:nvSpPr>
        <p:spPr>
          <a:xfrm>
            <a:off x="457200" y="2844000"/>
            <a:ext cx="2700000" cy="504000"/>
          </a:xfrm>
          <a:prstGeom prst="rect">
            <a:avLst/>
          </a:prstGeom>
          <a:solidFill>
            <a:srgbClr val="002F69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WEIGHTED SCORE</a:t>
            </a:r>
          </a:p>
        </p:txBody>
      </p:sp>
      <p:sp>
        <p:nvSpPr>
          <p:cNvPr id="3114" name="HvScore1"/>
          <p:cNvSpPr txBox="1"/>
          <p:nvPr/>
        </p:nvSpPr>
        <p:spPr>
          <a:xfrm>
            <a:off x="3157200" y="2844000"/>
            <a:ext cx="1843200" cy="504000"/>
          </a:xfrm>
          <a:prstGeom prst="rect">
            <a:avLst/>
          </a:prstGeom>
          <a:solidFill>
            <a:srgbClr val="FFF7E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/>
              </a:rPr>
              <a:t>4</a:t>
            </a:r>
          </a:p>
        </p:txBody>
      </p:sp>
      <p:sp>
        <p:nvSpPr>
          <p:cNvPr id="3115" name="HvScore2"/>
          <p:cNvSpPr txBox="1"/>
          <p:nvPr/>
        </p:nvSpPr>
        <p:spPr>
          <a:xfrm>
            <a:off x="5000400" y="2844000"/>
            <a:ext cx="1843200" cy="504000"/>
          </a:xfrm>
          <a:prstGeom prst="rect">
            <a:avLst/>
          </a:prstGeom>
          <a:solidFill>
            <a:srgbClr val="FFF7E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/>
              </a:rPr>
              <a:t>4</a:t>
            </a:r>
          </a:p>
        </p:txBody>
      </p:sp>
      <p:sp>
        <p:nvSpPr>
          <p:cNvPr id="3116" name="HvScore3"/>
          <p:cNvSpPr txBox="1"/>
          <p:nvPr/>
        </p:nvSpPr>
        <p:spPr>
          <a:xfrm>
            <a:off x="6843600" y="2844000"/>
            <a:ext cx="1843200" cy="504000"/>
          </a:xfrm>
          <a:prstGeom prst="rect">
            <a:avLst/>
          </a:prstGeom>
          <a:solidFill>
            <a:srgbClr val="FFF7E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/>
              </a:rPr>
              <a:t>4</a:t>
            </a:r>
          </a:p>
        </p:txBody>
      </p:sp>
      <p:sp>
        <p:nvSpPr>
          <p:cNvPr id="10003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</a:t>
            </a:r>
          </a:p>
        </p:txBody>
      </p:sp>
      <p:sp>
        <p:nvSpPr>
          <p:cNvPr id="10003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Competitive landscape is highly concentrated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Nano-specific feed-additive pathways are unclear</a:t>
            </a:r>
          </a:p>
        </p:txBody>
      </p:sp>
      <p:sp>
        <p:nvSpPr>
          <p:cNvPr id="3201" name="HeatCell1"/>
          <p:cNvSpPr txBox="1"/>
          <p:nvPr/>
        </p:nvSpPr>
        <p:spPr>
          <a:xfrm>
            <a:off x="1500000" y="1620000"/>
            <a:ext cx="2166666" cy="21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Pending</a:t>
            </a:r>
          </a:p>
        </p:txBody>
      </p:sp>
      <p:sp>
        <p:nvSpPr>
          <p:cNvPr id="3202" name="HeatCell2"/>
          <p:cNvSpPr txBox="1"/>
          <p:nvPr/>
        </p:nvSpPr>
        <p:spPr>
          <a:xfrm>
            <a:off x="3666666" y="1620000"/>
            <a:ext cx="2166666" cy="2100000"/>
          </a:xfrm>
          <a:prstGeom prst="rect">
            <a:avLst/>
          </a:prstGeom>
          <a:solidFill>
            <a:srgbClr val="9CCC65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Guidance</a:t>
            </a:r>
          </a:p>
        </p:txBody>
      </p:sp>
      <p:sp>
        <p:nvSpPr>
          <p:cNvPr id="3203" name="HeatCell3"/>
          <p:cNvSpPr txBox="1"/>
          <p:nvPr/>
        </p:nvSpPr>
        <p:spPr>
          <a:xfrm>
            <a:off x="5833332" y="1620000"/>
            <a:ext cx="2166666" cy="2100000"/>
          </a:xfrm>
          <a:prstGeom prst="rect">
            <a:avLst/>
          </a:prstGeom>
          <a:solidFill>
            <a:srgbClr val="2E7D32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None</a:t>
            </a:r>
          </a:p>
        </p:txBody>
      </p:sp>
      <p:sp>
        <p:nvSpPr>
          <p:cNvPr id="3204" name="YTick1"/>
          <p:cNvSpPr txBox="1"/>
          <p:nvPr/>
        </p:nvSpPr>
        <p:spPr>
          <a:xfrm>
            <a:off x="400000" y="1620000"/>
            <a:ext cx="1060000" cy="21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Regulatory</a:t>
            </a:r>
          </a:p>
        </p:txBody>
      </p:sp>
      <p:sp>
        <p:nvSpPr>
          <p:cNvPr id="3205" name="YTick2"/>
          <p:cNvSpPr txBox="1"/>
          <p:nvPr/>
        </p:nvSpPr>
        <p:spPr>
          <a:xfrm>
            <a:off x="400000" y="3720000"/>
            <a:ext cx="1060000" cy="21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Uncertainty</a:t>
            </a:r>
          </a:p>
        </p:txBody>
      </p:sp>
      <p:sp>
        <p:nvSpPr>
          <p:cNvPr id="3206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EU</a:t>
            </a:r>
          </a:p>
        </p:txBody>
      </p:sp>
      <p:sp>
        <p:nvSpPr>
          <p:cNvPr id="3207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US</a:t>
            </a:r>
          </a:p>
        </p:txBody>
      </p:sp>
      <p:sp>
        <p:nvSpPr>
          <p:cNvPr id="3208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China</a:t>
            </a:r>
          </a:p>
        </p:txBody>
      </p:sp>
      <p:sp>
        <p:nvSpPr>
          <p:cNvPr id="3209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Regulatory Jurisdiction</a:t>
            </a:r>
          </a:p>
        </p:txBody>
      </p:sp>
      <p:sp>
        <p:nvSpPr>
          <p:cNvPr id="3210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Regulatory Status</a:t>
            </a:r>
          </a:p>
        </p:txBody>
      </p:sp>
      <p:sp>
        <p:nvSpPr>
          <p:cNvPr id="10003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</a:t>
            </a:r>
          </a:p>
        </p:txBody>
      </p:sp>
      <p:sp>
        <p:nvSpPr>
          <p:cNvPr id="10003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uncertainty creates significant risk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Nano-particle aggregation is a key technical risk</a:t>
            </a:r>
          </a:p>
        </p:txBody>
      </p:sp>
      <p:sp>
        <p:nvSpPr>
          <p:cNvPr id="33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Technical risk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3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Aggregation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Destabilizes</a:t>
            </a:r>
          </a:p>
        </p:txBody>
      </p:sp>
      <p:sp>
        <p:nvSpPr>
          <p:cNvPr id="3303" name="DriverL3_1_1"/>
          <p:cNvSpPr/>
          <p:nvPr/>
        </p:nvSpPr>
        <p:spPr>
          <a:xfrm>
            <a:off x="5300000" y="138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Pelleting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Unstable</a:t>
            </a:r>
          </a:p>
        </p:txBody>
      </p:sp>
      <p:sp>
        <p:nvSpPr>
          <p:cNvPr id="3304" name="DriverL3_1_2"/>
          <p:cNvSpPr/>
          <p:nvPr/>
        </p:nvSpPr>
        <p:spPr>
          <a:xfrm>
            <a:off x="5300000" y="203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Extrusion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Unstable</a:t>
            </a:r>
          </a:p>
        </p:txBody>
      </p:sp>
      <p:sp>
        <p:nvSpPr>
          <p:cNvPr id="3308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Toxicity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Narrow window</a:t>
            </a:r>
          </a:p>
        </p:txBody>
      </p:sp>
      <p:sp>
        <p:nvSpPr>
          <p:cNvPr id="3309" name="DriverL3_2_1"/>
          <p:cNvSpPr/>
          <p:nvPr/>
        </p:nvSpPr>
        <p:spPr>
          <a:xfrm>
            <a:off x="5300000" y="315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Dose limit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1.5-2x optimal</a:t>
            </a:r>
          </a:p>
        </p:txBody>
      </p:sp>
      <p:cxnSp>
        <p:nvCxnSpPr>
          <p:cNvPr id="3305" name="BranchRoot_1"/>
          <p:cNvCxnSpPr>
            <a:stCxn id="3301" idx="1"/>
            <a:endCxn id="33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306" name="BranchL2_1_1"/>
          <p:cNvCxnSpPr>
            <a:stCxn id="3302" idx="1"/>
            <a:endCxn id="3303" idx="3"/>
          </p:cNvCxnSpPr>
          <p:nvPr/>
        </p:nvCxnSpPr>
        <p:spPr>
          <a:xfrm flipV="1">
            <a:off x="4800000" y="165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307" name="BranchL2_1_2"/>
          <p:cNvCxnSpPr>
            <a:stCxn id="3302" idx="1"/>
            <a:endCxn id="3304" idx="3"/>
          </p:cNvCxnSpPr>
          <p:nvPr/>
        </p:nvCxnSpPr>
        <p:spPr>
          <a:xfrm>
            <a:off x="4800000" y="198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310" name="BranchRoot_2"/>
          <p:cNvCxnSpPr>
            <a:stCxn id="3301" idx="1"/>
            <a:endCxn id="3308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311" name="BranchL2_2_1"/>
          <p:cNvCxnSpPr>
            <a:stCxn id="3308" idx="1"/>
            <a:endCxn id="3309" idx="3"/>
          </p:cNvCxnSpPr>
          <p:nvPr/>
        </p:nvCxnSpPr>
        <p:spPr>
          <a:xfrm>
            <a:off x="4800000" y="342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3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</a:t>
            </a:r>
          </a:p>
        </p:txBody>
      </p:sp>
      <p:sp>
        <p:nvSpPr>
          <p:cNvPr id="10003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Technical challenges require significant R&amp;D investment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launch as near-term beachhead</a:t>
            </a:r>
          </a:p>
        </p:txBody>
      </p:sp>
      <p:sp>
        <p:nvSpPr>
          <p:cNvPr id="34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Q3'26</a:t>
            </a:r>
          </a:p>
        </p:txBody>
      </p:sp>
      <p:sp>
        <p:nvSpPr>
          <p:cNvPr id="34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Q4'26</a:t>
            </a:r>
          </a:p>
        </p:txBody>
      </p:sp>
      <p:sp>
        <p:nvSpPr>
          <p:cNvPr id="34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Q1'27</a:t>
            </a:r>
          </a:p>
        </p:txBody>
      </p:sp>
      <p:sp>
        <p:nvSpPr>
          <p:cNvPr id="34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Q2'27</a:t>
            </a:r>
          </a:p>
        </p:txBody>
      </p:sp>
      <p:cxnSp>
        <p:nvCxnSpPr>
          <p:cNvPr id="3405" name="QGrid1"/>
          <p:cNvCxnSpPr>
    </p:cNvCxnSpPr>
          <p:nvPr/>
        </p:nvCxnSpPr>
        <p:spPr>
          <a:xfrm>
            <a:off x="3825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3406" name="QGrid2"/>
          <p:cNvCxnSpPr>
    </p:cNvCxnSpPr>
          <p:nvPr/>
        </p:nvCxnSpPr>
        <p:spPr>
          <a:xfrm>
            <a:off x="5450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3407" name="QGrid3"/>
          <p:cNvCxnSpPr>
    </p:cNvCxnSpPr>
          <p:nvPr/>
        </p:nvCxnSpPr>
        <p:spPr>
          <a:xfrm>
            <a:off x="7075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34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Build-first with partnering</a:t>
            </a:r>
          </a:p>
        </p:txBody>
      </p:sp>
      <p:sp>
        <p:nvSpPr>
          <p:cNvPr id="3409" name="WsBar1_1"/>
          <p:cNvSpPr/>
          <p:nvPr/>
        </p:nvSpPr>
        <p:spPr>
          <a:xfrm>
            <a:off x="2245720" y="23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Secure regulatory access</a:t>
            </a:r>
          </a:p>
        </p:txBody>
      </p:sp>
      <p:sp>
        <p:nvSpPr>
          <p:cNvPr id="3410" name="Ms1_1"/>
          <p:cNvSpPr/>
          <p:nvPr/>
        </p:nvSpPr>
        <p:spPr>
          <a:xfrm>
            <a:off x="53240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1" name="MsLbl1_1"/>
          <p:cNvSpPr txBox="1"/>
          <p:nvPr/>
        </p:nvSpPr>
        <p:spPr>
          <a:xfrm>
            <a:off x="50828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700" dirty="0">
                <a:solidFill>
                  <a:srgbClr val="595959"/>
                </a:solidFill>
                <a:latin typeface="Calibri"/>
              </a:rPr>
              <a:t>Customer trac…</a:t>
            </a:r>
          </a:p>
        </p:txBody>
      </p:sp>
      <p:sp>
        <p:nvSpPr>
          <p:cNvPr id="3412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Shrimp &amp; tilapia segments</a:t>
            </a:r>
          </a:p>
        </p:txBody>
      </p:sp>
      <p:sp>
        <p:nvSpPr>
          <p:cNvPr id="3413" name="WsBar2_1"/>
          <p:cNvSpPr/>
          <p:nvPr/>
        </p:nvSpPr>
        <p:spPr>
          <a:xfrm>
            <a:off x="2245720" y="31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Prioritize segments</a:t>
            </a:r>
          </a:p>
        </p:txBody>
      </p:sp>
      <p:sp>
        <p:nvSpPr>
          <p:cNvPr id="3414" name="WsLbl3"/>
          <p:cNvSpPr txBox="1"/>
          <p:nvPr/>
        </p:nvSpPr>
        <p:spPr>
          <a:xfrm>
            <a:off x="230400" y="37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Organic chelates launch</a:t>
            </a:r>
          </a:p>
        </p:txBody>
      </p:sp>
      <p:sp>
        <p:nvSpPr>
          <p:cNvPr id="3415" name="WsBar3_1"/>
          <p:cNvSpPr/>
          <p:nvPr/>
        </p:nvSpPr>
        <p:spPr>
          <a:xfrm>
            <a:off x="2245720" y="39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953735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Q3'26-Q1'27</a:t>
            </a:r>
          </a:p>
        </p:txBody>
      </p:sp>
      <p:cxnSp>
        <p:nvCxnSpPr>
          <p:cNvPr id="3416" name="TodayLine"/>
          <p:cNvCxnSpPr>
    </p:cNvCxnSpPr>
          <p:nvPr/>
        </p:nvCxnSpPr>
        <p:spPr>
          <a:xfrm>
            <a:off x="2200000" y="2160000"/>
            <a:ext cx="0" cy="24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3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</a:t>
            </a:r>
          </a:p>
        </p:txBody>
      </p:sp>
      <p:sp>
        <p:nvSpPr>
          <p:cNvPr id="10003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Chelates provide immediate commercial opportunity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Base-case NPV of $41.9M at 19.6% IRR</a:t>
            </a:r>
          </a:p>
        </p:txBody>
      </p:sp>
      <p:sp>
        <p:nvSpPr>
          <p:cNvPr id="35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35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35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35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3509" name="RadarTarget"/>
          <p:cNvSpPr/>
          <p:nvPr/>
        </p:nvSpPr>
        <p:spPr>
          <a:xfrm>
            <a:off x="2352923" y="1920000"/>
            <a:ext cx="2805923" cy="2700000"/>
          </a:xfrm>
          <a:custGeom>
            <a:avLst/>
            <a:gdLst/>
            <a:ahLst/>
            <a:cxnLst/>
            <a:rect l="0" t="0" r="2805923" b="2700000"/>
            <a:pathLst>
              <a:path w="2805923" h="2700000">
                <a:moveTo>
                  <a:pt x="1247077" y="0"/>
                </a:moveTo>
                <a:lnTo>
                  <a:pt x="2805923" y="2700000"/>
                </a:lnTo>
                <a:lnTo>
                  <a:pt x="0" y="252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10" name="RadarCurrent"/>
          <p:cNvSpPr/>
          <p:nvPr/>
        </p:nvSpPr>
        <p:spPr>
          <a:xfrm>
            <a:off x="2976462" y="2280000"/>
            <a:ext cx="1558845" cy="1980000"/>
          </a:xfrm>
          <a:custGeom>
            <a:avLst/>
            <a:gdLst/>
            <a:ahLst/>
            <a:cxnLst/>
            <a:rect l="0" t="0" r="1558845" b="1980000"/>
            <a:pathLst>
              <a:path w="1558845" h="1980000">
                <a:moveTo>
                  <a:pt x="623538" y="0"/>
                </a:moveTo>
                <a:lnTo>
                  <a:pt x="1558845" y="198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Financial model</a:t>
            </a:r>
          </a:p>
        </p:txBody>
      </p:sp>
      <p:sp>
        <p:nvSpPr>
          <p:cNvPr id="35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IRR/NPV</a:t>
            </a:r>
          </a:p>
        </p:txBody>
      </p:sp>
      <p:sp>
        <p:nvSpPr>
          <p:cNvPr id="35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Payback period</a:t>
            </a:r>
          </a:p>
        </p:txBody>
      </p:sp>
      <p:sp>
        <p:nvSpPr>
          <p:cNvPr id="35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35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35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Base-case NPV $41.9M at 19.6% IRR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5.5-year payback period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Probability-weighted NPV $28.6M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Gross margin at scale 42%</a:t>
            </a:r>
          </a:p>
        </p:txBody>
      </p:sp>
      <p:sp>
        <p:nvSpPr>
          <p:cNvPr id="10003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</a:t>
            </a:r>
          </a:p>
        </p:txBody>
      </p:sp>
      <p:sp>
        <p:nvSpPr>
          <p:cNvPr id="10003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Financial model supports conditional go-forward decision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Q3 2026-Q4 2027: Foundation phase milestones</a:t>
            </a:r>
          </a:p>
        </p:txBody>
      </p:sp>
      <p:sp>
        <p:nvSpPr>
          <p:cNvPr id="3601" name="YCaption"/>
          <p:cNvSpPr txBox="1"/>
          <p:nvPr/>
        </p:nvSpPr>
        <p:spPr>
          <a:xfrm>
            <a:off x="230400" y="1360000"/>
            <a:ext cx="24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↑ MỐC QUAN TRỌNG</a:t>
            </a:r>
          </a:p>
        </p:txBody>
      </p:sp>
      <p:sp>
        <p:nvSpPr>
          <p:cNvPr id="3602" name="H1Curve"/>
          <p:cNvSpPr/>
          <p:nvPr/>
        </p:nvSpPr>
        <p:spPr>
          <a:xfrm>
            <a:off x="230400" y="4400000"/>
            <a:ext cx="2600000" cy="720000"/>
          </a:xfrm>
          <a:prstGeom prst="rightArrow">
            <a:avLst/>
          </a:prstGeom>
          <a:solidFill>
            <a:srgbClr val="002060">
              <a:alpha val="10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3603" name="H1Panel"/>
          <p:cNvSpPr/>
          <p:nvPr/>
        </p:nvSpPr>
        <p:spPr>
          <a:xfrm>
            <a:off x="6000000" y="162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HORIZON 1 · Q3 2026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Chuẩn bị cơ bản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Chọn địa điểm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Khóa công nghệ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Tiền gửi quy định</a:t>
            </a:r>
          </a:p>
        </p:txBody>
      </p:sp>
      <p:sp>
        <p:nvSpPr>
          <p:cNvPr id="3604" name="H2Curve"/>
          <p:cNvSpPr/>
          <p:nvPr/>
        </p:nvSpPr>
        <p:spPr>
          <a:xfrm>
            <a:off x="1700000" y="3200000"/>
            <a:ext cx="3300000" cy="720000"/>
          </a:xfrm>
          <a:prstGeom prst="rightArrow">
            <a:avLst/>
          </a:prstGeom>
          <a:solidFill>
            <a:srgbClr val="0070C0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3605" name="H2Panel"/>
          <p:cNvSpPr/>
          <p:nvPr/>
        </p:nvSpPr>
        <p:spPr>
          <a:xfrm>
            <a:off x="6000000" y="306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70C0"/>
                </a:solidFill>
                <a:latin typeface="Calibri"/>
              </a:rPr>
              <a:t>HORIZON 2 · Q4 2026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Xây dựng cơ sở</a:t>
            </a:r>
          </a:p>
          <a:p>
            <a:pPr marL="171450" indent="-171450">
              <a:spcBef>
                <a:spcPts val="4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Động thổ</a:t>
            </a:r>
          </a:p>
          <a:p>
            <a:pPr marL="171450" indent="-171450">
              <a:spcBef>
                <a:spcPts val="4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Đặt hàng thiết bị dài hạn</a:t>
            </a:r>
          </a:p>
        </p:txBody>
      </p:sp>
      <p:sp>
        <p:nvSpPr>
          <p:cNvPr id="3606" name="H3Curve"/>
          <p:cNvSpPr/>
          <p:nvPr/>
        </p:nvSpPr>
        <p:spPr>
          <a:xfrm>
            <a:off x="3300000" y="2000000"/>
            <a:ext cx="2900000" cy="720000"/>
          </a:xfrm>
          <a:prstGeom prst="rightArrow">
            <a:avLst/>
          </a:prstGeom>
          <a:solidFill>
            <a:srgbClr val="953735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3607" name="H3Panel"/>
          <p:cNvSpPr/>
          <p:nvPr/>
        </p:nvSpPr>
        <p:spPr>
          <a:xfrm>
            <a:off x="6000000" y="450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53735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953735"/>
                </a:solidFill>
                <a:latin typeface="Calibri"/>
              </a:rPr>
              <a:t>HORIZON 3 · Q1 2027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Hoàn thiện cơ sở</a:t>
            </a:r>
          </a:p>
          <a:p>
            <a:pPr marL="171450" indent="-171450">
              <a:spcBef>
                <a:spcPts val="4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Xây dựng vỏ nhà chính</a:t>
            </a:r>
          </a:p>
          <a:p>
            <a:pPr marL="171450" indent="-171450">
              <a:spcBef>
                <a:spcPts val="4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Giao máy phản ứng chelation</a:t>
            </a:r>
          </a:p>
        </p:txBody>
      </p:sp>
      <p:sp>
        <p:nvSpPr>
          <p:cNvPr id="3608" name="XAxisLabel"/>
          <p:cNvSpPr txBox="1"/>
          <p:nvPr/>
        </p:nvSpPr>
        <p:spPr>
          <a:xfrm>
            <a:off x="230400" y="5940000"/>
            <a:ext cx="5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THỜI GIAN THỰC HIỆN →</a:t>
            </a:r>
          </a:p>
        </p:txBody>
      </p:sp>
      <p:sp>
        <p:nvSpPr>
          <p:cNvPr id="10003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</a:t>
            </a:r>
          </a:p>
        </p:txBody>
      </p:sp>
      <p:sp>
        <p:nvSpPr>
          <p:cNvPr id="10003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Execution plan requires careful timing and coordination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7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Vietnam, India, Ecuador offer regulatory clarity</a:t>
            </a:r>
          </a:p>
        </p:txBody>
      </p:sp>
      <p:cxnSp>
        <p:nvCxnSpPr>
          <p:cNvPr id="3701" name="LinkIn1"/>
          <p:cNvCxnSpPr>
    </p:cNvCxnSpPr>
          <p:nvPr/>
        </p:nvCxnSpPr>
        <p:spPr>
          <a:xfrm flipH="1" flipV="1">
            <a:off x="2350000" y="2060000"/>
            <a:ext cx="222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702" name="LinkIn2"/>
          <p:cNvCxnSpPr>
    </p:cNvCxnSpPr>
          <p:nvPr/>
        </p:nvCxnSpPr>
        <p:spPr>
          <a:xfrm flipV="1">
            <a:off x="4575000" y="2060000"/>
            <a:ext cx="187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703" name="LinkIn3"/>
          <p:cNvCxnSpPr>
    </p:cNvCxnSpPr>
          <p:nvPr/>
        </p:nvCxnSpPr>
        <p:spPr>
          <a:xfrm flipH="1">
            <a:off x="2350000" y="3425000"/>
            <a:ext cx="2225000" cy="113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704" name="LinkOut1"/>
          <p:cNvCxnSpPr>
    </p:cNvCxnSpPr>
          <p:nvPr/>
        </p:nvCxnSpPr>
        <p:spPr>
          <a:xfrm flipV="1">
            <a:off x="4575000" y="1595000"/>
            <a:ext cx="0" cy="1830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705" name="LinkOut3"/>
          <p:cNvCxnSpPr>
    </p:cNvCxnSpPr>
          <p:nvPr/>
        </p:nvCxnSpPr>
        <p:spPr>
          <a:xfrm>
            <a:off x="4575000" y="3425000"/>
            <a:ext cx="3450000" cy="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706" name="LinkOut4"/>
          <p:cNvCxnSpPr>
    </p:cNvCxnSpPr>
          <p:nvPr/>
        </p:nvCxnSpPr>
        <p:spPr>
          <a:xfrm>
            <a:off x="4575000" y="3425000"/>
            <a:ext cx="2900000" cy="152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sp>
        <p:nvSpPr>
          <p:cNvPr id="3707" name="EcoInner1"/>
          <p:cNvSpPr/>
          <p:nvPr/>
        </p:nvSpPr>
        <p:spPr>
          <a:xfrm>
            <a:off x="17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3708" name="EcoInner2"/>
          <p:cNvSpPr/>
          <p:nvPr/>
        </p:nvSpPr>
        <p:spPr>
          <a:xfrm>
            <a:off x="58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Partners</a:t>
            </a:r>
          </a:p>
        </p:txBody>
      </p:sp>
      <p:sp>
        <p:nvSpPr>
          <p:cNvPr id="3709" name="EcoInner3"/>
          <p:cNvSpPr/>
          <p:nvPr/>
        </p:nvSpPr>
        <p:spPr>
          <a:xfrm>
            <a:off x="1700000" y="42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Regulators</a:t>
            </a:r>
          </a:p>
        </p:txBody>
      </p:sp>
      <p:sp>
        <p:nvSpPr>
          <p:cNvPr id="3710" name="EcoOuter1"/>
          <p:cNvSpPr/>
          <p:nvPr/>
        </p:nvSpPr>
        <p:spPr>
          <a:xfrm>
            <a:off x="4025000" y="132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Competitors</a:t>
            </a:r>
          </a:p>
        </p:txBody>
      </p:sp>
      <p:sp>
        <p:nvSpPr>
          <p:cNvPr id="3711" name="EcoOuter3"/>
          <p:cNvSpPr/>
          <p:nvPr/>
        </p:nvSpPr>
        <p:spPr>
          <a:xfrm>
            <a:off x="7475000" y="315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Suppliers</a:t>
            </a:r>
          </a:p>
        </p:txBody>
      </p:sp>
      <p:sp>
        <p:nvSpPr>
          <p:cNvPr id="3712" name="EcoOuter4"/>
          <p:cNvSpPr/>
          <p:nvPr/>
        </p:nvSpPr>
        <p:spPr>
          <a:xfrm>
            <a:off x="6925000" y="4680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Media</a:t>
            </a:r>
          </a:p>
        </p:txBody>
      </p:sp>
      <p:sp>
        <p:nvSpPr>
          <p:cNvPr id="3713" name="EcoCenter"/>
          <p:cNvSpPr/>
          <p:nvPr/>
        </p:nvSpPr>
        <p:spPr>
          <a:xfrm>
            <a:off x="3850000" y="2700000"/>
            <a:ext cx="1450000" cy="145000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Your company</a:t>
            </a:r>
          </a:p>
        </p:txBody>
      </p:sp>
      <p:sp>
        <p:nvSpPr>
          <p:cNvPr id="3714" name="EcoQuad0"/>
          <p:cNvSpPr txBox="1"/>
          <p:nvPr/>
        </p:nvSpPr>
        <p:spPr>
          <a:xfrm>
            <a:off x="2304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INFLUENCE</a:t>
            </a:r>
          </a:p>
        </p:txBody>
      </p:sp>
      <p:sp>
        <p:nvSpPr>
          <p:cNvPr id="3715" name="EcoQuad1"/>
          <p:cNvSpPr txBox="1"/>
          <p:nvPr/>
        </p:nvSpPr>
        <p:spPr>
          <a:xfrm>
            <a:off x="65592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IMPACT</a:t>
            </a:r>
          </a:p>
        </p:txBody>
      </p:sp>
      <p:sp>
        <p:nvSpPr>
          <p:cNvPr id="3716" name="EcoQuad2"/>
          <p:cNvSpPr txBox="1"/>
          <p:nvPr/>
        </p:nvSpPr>
        <p:spPr>
          <a:xfrm>
            <a:off x="2304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MONITOR</a:t>
            </a:r>
          </a:p>
        </p:txBody>
      </p:sp>
      <p:sp>
        <p:nvSpPr>
          <p:cNvPr id="3717" name="EcoQuad3"/>
          <p:cNvSpPr txBox="1"/>
          <p:nvPr/>
        </p:nvSpPr>
        <p:spPr>
          <a:xfrm>
            <a:off x="65592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ENGAGE</a:t>
            </a:r>
          </a:p>
        </p:txBody>
      </p:sp>
      <p:sp>
        <p:nvSpPr>
          <p:cNvPr id="100037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</a:t>
            </a:r>
          </a:p>
        </p:txBody>
      </p:sp>
      <p:sp>
        <p:nvSpPr>
          <p:cNvPr id="100037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7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Regional opportunities exist despite competitive landscape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Probiotics/health-products segment grows 5-7% CAGR</a:t>
            </a:r>
          </a:p>
        </p:txBody>
      </p:sp>
      <p:sp>
        <p:nvSpPr>
          <p:cNvPr id="3801" name="KpiTile1"/>
          <p:cNvSpPr/>
          <p:nvPr/>
        </p:nvSpPr>
        <p:spPr>
          <a:xfrm>
            <a:off x="4572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02" name="KpiStatus1"/>
          <p:cNvSpPr/>
          <p:nvPr/>
        </p:nvSpPr>
        <p:spPr>
          <a:xfrm>
            <a:off x="457200" y="1620000"/>
            <a:ext cx="2030200" cy="3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3" name="KpiText1"/>
          <p:cNvSpPr txBox="1"/>
          <p:nvPr/>
        </p:nvSpPr>
        <p:spPr>
          <a:xfrm>
            <a:off x="5715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000" b="1" dirty="0">
                <a:solidFill>
                  <a:srgbClr val="002060"/>
                </a:solidFill>
                <a:latin typeface="Calibri"/>
              </a:rPr>
              <a:t>Probiotics/health-products re…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$800M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>5-7% CAGR</a:t>
            </a:r>
          </a:p>
        </p:txBody>
      </p:sp>
      <p:sp>
        <p:nvSpPr>
          <p:cNvPr id="3804" name="KpiTile2"/>
          <p:cNvSpPr/>
          <p:nvPr/>
        </p:nvSpPr>
        <p:spPr>
          <a:xfrm>
            <a:off x="26074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05" name="KpiStatus2"/>
          <p:cNvSpPr/>
          <p:nvPr/>
        </p:nvSpPr>
        <p:spPr>
          <a:xfrm>
            <a:off x="2607400" y="1620000"/>
            <a:ext cx="20302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6" name="KpiText2"/>
          <p:cNvSpPr txBox="1"/>
          <p:nvPr/>
        </p:nvSpPr>
        <p:spPr>
          <a:xfrm>
            <a:off x="27217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Potential diversification   </a:t>
            </a:r>
            <a:r>
              <a:rPr lang="en-US" sz="1200" b="1" dirty="0">
                <a:solidFill>
                  <a:srgbClr val="0070C0"/>
                </a:solidFill>
                <a:latin typeface="Calibri"/>
              </a:rPr>
              <a:t>▲</a:t>
            </a:r>
          </a:p>
          <a:p>
            <a:pPr algn="ctr">
              <a:spcBef>
                <a:spcPts val="600"/>
              </a:spcBef>
            </a:pPr>
            <a:r>
              <a:rPr lang="en-US" sz="1800" b="1" dirty="0">
                <a:solidFill>
                  <a:srgbClr val="002060"/>
                </a:solidFill>
                <a:latin typeface="Calibri"/>
              </a:rPr>
              <a:t>Functional-fee…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>Se-enriched spirulina</a:t>
            </a:r>
          </a:p>
        </p:txBody>
      </p:sp>
      <p:sp>
        <p:nvSpPr>
          <p:cNvPr id="10003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</a:t>
            </a:r>
          </a:p>
        </p:txBody>
      </p:sp>
      <p:sp>
        <p:nvSpPr>
          <p:cNvPr id="10003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Adjacent markets offer potential for diversification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The $28.5B mineral supplements market is large and growing, but shrimp feed is the most concentrated and highest-growth segment.</a:t>
            </a:r>
          </a:p>
        </p:txBody>
      </p:sp>
      <p:sp>
        <p:nvSpPr>
          <p:cNvPr id="39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Market size and growth</a:t>
            </a:r>
          </a:p>
        </p:txBody>
      </p:sp>
      <p:sp>
        <p:nvSpPr>
          <p:cNvPr id="39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Shrimp feed dominance</a:t>
            </a:r>
          </a:p>
        </p:txBody>
      </p:sp>
      <p:sp>
        <p:nvSpPr>
          <p:cNvPr id="39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Probiotics segment</a:t>
            </a:r>
          </a:p>
        </p:txBody>
      </p:sp>
      <p:sp>
        <p:nvSpPr>
          <p:cNvPr id="39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Global market: $17.0B (2025) → $28.5B (2034) at 6.2% CAGR.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McKinsey Global Institute (2024) projects steady expansion.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Diverse segments (e.g., probiotics, trace minerals) drive overall growth.</a:t>
            </a:r>
          </a:p>
        </p:txBody>
      </p:sp>
      <p:sp>
        <p:nvSpPr>
          <p:cNvPr id="39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Trace-mineral segment: $4.3B (2024) → $6.4B (2035).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Highest growth rate among all segments.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Concentrated demand from aquaculture industry.</a:t>
            </a:r>
          </a:p>
        </p:txBody>
      </p:sp>
      <p:sp>
        <p:nvSpPr>
          <p:cNvPr id="39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Probiotics segment: $800M, growing at 5-7% CAGR.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Niche but stable growth compared to shrimp feed.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Health-focused consumer trends drive demand.</a:t>
            </a:r>
          </a:p>
        </p:txBody>
      </p:sp>
      <p:cxnSp>
        <p:nvCxnSpPr>
          <p:cNvPr id="3908" name="PyramidConn1"/>
          <p:cNvCxnSpPr>
            <a:stCxn id="3901" idx="2"/>
            <a:endCxn id="39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909" name="PyramidConn2"/>
          <p:cNvCxnSpPr>
            <a:stCxn id="3901" idx="2"/>
            <a:endCxn id="39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910" name="PyramidConn3"/>
          <p:cNvCxnSpPr>
            <a:stCxn id="3901" idx="2"/>
            <a:endCxn id="39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command a 1.5-2.5x pricing premium over inorganic…</a:t>
            </a:r>
          </a:p>
        </p:txBody>
      </p:sp>
      <p:sp>
        <p:nvSpPr>
          <p:cNvPr id="40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Organic chelates price at 1.5-2.5x inorganic salts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Nano-formulations offer even higher value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Organic chelates reduce excretion by 40%</a:t>
            </a:r>
          </a:p>
        </p:txBody>
      </p:sp>
      <p:sp>
        <p:nvSpPr>
          <p:cNvPr id="40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Inorganic salts: $2.50-$5.00/kg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Organic chelates: $8.00-$18.00/kg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Nano-formulations: $15.00-$45.00/kg</a:t>
            </a:r>
          </a:p>
        </p:txBody>
      </p:sp>
      <p:sp>
        <p:nvSpPr>
          <p:cNvPr id="40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Premiumization drives growth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Nano-formulations tap high-value niche</a:t>
            </a:r>
          </a:p>
        </p:txBody>
      </p:sp>
      <p:sp>
        <p:nvSpPr>
          <p:cNvPr id="40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High costs may limit adoption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hurdles for nano-formulations</a:t>
            </a:r>
          </a:p>
        </p:txBody>
      </p:sp>
      <p:sp>
        <p:nvSpPr>
          <p:cNvPr id="10004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 (2025)</a:t>
            </a:r>
          </a:p>
        </p:txBody>
      </p:sp>
      <p:sp>
        <p:nvSpPr>
          <p:cNvPr id="10004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Premiumization is a key growth driver, but nano-formulations offer even higher value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Shrimp and tilapia are the highest-priority segments with 4.2-4.9% CAGR</a:t>
            </a:r>
          </a:p>
        </p:txBody>
      </p:sp>
      <p:sp>
        <p:nvSpPr>
          <p:cNvPr id="41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41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41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41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SIZE, LOW GROWTH</a:t>
            </a:r>
          </a:p>
        </p:txBody>
      </p:sp>
      <p:sp>
        <p:nvSpPr>
          <p:cNvPr id="41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SIZE, LOW GROWTH</a:t>
            </a:r>
          </a:p>
        </p:txBody>
      </p:sp>
      <p:sp>
        <p:nvSpPr>
          <p:cNvPr id="41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SIZE, HIGH GROWTH</a:t>
            </a:r>
          </a:p>
        </p:txBody>
      </p:sp>
      <p:sp>
        <p:nvSpPr>
          <p:cNvPr id="41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SIZE, HIGH GROWTH</a:t>
            </a:r>
          </a:p>
        </p:txBody>
      </p:sp>
      <p:sp>
        <p:nvSpPr>
          <p:cNvPr id="4112" name="Bubble1"/>
          <p:cNvSpPr/>
          <p:nvPr/>
        </p:nvSpPr>
        <p:spPr>
          <a:xfrm>
            <a:off x="7060000" y="168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Shrimp Feed</a:t>
            </a:r>
          </a:p>
        </p:txBody>
      </p:sp>
      <p:sp>
        <p:nvSpPr>
          <p:cNvPr id="4113" name="Bubble2"/>
          <p:cNvSpPr/>
          <p:nvPr/>
        </p:nvSpPr>
        <p:spPr>
          <a:xfrm>
            <a:off x="2408000" y="220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Tilapia Feed</a:t>
            </a:r>
          </a:p>
        </p:txBody>
      </p:sp>
      <p:sp>
        <p:nvSpPr>
          <p:cNvPr id="4114" name="Bubble3"/>
          <p:cNvSpPr/>
          <p:nvPr/>
        </p:nvSpPr>
        <p:spPr>
          <a:xfrm>
            <a:off x="4520000" y="3540000"/>
            <a:ext cx="360000" cy="36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Probiotics</a:t>
            </a:r>
          </a:p>
        </p:txBody>
      </p:sp>
      <p:sp>
        <p:nvSpPr>
          <p:cNvPr id="4115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MARKET SIZE (2024) →</a:t>
            </a:r>
          </a:p>
        </p:txBody>
      </p:sp>
      <p:sp>
        <p:nvSpPr>
          <p:cNvPr id="4116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GROWTH RATE (CAGR) ↑</a:t>
            </a:r>
          </a:p>
        </p:txBody>
      </p:sp>
      <p:sp>
        <p:nvSpPr>
          <p:cNvPr id="10004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 Global Institute (2024)</a:t>
            </a:r>
          </a:p>
        </p:txBody>
      </p:sp>
      <p:sp>
        <p:nvSpPr>
          <p:cNvPr id="10004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Shrimp offers the largest market and highest growth, while tilapia has strong evidence for organic chelates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deliver 1.5-3x growth improvements with 40% excretion…</a:t>
            </a:r>
          </a:p>
        </p:txBody>
      </p:sp>
      <p:sp>
        <p:nvSpPr>
          <p:cNvPr id="42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4202" name="HvHeadOpt1"/>
          <p:cNvSpPr txBox="1"/>
          <p:nvPr/>
        </p:nvSpPr>
        <p:spPr>
          <a:xfrm>
            <a:off x="31572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NANO-SENPS</a:t>
            </a:r>
          </a:p>
        </p:txBody>
      </p:sp>
      <p:sp>
        <p:nvSpPr>
          <p:cNvPr id="4203" name="HvHeadOpt2"/>
          <p:cNvSpPr txBox="1"/>
          <p:nvPr/>
        </p:nvSpPr>
        <p:spPr>
          <a:xfrm>
            <a:off x="50004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CLAY-ZNO-K</a:t>
            </a:r>
          </a:p>
        </p:txBody>
      </p:sp>
      <p:sp>
        <p:nvSpPr>
          <p:cNvPr id="4204" name="HvHeadOpt3"/>
          <p:cNvSpPr txBox="1"/>
          <p:nvPr/>
        </p:nvSpPr>
        <p:spPr>
          <a:xfrm>
            <a:off x="68436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NANO-FE₂O₃</a:t>
            </a:r>
          </a:p>
        </p:txBody>
      </p:sp>
      <p:sp>
        <p:nvSpPr>
          <p:cNvPr id="4205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Weight gain</a:t>
            </a:r>
          </a:p>
        </p:txBody>
      </p:sp>
      <p:sp>
        <p:nvSpPr>
          <p:cNvPr id="4206" name="HvCell1_1"/>
          <p:cNvSpPr txBox="1"/>
          <p:nvPr/>
        </p:nvSpPr>
        <p:spPr>
          <a:xfrm>
            <a:off x="31572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4207" name="HvCell1_2"/>
          <p:cNvSpPr txBox="1"/>
          <p:nvPr/>
        </p:nvSpPr>
        <p:spPr>
          <a:xfrm>
            <a:off x="50004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4208" name="HvCell1_3"/>
          <p:cNvSpPr txBox="1"/>
          <p:nvPr/>
        </p:nvSpPr>
        <p:spPr>
          <a:xfrm>
            <a:off x="68436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4209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Mortality</a:t>
            </a:r>
          </a:p>
        </p:txBody>
      </p:sp>
      <p:sp>
        <p:nvSpPr>
          <p:cNvPr id="4210" name="HvCell2_1"/>
          <p:cNvSpPr txBox="1"/>
          <p:nvPr/>
        </p:nvSpPr>
        <p:spPr>
          <a:xfrm>
            <a:off x="31572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4211" name="HvCell2_2"/>
          <p:cNvSpPr txBox="1"/>
          <p:nvPr/>
        </p:nvSpPr>
        <p:spPr>
          <a:xfrm>
            <a:off x="50004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Calibri"/>
              </a:rPr>
              <a:t>○</a:t>
            </a:r>
          </a:p>
        </p:txBody>
      </p:sp>
      <p:sp>
        <p:nvSpPr>
          <p:cNvPr id="4212" name="HvCell2_3"/>
          <p:cNvSpPr txBox="1"/>
          <p:nvPr/>
        </p:nvSpPr>
        <p:spPr>
          <a:xfrm>
            <a:off x="68436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Calibri"/>
              </a:rPr>
              <a:t>○</a:t>
            </a:r>
          </a:p>
        </p:txBody>
      </p:sp>
      <p:sp>
        <p:nvSpPr>
          <p:cNvPr id="4213" name="HvCrit3"/>
          <p:cNvSpPr txBox="1"/>
          <p:nvPr/>
        </p:nvSpPr>
        <p:spPr>
          <a:xfrm>
            <a:off x="457200" y="2844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IgM-2</a:t>
            </a:r>
          </a:p>
        </p:txBody>
      </p:sp>
      <p:sp>
        <p:nvSpPr>
          <p:cNvPr id="4214" name="HvCell3_1"/>
          <p:cNvSpPr txBox="1"/>
          <p:nvPr/>
        </p:nvSpPr>
        <p:spPr>
          <a:xfrm>
            <a:off x="3157200" y="2844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Calibri"/>
              </a:rPr>
              <a:t>○</a:t>
            </a:r>
          </a:p>
        </p:txBody>
      </p:sp>
      <p:sp>
        <p:nvSpPr>
          <p:cNvPr id="4215" name="HvCell3_2"/>
          <p:cNvSpPr txBox="1"/>
          <p:nvPr/>
        </p:nvSpPr>
        <p:spPr>
          <a:xfrm>
            <a:off x="5000400" y="2844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4216" name="HvCell3_3"/>
          <p:cNvSpPr txBox="1"/>
          <p:nvPr/>
        </p:nvSpPr>
        <p:spPr>
          <a:xfrm>
            <a:off x="6843600" y="2844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Calibri"/>
              </a:rPr>
              <a:t>○</a:t>
            </a:r>
          </a:p>
        </p:txBody>
      </p:sp>
      <p:sp>
        <p:nvSpPr>
          <p:cNvPr id="4217" name="HvCrit4"/>
          <p:cNvSpPr txBox="1"/>
          <p:nvPr/>
        </p:nvSpPr>
        <p:spPr>
          <a:xfrm>
            <a:off x="457200" y="3276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Dose</a:t>
            </a:r>
          </a:p>
        </p:txBody>
      </p:sp>
      <p:sp>
        <p:nvSpPr>
          <p:cNvPr id="4218" name="HvCell4_1"/>
          <p:cNvSpPr txBox="1"/>
          <p:nvPr/>
        </p:nvSpPr>
        <p:spPr>
          <a:xfrm>
            <a:off x="3157200" y="3276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4219" name="HvCell4_2"/>
          <p:cNvSpPr txBox="1"/>
          <p:nvPr/>
        </p:nvSpPr>
        <p:spPr>
          <a:xfrm>
            <a:off x="5000400" y="3276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4220" name="HvCell4_3"/>
          <p:cNvSpPr txBox="1"/>
          <p:nvPr/>
        </p:nvSpPr>
        <p:spPr>
          <a:xfrm>
            <a:off x="6843600" y="3276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10004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 (2023), Mohammady et al. (2021/2023)</a:t>
            </a:r>
          </a:p>
        </p:txBody>
      </p:sp>
      <p:sp>
        <p:nvSpPr>
          <p:cNvPr id="10004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Nano-minerals offer significant productivity gains, but require regulatory pre-investment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The feed triad controls 50-55% of shrimp feed, creating a competitive…</a:t>
            </a:r>
          </a:p>
        </p:txBody>
      </p:sp>
      <p:sp>
        <p:nvSpPr>
          <p:cNvPr id="4301" name="HeatCell1"/>
          <p:cNvSpPr txBox="1"/>
          <p:nvPr/>
        </p:nvSpPr>
        <p:spPr>
          <a:xfrm>
            <a:off x="5833332" y="16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3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Barrier</a:t>
            </a:r>
          </a:p>
        </p:txBody>
      </p:sp>
      <p:sp>
        <p:nvSpPr>
          <p:cNvPr id="4303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4304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4305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4306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4307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4308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4309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Impact</a:t>
            </a:r>
          </a:p>
        </p:txBody>
      </p:sp>
      <p:sp>
        <p:nvSpPr>
          <p:cNvPr id="4310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Likelihood</a:t>
            </a:r>
          </a:p>
        </p:txBody>
      </p:sp>
      <p:sp>
        <p:nvSpPr>
          <p:cNvPr id="10004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 Global Institute (2024)</a:t>
            </a:r>
          </a:p>
        </p:txBody>
      </p:sp>
      <p:sp>
        <p:nvSpPr>
          <p:cNvPr id="10004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The feed triad's dominance creates a significant competitive barrier to entry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Regulatory uncertainty around nano-minerals creates a compliance risk</a:t>
            </a:r>
          </a:p>
        </p:txBody>
      </p:sp>
      <p:sp>
        <p:nvSpPr>
          <p:cNvPr id="44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Compliance risk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4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Regulatory gaps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EU/China/Vietnam</a:t>
            </a:r>
          </a:p>
        </p:txBody>
      </p:sp>
      <p:sp>
        <p:nvSpPr>
          <p:cNvPr id="4403" name="DriverL3_1_1"/>
          <p:cNvSpPr/>
          <p:nvPr/>
        </p:nvSpPr>
        <p:spPr>
          <a:xfrm>
            <a:off x="5300000" y="138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No nano rules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EU/China</a:t>
            </a:r>
          </a:p>
        </p:txBody>
      </p:sp>
      <p:sp>
        <p:nvSpPr>
          <p:cNvPr id="4404" name="DriverL3_1_2"/>
          <p:cNvSpPr/>
          <p:nvPr/>
        </p:nvSpPr>
        <p:spPr>
          <a:xfrm>
            <a:off x="5300000" y="203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Limited guidance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Vietnam/India</a:t>
            </a:r>
          </a:p>
        </p:txBody>
      </p:sp>
      <p:sp>
        <p:nvSpPr>
          <p:cNvPr id="4408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Clearer pathways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Organic chelates</a:t>
            </a:r>
          </a:p>
        </p:txBody>
      </p:sp>
      <p:sp>
        <p:nvSpPr>
          <p:cNvPr id="4409" name="DriverL3_2_1"/>
          <p:cNvSpPr/>
          <p:nvPr/>
        </p:nvSpPr>
        <p:spPr>
          <a:xfrm>
            <a:off x="5300000" y="315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US FDA guidance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Animal food</a:t>
            </a:r>
          </a:p>
        </p:txBody>
      </p:sp>
      <p:cxnSp>
        <p:nvCxnSpPr>
          <p:cNvPr id="4405" name="BranchRoot_1"/>
          <p:cNvCxnSpPr>
            <a:stCxn id="4401" idx="1"/>
            <a:endCxn id="44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406" name="BranchL2_1_1"/>
          <p:cNvCxnSpPr>
            <a:stCxn id="4402" idx="1"/>
            <a:endCxn id="4403" idx="3"/>
          </p:cNvCxnSpPr>
          <p:nvPr/>
        </p:nvCxnSpPr>
        <p:spPr>
          <a:xfrm flipV="1">
            <a:off x="4800000" y="165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407" name="BranchL2_1_2"/>
          <p:cNvCxnSpPr>
            <a:stCxn id="4402" idx="1"/>
            <a:endCxn id="4404" idx="3"/>
          </p:cNvCxnSpPr>
          <p:nvPr/>
        </p:nvCxnSpPr>
        <p:spPr>
          <a:xfrm>
            <a:off x="4800000" y="198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410" name="BranchRoot_2"/>
          <p:cNvCxnSpPr>
            <a:stCxn id="4401" idx="1"/>
            <a:endCxn id="4408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411" name="BranchL2_2_1"/>
          <p:cNvCxnSpPr>
            <a:stCxn id="4408" idx="1"/>
            <a:endCxn id="4409" idx="3"/>
          </p:cNvCxnSpPr>
          <p:nvPr/>
        </p:nvCxnSpPr>
        <p:spPr>
          <a:xfrm>
            <a:off x="4800000" y="342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4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 Global Institute (2024)</a:t>
            </a:r>
          </a:p>
        </p:txBody>
      </p:sp>
      <p:sp>
        <p:nvSpPr>
          <p:cNvPr id="10004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uncertainty is a significant risk for nano-minerals, but organic chelates have clearer pathways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The base-case NPV of $41.9M at 19.6% IRR justifies a conditional…</a:t>
            </a:r>
          </a:p>
        </p:txBody>
      </p:sp>
      <p:sp>
        <p:nvSpPr>
          <p:cNvPr id="45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Q1'24</a:t>
            </a:r>
          </a:p>
        </p:txBody>
      </p:sp>
      <p:sp>
        <p:nvSpPr>
          <p:cNvPr id="45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Q2'24</a:t>
            </a:r>
          </a:p>
        </p:txBody>
      </p:sp>
      <p:sp>
        <p:nvSpPr>
          <p:cNvPr id="45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Q3'24</a:t>
            </a:r>
          </a:p>
        </p:txBody>
      </p:sp>
      <p:sp>
        <p:nvSpPr>
          <p:cNvPr id="45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Q4'24</a:t>
            </a:r>
          </a:p>
        </p:txBody>
      </p:sp>
      <p:cxnSp>
        <p:nvCxnSpPr>
          <p:cNvPr id="4505" name="QGrid1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506" name="QGrid2"/>
          <p:cNvCxnSpPr>
    </p:cNvCxnSpPr>
          <p:nvPr/>
        </p:nvCxnSpPr>
        <p:spPr>
          <a:xfrm>
            <a:off x="54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507" name="QGrid3"/>
          <p:cNvCxnSpPr>
    </p:cNvCxnSpPr>
          <p:nvPr/>
        </p:nvCxnSpPr>
        <p:spPr>
          <a:xfrm>
            <a:off x="707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45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Financial validation</a:t>
            </a:r>
          </a:p>
        </p:txBody>
      </p:sp>
      <p:sp>
        <p:nvSpPr>
          <p:cNvPr id="4509" name="WsBar1_1"/>
          <p:cNvSpPr/>
          <p:nvPr/>
        </p:nvSpPr>
        <p:spPr>
          <a:xfrm>
            <a:off x="2245720" y="23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Model refinement</a:t>
            </a:r>
          </a:p>
        </p:txBody>
      </p:sp>
      <p:sp>
        <p:nvSpPr>
          <p:cNvPr id="4510" name="Ms1_1"/>
          <p:cNvSpPr/>
          <p:nvPr/>
        </p:nvSpPr>
        <p:spPr>
          <a:xfrm>
            <a:off x="53240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11" name="MsLbl1_1"/>
          <p:cNvSpPr txBox="1"/>
          <p:nvPr/>
        </p:nvSpPr>
        <p:spPr>
          <a:xfrm>
            <a:off x="50828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800" dirty="0">
                <a:solidFill>
                  <a:srgbClr val="595959"/>
                </a:solidFill>
                <a:latin typeface="Calibri"/>
              </a:rPr>
              <a:t>NPV approval</a:t>
            </a:r>
          </a:p>
        </p:txBody>
      </p:sp>
      <p:sp>
        <p:nvSpPr>
          <p:cNvPr id="4512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Decision process</a:t>
            </a:r>
          </a:p>
        </p:txBody>
      </p:sp>
      <p:sp>
        <p:nvSpPr>
          <p:cNvPr id="4513" name="WsBar2_1"/>
          <p:cNvSpPr/>
          <p:nvPr/>
        </p:nvSpPr>
        <p:spPr>
          <a:xfrm>
            <a:off x="3870720" y="31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Stakeholder review</a:t>
            </a:r>
          </a:p>
        </p:txBody>
      </p:sp>
      <p:sp>
        <p:nvSpPr>
          <p:cNvPr id="4514" name="Ms2_1"/>
          <p:cNvSpPr/>
          <p:nvPr/>
        </p:nvSpPr>
        <p:spPr>
          <a:xfrm>
            <a:off x="6949000" y="32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15" name="MsLbl2_1"/>
          <p:cNvSpPr txBox="1"/>
          <p:nvPr/>
        </p:nvSpPr>
        <p:spPr>
          <a:xfrm>
            <a:off x="6707800" y="34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Go-forward</a:t>
            </a:r>
          </a:p>
        </p:txBody>
      </p:sp>
      <p:cxnSp>
        <p:nvCxnSpPr>
          <p:cNvPr id="4516" name="TodayLine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4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 Global Institute (2024)</a:t>
            </a:r>
          </a:p>
        </p:txBody>
      </p:sp>
      <p:sp>
        <p:nvSpPr>
          <p:cNvPr id="10004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The financial model supports a conditional go-forward decision with significant upside potential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Build-first with partnering is the recommended strategy to secure…</a:t>
            </a:r>
          </a:p>
        </p:txBody>
      </p:sp>
      <p:sp>
        <p:nvSpPr>
          <p:cNvPr id="46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46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46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46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4609" name="RadarTarget"/>
          <p:cNvSpPr/>
          <p:nvPr/>
        </p:nvSpPr>
        <p:spPr>
          <a:xfrm>
            <a:off x="2664693" y="2280000"/>
            <a:ext cx="1870614" cy="1980000"/>
          </a:xfrm>
          <a:custGeom>
            <a:avLst/>
            <a:gdLst/>
            <a:ahLst/>
            <a:cxnLst/>
            <a:rect l="0" t="0" r="1870614" b="1980000"/>
            <a:pathLst>
              <a:path w="1870614" h="1980000">
                <a:moveTo>
                  <a:pt x="935307" y="0"/>
                </a:moveTo>
                <a:lnTo>
                  <a:pt x="1870614" y="1980000"/>
                </a:lnTo>
                <a:lnTo>
                  <a:pt x="0" y="198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10" name="RadarCurrent"/>
          <p:cNvSpPr/>
          <p:nvPr/>
        </p:nvSpPr>
        <p:spPr>
          <a:xfrm>
            <a:off x="3288231" y="3000000"/>
            <a:ext cx="623538" cy="900000"/>
          </a:xfrm>
          <a:custGeom>
            <a:avLst/>
            <a:gdLst/>
            <a:ahLst/>
            <a:cxnLst/>
            <a:rect l="0" t="0" r="623538" b="900000"/>
            <a:pathLst>
              <a:path w="623538" h="900000">
                <a:moveTo>
                  <a:pt x="311769" y="0"/>
                </a:moveTo>
                <a:lnTo>
                  <a:pt x="623538" y="900000"/>
                </a:lnTo>
                <a:lnTo>
                  <a:pt x="0" y="90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IP protection</a:t>
            </a:r>
          </a:p>
        </p:txBody>
      </p:sp>
      <p:sp>
        <p:nvSpPr>
          <p:cNvPr id="46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Supply agreements</a:t>
            </a:r>
          </a:p>
        </p:txBody>
      </p:sp>
      <p:sp>
        <p:nvSpPr>
          <p:cNvPr id="46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Lab capabilities</a:t>
            </a:r>
          </a:p>
        </p:txBody>
      </p:sp>
      <p:sp>
        <p:nvSpPr>
          <p:cNvPr id="46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46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46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Anchor on organic chelates for commercial launch (Q3 2026-Q1 2027)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File defensive nano/chelation IP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Pilot functional-feed integration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Secure exclusive supply agreements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Build in-house nano-characterization lab</a:t>
            </a:r>
          </a:p>
        </p:txBody>
      </p:sp>
      <p:sp>
        <p:nvSpPr>
          <p:cNvPr id="10004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 Global Institute (2024)</a:t>
            </a:r>
          </a:p>
        </p:txBody>
      </p:sp>
      <p:sp>
        <p:nvSpPr>
          <p:cNvPr id="10004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A build-first strategy with partnering is the most effective way to capture value in this market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Proceed with conditional investment of $28.6M (20.6% IRR) despite 20% pessimistic scenario risk.</a:t>
            </a:r>
          </a:p>
        </p:txBody>
      </p:sp>
      <p:sp>
        <p:nvSpPr>
          <p:cNvPr id="47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High upside potential</a:t>
            </a:r>
          </a:p>
        </p:txBody>
      </p:sp>
      <p:sp>
        <p:nvSpPr>
          <p:cNvPr id="47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Capital investment justified</a:t>
            </a:r>
          </a:p>
        </p:txBody>
      </p:sp>
      <p:sp>
        <p:nvSpPr>
          <p:cNvPr id="47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Strategic alignment</a:t>
            </a:r>
          </a:p>
        </p:txBody>
      </p:sp>
      <p:sp>
        <p:nvSpPr>
          <p:cNvPr id="47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NPV of $28.6M with 20.6% IRR indicates strong financial return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5.5-year payback period suggests rapid ROI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Probability-weighted analysis justifies risk-taking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VNF Strategy Framework supports high-value opportunities</a:t>
            </a:r>
          </a:p>
        </p:txBody>
      </p:sp>
      <p:sp>
        <p:nvSpPr>
          <p:cNvPr id="47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Initial outlay required but aligns with strategic goals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Pessimistic scenario (20% probability) is manageable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Decision supported by VNF Strategy Framework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High upside compensates for initial capital commitment</a:t>
            </a:r>
          </a:p>
        </p:txBody>
      </p:sp>
      <p:sp>
        <p:nvSpPr>
          <p:cNvPr id="47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VNF Strategy Framework endorses this approach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Conditional forward movement is a calculated risk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Probability-weighted NPV balances risk and reward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5.5-year payback ensures financial sustainability</a:t>
            </a:r>
          </a:p>
        </p:txBody>
      </p:sp>
      <p:cxnSp>
        <p:nvCxnSpPr>
          <p:cNvPr id="4708" name="PyramidConn1"/>
          <p:cNvCxnSpPr>
            <a:stCxn id="4701" idx="2"/>
            <a:endCxn id="47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709" name="PyramidConn2"/>
          <p:cNvCxnSpPr>
            <a:stCxn id="4701" idx="2"/>
            <a:endCxn id="47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710" name="PyramidConn3"/>
          <p:cNvCxnSpPr>
            <a:stCxn id="4701" idx="2"/>
            <a:endCxn id="47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deliver 1.5-3x growth improvements but require…</a:t>
            </a:r>
          </a:p>
        </p:txBody>
      </p:sp>
      <p:sp>
        <p:nvSpPr>
          <p:cNvPr id="48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57% weight gain increase with Nano-SeNPs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46% weight gain at 0.4 mg/kg with nano-Fe₂O₃</a:t>
            </a:r>
          </a:p>
        </p:txBody>
      </p:sp>
      <p:sp>
        <p:nvSpPr>
          <p:cNvPr id="48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Longer timelines due to regulatory requirements</a:t>
            </a:r>
          </a:p>
        </p:txBody>
      </p:sp>
      <p:sp>
        <p:nvSpPr>
          <p:cNvPr id="48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for 1.5-3x growth improvements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Nano-specific pathways pending in EU/US</a:t>
            </a:r>
          </a:p>
        </p:txBody>
      </p:sp>
      <p:sp>
        <p:nvSpPr>
          <p:cNvPr id="48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pre-investment needed</a:t>
            </a:r>
          </a:p>
        </p:txBody>
      </p:sp>
      <p:sp>
        <p:nvSpPr>
          <p:cNvPr id="10004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 (2023), Mohammady et al. (2023)</a:t>
            </a:r>
          </a:p>
        </p:txBody>
      </p:sp>
      <p:sp>
        <p:nvSpPr>
          <p:cNvPr id="10004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Nano-forms offer superior performance but face longer timelines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offer immediate commercialization with 1.5-2.5x…</a:t>
            </a:r>
          </a:p>
        </p:txBody>
      </p:sp>
      <p:sp>
        <p:nvSpPr>
          <p:cNvPr id="49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49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49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49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PREMIUM, HIGH CASH FLOW</a:t>
            </a:r>
          </a:p>
        </p:txBody>
      </p:sp>
      <p:sp>
        <p:nvSpPr>
          <p:cNvPr id="49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PREMIUM, LOW CASH FLOW</a:t>
            </a:r>
          </a:p>
        </p:txBody>
      </p:sp>
      <p:sp>
        <p:nvSpPr>
          <p:cNvPr id="49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PREMIUM, HIGH CASH FLOW</a:t>
            </a:r>
          </a:p>
        </p:txBody>
      </p:sp>
      <p:sp>
        <p:nvSpPr>
          <p:cNvPr id="49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PREMIUM, LOW CASH FLOW</a:t>
            </a:r>
          </a:p>
        </p:txBody>
      </p:sp>
      <p:sp>
        <p:nvSpPr>
          <p:cNvPr id="4912" name="Bubble1"/>
          <p:cNvSpPr/>
          <p:nvPr/>
        </p:nvSpPr>
        <p:spPr>
          <a:xfrm>
            <a:off x="6380000" y="168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Organic Chelates</a:t>
            </a:r>
          </a:p>
        </p:txBody>
      </p:sp>
      <p:sp>
        <p:nvSpPr>
          <p:cNvPr id="4913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PRICING PREMIUM →</a:t>
            </a:r>
          </a:p>
        </p:txBody>
      </p:sp>
      <p:sp>
        <p:nvSpPr>
          <p:cNvPr id="4914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CASH FLOW IMPACT ↑</a:t>
            </a:r>
          </a:p>
        </p:txBody>
      </p:sp>
      <p:sp>
        <p:nvSpPr>
          <p:cNvPr id="10004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 (2025), VNF Strategy Framework</a:t>
            </a:r>
          </a:p>
        </p:txBody>
      </p:sp>
      <p:sp>
        <p:nvSpPr>
          <p:cNvPr id="10004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Chelates provide cash flow while nano-platform develops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Shrimp and tilapia segments offer highest evidence strength and growth…</a:t>
            </a:r>
          </a:p>
        </p:txBody>
      </p:sp>
      <p:sp>
        <p:nvSpPr>
          <p:cNvPr id="50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5002" name="HvHeadOpt1"/>
          <p:cNvSpPr txBox="1"/>
          <p:nvPr/>
        </p:nvSpPr>
        <p:spPr>
          <a:xfrm>
            <a:off x="31572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SHRIMP FEED</a:t>
            </a:r>
          </a:p>
        </p:txBody>
      </p:sp>
      <p:sp>
        <p:nvSpPr>
          <p:cNvPr id="5003" name="HvHeadOpt2"/>
          <p:cNvSpPr txBox="1"/>
          <p:nvPr/>
        </p:nvSpPr>
        <p:spPr>
          <a:xfrm>
            <a:off x="59220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TILAPIA FEED</a:t>
            </a:r>
          </a:p>
        </p:txBody>
      </p:sp>
      <p:sp>
        <p:nvSpPr>
          <p:cNvPr id="5004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Evidence strength</a:t>
            </a:r>
          </a:p>
        </p:txBody>
      </p:sp>
      <p:sp>
        <p:nvSpPr>
          <p:cNvPr id="5005" name="HvCell1_1"/>
          <p:cNvSpPr txBox="1"/>
          <p:nvPr/>
        </p:nvSpPr>
        <p:spPr>
          <a:xfrm>
            <a:off x="31572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5006" name="HvCell1_2"/>
          <p:cNvSpPr txBox="1"/>
          <p:nvPr/>
        </p:nvSpPr>
        <p:spPr>
          <a:xfrm>
            <a:off x="59220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5007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Growth potential</a:t>
            </a:r>
          </a:p>
        </p:txBody>
      </p:sp>
      <p:sp>
        <p:nvSpPr>
          <p:cNvPr id="5008" name="HvCell2_1"/>
          <p:cNvSpPr txBox="1"/>
          <p:nvPr/>
        </p:nvSpPr>
        <p:spPr>
          <a:xfrm>
            <a:off x="31572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5009" name="HvCell2_2"/>
          <p:cNvSpPr txBox="1"/>
          <p:nvPr/>
        </p:nvSpPr>
        <p:spPr>
          <a:xfrm>
            <a:off x="59220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5010" name="HvCrit3"/>
          <p:cNvSpPr txBox="1"/>
          <p:nvPr/>
        </p:nvSpPr>
        <p:spPr>
          <a:xfrm>
            <a:off x="457200" y="2844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Market size</a:t>
            </a:r>
          </a:p>
        </p:txBody>
      </p:sp>
      <p:sp>
        <p:nvSpPr>
          <p:cNvPr id="5011" name="HvCell3_1"/>
          <p:cNvSpPr txBox="1"/>
          <p:nvPr/>
        </p:nvSpPr>
        <p:spPr>
          <a:xfrm>
            <a:off x="3157200" y="2844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5012" name="HvCell3_2"/>
          <p:cNvSpPr txBox="1"/>
          <p:nvPr/>
        </p:nvSpPr>
        <p:spPr>
          <a:xfrm>
            <a:off x="5922000" y="2844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5013" name="HvScoreLbl"/>
          <p:cNvSpPr txBox="1"/>
          <p:nvPr/>
        </p:nvSpPr>
        <p:spPr>
          <a:xfrm>
            <a:off x="457200" y="3276000"/>
            <a:ext cx="2700000" cy="504000"/>
          </a:xfrm>
          <a:prstGeom prst="rect">
            <a:avLst/>
          </a:prstGeom>
          <a:solidFill>
            <a:srgbClr val="002F69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WEIGHTED SCORE</a:t>
            </a:r>
          </a:p>
        </p:txBody>
      </p:sp>
      <p:sp>
        <p:nvSpPr>
          <p:cNvPr id="5014" name="HvScore1"/>
          <p:cNvSpPr txBox="1"/>
          <p:nvPr/>
        </p:nvSpPr>
        <p:spPr>
          <a:xfrm>
            <a:off x="3157200" y="3276000"/>
            <a:ext cx="2764800" cy="504000"/>
          </a:xfrm>
          <a:prstGeom prst="rect">
            <a:avLst/>
          </a:prstGeom>
          <a:solidFill>
            <a:srgbClr val="FFF7E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/>
              </a:rPr>
              <a:t>4.0</a:t>
            </a:r>
          </a:p>
        </p:txBody>
      </p:sp>
      <p:sp>
        <p:nvSpPr>
          <p:cNvPr id="5015" name="HvScore2"/>
          <p:cNvSpPr txBox="1"/>
          <p:nvPr/>
        </p:nvSpPr>
        <p:spPr>
          <a:xfrm>
            <a:off x="5922000" y="3276000"/>
            <a:ext cx="2764800" cy="504000"/>
          </a:xfrm>
          <a:prstGeom prst="rect">
            <a:avLst/>
          </a:prstGeom>
          <a:solidFill>
            <a:srgbClr val="FFF7E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/>
              </a:rPr>
              <a:t>3.5</a:t>
            </a:r>
          </a:p>
        </p:txBody>
      </p:sp>
      <p:sp>
        <p:nvSpPr>
          <p:cNvPr id="10005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Strategy Framework</a:t>
            </a:r>
          </a:p>
        </p:txBody>
      </p:sp>
      <p:sp>
        <p:nvSpPr>
          <p:cNvPr id="10005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Focus resources on segments with strongest scientific backing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Regulatory uncertainty creates 18-36 month approval delays for…</a:t>
            </a:r>
          </a:p>
        </p:txBody>
      </p:sp>
      <p:sp>
        <p:nvSpPr>
          <p:cNvPr id="5101" name="HeatCell1"/>
          <p:cNvSpPr txBox="1"/>
          <p:nvPr/>
        </p:nvSpPr>
        <p:spPr>
          <a:xfrm>
            <a:off x="5833332" y="3020000"/>
            <a:ext cx="2166666" cy="1400000"/>
          </a:xfrm>
          <a:prstGeom prst="rect">
            <a:avLst/>
          </a:prstGeom>
          <a:solidFill>
            <a:srgbClr val="FF98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Delay</a:t>
            </a:r>
          </a:p>
        </p:txBody>
      </p:sp>
      <p:sp>
        <p:nvSpPr>
          <p:cNvPr id="5102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5103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5104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5105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5106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5107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5108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Regulatory Complexity</a:t>
            </a:r>
          </a:p>
        </p:txBody>
      </p:sp>
      <p:sp>
        <p:nvSpPr>
          <p:cNvPr id="5109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Approval Risk</a:t>
            </a:r>
          </a:p>
        </p:txBody>
      </p:sp>
      <p:sp>
        <p:nvSpPr>
          <p:cNvPr id="10005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Strategy Framework</a:t>
            </a:r>
          </a:p>
        </p:txBody>
      </p:sp>
      <p:sp>
        <p:nvSpPr>
          <p:cNvPr id="10005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pre-submission required to mitigate delays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Nano-particle aggregation and therapeutic windows pose technical…</a:t>
            </a:r>
          </a:p>
        </p:txBody>
      </p:sp>
      <p:sp>
        <p:nvSpPr>
          <p:cNvPr id="52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Nano-toxicity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1.5-2x dose</a:t>
            </a:r>
          </a:p>
        </p:txBody>
      </p:sp>
      <p:sp>
        <p:nvSpPr>
          <p:cNvPr id="52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Stability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Feed matrices</a:t>
            </a:r>
          </a:p>
        </p:txBody>
      </p:sp>
      <p:sp>
        <p:nvSpPr>
          <p:cNvPr id="5203" name="DriverL3_1_1"/>
          <p:cNvSpPr/>
          <p:nvPr/>
        </p:nvSpPr>
        <p:spPr>
          <a:xfrm>
            <a:off x="5300000" y="171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Pelleting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Critical</a:t>
            </a:r>
          </a:p>
        </p:txBody>
      </p:sp>
      <p:sp>
        <p:nvSpPr>
          <p:cNvPr id="5206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Lab needs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In-house</a:t>
            </a:r>
          </a:p>
        </p:txBody>
      </p:sp>
      <p:sp>
        <p:nvSpPr>
          <p:cNvPr id="5207" name="DriverL3_2_1"/>
          <p:cNvSpPr/>
          <p:nvPr/>
        </p:nvSpPr>
        <p:spPr>
          <a:xfrm>
            <a:off x="5300000" y="315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Optimization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Process</a:t>
            </a:r>
          </a:p>
        </p:txBody>
      </p:sp>
      <p:cxnSp>
        <p:nvCxnSpPr>
          <p:cNvPr id="5204" name="BranchRoot_1"/>
          <p:cNvCxnSpPr>
            <a:stCxn id="5201" idx="1"/>
            <a:endCxn id="52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205" name="BranchL2_1_1"/>
          <p:cNvCxnSpPr>
            <a:stCxn id="5202" idx="1"/>
            <a:endCxn id="5203" idx="3"/>
          </p:cNvCxnSpPr>
          <p:nvPr/>
        </p:nvCxnSpPr>
        <p:spPr>
          <a:xfrm>
            <a:off x="4800000" y="198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208" name="BranchRoot_2"/>
          <p:cNvCxnSpPr>
            <a:stCxn id="5201" idx="1"/>
            <a:endCxn id="5206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209" name="BranchL2_2_1"/>
          <p:cNvCxnSpPr>
            <a:stCxn id="5206" idx="1"/>
            <a:endCxn id="5207" idx="3"/>
          </p:cNvCxnSpPr>
          <p:nvPr/>
        </p:nvCxnSpPr>
        <p:spPr>
          <a:xfrm>
            <a:off x="4800000" y="342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5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Strategy Framework</a:t>
            </a:r>
          </a:p>
        </p:txBody>
      </p:sp>
      <p:sp>
        <p:nvSpPr>
          <p:cNvPr id="10005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Requires in-house nano-characterization lab and process optimization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Build-first with partnering strategy recommended to secure regulatory…</a:t>
            </a:r>
          </a:p>
        </p:txBody>
      </p:sp>
      <p:sp>
        <p:nvSpPr>
          <p:cNvPr id="53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Q3'26</a:t>
            </a:r>
          </a:p>
        </p:txBody>
      </p:sp>
      <p:sp>
        <p:nvSpPr>
          <p:cNvPr id="53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Q4'26</a:t>
            </a:r>
          </a:p>
        </p:txBody>
      </p:sp>
      <p:sp>
        <p:nvSpPr>
          <p:cNvPr id="53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Q1'27</a:t>
            </a:r>
          </a:p>
        </p:txBody>
      </p:sp>
      <p:sp>
        <p:nvSpPr>
          <p:cNvPr id="53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Q2'27</a:t>
            </a:r>
          </a:p>
        </p:txBody>
      </p:sp>
      <p:cxnSp>
        <p:nvCxnSpPr>
          <p:cNvPr id="5305" name="QGrid1"/>
          <p:cNvCxnSpPr>
    </p:cNvCxnSpPr>
          <p:nvPr/>
        </p:nvCxnSpPr>
        <p:spPr>
          <a:xfrm>
            <a:off x="3825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306" name="QGrid2"/>
          <p:cNvCxnSpPr>
    </p:cNvCxnSpPr>
          <p:nvPr/>
        </p:nvCxnSpPr>
        <p:spPr>
          <a:xfrm>
            <a:off x="5450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307" name="QGrid3"/>
          <p:cNvCxnSpPr>
    </p:cNvCxnSpPr>
          <p:nvPr/>
        </p:nvCxnSpPr>
        <p:spPr>
          <a:xfrm>
            <a:off x="7075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53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Organic chelates</a:t>
            </a:r>
          </a:p>
        </p:txBody>
      </p:sp>
      <p:sp>
        <p:nvSpPr>
          <p:cNvPr id="5309" name="WsBar1_1"/>
          <p:cNvSpPr/>
          <p:nvPr/>
        </p:nvSpPr>
        <p:spPr>
          <a:xfrm>
            <a:off x="2245720" y="2344000"/>
            <a:ext cx="6408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Anchor</a:t>
            </a:r>
          </a:p>
        </p:txBody>
      </p:sp>
      <p:sp>
        <p:nvSpPr>
          <p:cNvPr id="5310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Defensive IP</a:t>
            </a:r>
          </a:p>
        </p:txBody>
      </p:sp>
      <p:sp>
        <p:nvSpPr>
          <p:cNvPr id="5311" name="WsBar2_1"/>
          <p:cNvSpPr/>
          <p:nvPr/>
        </p:nvSpPr>
        <p:spPr>
          <a:xfrm>
            <a:off x="2245720" y="31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File</a:t>
            </a:r>
          </a:p>
        </p:txBody>
      </p:sp>
      <p:sp>
        <p:nvSpPr>
          <p:cNvPr id="5312" name="WsLbl3"/>
          <p:cNvSpPr txBox="1"/>
          <p:nvPr/>
        </p:nvSpPr>
        <p:spPr>
          <a:xfrm>
            <a:off x="230400" y="37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Pilot integration</a:t>
            </a:r>
          </a:p>
        </p:txBody>
      </p:sp>
      <p:sp>
        <p:nvSpPr>
          <p:cNvPr id="5313" name="WsBar3_1"/>
          <p:cNvSpPr/>
          <p:nvPr/>
        </p:nvSpPr>
        <p:spPr>
          <a:xfrm>
            <a:off x="3870720" y="39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953735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Functional-feed</a:t>
            </a:r>
          </a:p>
        </p:txBody>
      </p:sp>
      <p:cxnSp>
        <p:nvCxnSpPr>
          <p:cNvPr id="5314" name="TodayLine"/>
          <p:cNvCxnSpPr>
    </p:cNvCxnSpPr>
          <p:nvPr/>
        </p:nvCxnSpPr>
        <p:spPr>
          <a:xfrm>
            <a:off x="2200000" y="2160000"/>
            <a:ext cx="0" cy="24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5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Strategy Framework</a:t>
            </a:r>
          </a:p>
        </p:txBody>
      </p:sp>
      <p:sp>
        <p:nvSpPr>
          <p:cNvPr id="10005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Combination of commercialization and innovation activities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Execution roadmap includes 3-year capacity ramp and 5.5-year payback</a:t>
            </a:r>
          </a:p>
        </p:txBody>
      </p:sp>
      <p:sp>
        <p:nvSpPr>
          <p:cNvPr id="54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54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54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54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5409" name="RadarTarget"/>
          <p:cNvSpPr/>
          <p:nvPr/>
        </p:nvSpPr>
        <p:spPr>
          <a:xfrm>
            <a:off x="2664693" y="2640000"/>
            <a:ext cx="2182384" cy="1800000"/>
          </a:xfrm>
          <a:custGeom>
            <a:avLst/>
            <a:gdLst/>
            <a:ahLst/>
            <a:cxnLst/>
            <a:rect l="0" t="0" r="2182384" b="1800000"/>
            <a:pathLst>
              <a:path w="2182384" h="1800000">
                <a:moveTo>
                  <a:pt x="935307" y="0"/>
                </a:moveTo>
                <a:lnTo>
                  <a:pt x="2182384" y="1800000"/>
                </a:lnTo>
                <a:lnTo>
                  <a:pt x="0" y="162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10" name="RadarCurrent"/>
          <p:cNvSpPr/>
          <p:nvPr/>
        </p:nvSpPr>
        <p:spPr>
          <a:xfrm>
            <a:off x="3288231" y="3360000"/>
            <a:ext cx="935307" cy="720000"/>
          </a:xfrm>
          <a:custGeom>
            <a:avLst/>
            <a:gdLst/>
            <a:ahLst/>
            <a:cxnLst/>
            <a:rect l="0" t="0" r="935307" b="720000"/>
            <a:pathLst>
              <a:path w="935307" h="720000">
                <a:moveTo>
                  <a:pt x="311769" y="0"/>
                </a:moveTo>
                <a:lnTo>
                  <a:pt x="935307" y="720000"/>
                </a:lnTo>
                <a:lnTo>
                  <a:pt x="0" y="54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Capacity ramp</a:t>
            </a:r>
          </a:p>
        </p:txBody>
      </p:sp>
      <p:sp>
        <p:nvSpPr>
          <p:cNvPr id="54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Payback period</a:t>
            </a:r>
          </a:p>
        </p:txBody>
      </p:sp>
      <p:sp>
        <p:nvSpPr>
          <p:cNvPr id="54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Regulatory prep</a:t>
            </a:r>
          </a:p>
        </p:txBody>
      </p:sp>
      <p:sp>
        <p:nvSpPr>
          <p:cNvPr id="54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54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54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Q3 2026: Site selection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Q1 2027: Core building shell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Q3 2027: Regulatory dossier submission</a:t>
            </a:r>
          </a:p>
        </p:txBody>
      </p:sp>
      <p:sp>
        <p:nvSpPr>
          <p:cNvPr id="10005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Strategy Framework</a:t>
            </a:r>
          </a:p>
        </p:txBody>
      </p:sp>
      <p:sp>
        <p:nvSpPr>
          <p:cNvPr id="10005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Balanced approach to financial and operational execution</a:t>
            </a:r>
          </a:p>
        </p:txBody>
      </p:sp>
    </p:spTree>
  </p:cSld>
</p:sld>
</file>

<file path=ppt/tags/tag1.xml><?xml version="1.0" encoding="utf-8"?>
<p:tagLst xmlns:p="http://schemas.openxmlformats.org/presentationml/2006/main">
  <p:tag name="MM_SLIDE_TYPE" val="6"/>
</p:tagLst>
</file>

<file path=ppt/tags/tag2.xml><?xml version="1.0" encoding="utf-8"?>
<p:tagLst xmlns:p="http://schemas.openxmlformats.org/presentationml/2006/main">
  <p:tag name="MM_SLIDE_TYPE" val="6"/>
</p:tagLst>
</file>

<file path=ppt/tags/tag6.xml><?xml version="1.0" encoding="utf-8"?>
<p:tagLst xmlns:p="http://schemas.openxmlformats.org/presentationml/2006/main">
  <p:tag name="DH_FLYSHEET_STYL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9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12700">
          <a:solidFill>
            <a:schemeClr val="tx1"/>
          </a:solidFill>
        </a:ln>
      </a:spPr>
      <a:bodyPr rtlCol="0" anchor="ctr"/>
      <a:lstStyle>
        <a:defPPr algn="ctr">
          <a:defRPr sz="11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8169476D4E494B950A59EBCB7A573C" ma:contentTypeVersion="19" ma:contentTypeDescription="Create a new document." ma:contentTypeScope="" ma:versionID="029978e329cdaafd2d145a8ff8cd7be5">
  <xsd:schema xmlns:xsd="http://www.w3.org/2001/XMLSchema" xmlns:xs="http://www.w3.org/2001/XMLSchema" xmlns:p="http://schemas.microsoft.com/office/2006/metadata/properties" xmlns:ns2="bd46642e-baf8-4e0b-90a8-08a61c43d436" xmlns:ns3="da89c8aa-bdf1-4272-829d-0bf2fbc1fefc" targetNamespace="http://schemas.microsoft.com/office/2006/metadata/properties" ma:root="true" ma:fieldsID="45975fc9e5c42f58d0005cd0e0642dc9" ns2:_="" ns3:_="">
    <xsd:import namespace="bd46642e-baf8-4e0b-90a8-08a61c43d436"/>
    <xsd:import namespace="da89c8aa-bdf1-4272-829d-0bf2fbc1fe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46642e-baf8-4e0b-90a8-08a61c43d4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9187416-f788-437a-8c7c-a113f37dc8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89c8aa-bdf1-4272-829d-0bf2fbc1fef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ba7653-8b86-4d71-9290-79e61846c644}" ma:internalName="TaxCatchAll" ma:showField="CatchAllData" ma:web="da89c8aa-bdf1-4272-829d-0bf2fbc1fe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d46642e-baf8-4e0b-90a8-08a61c43d436">
      <Terms xmlns="http://schemas.microsoft.com/office/infopath/2007/PartnerControls"/>
    </lcf76f155ced4ddcb4097134ff3c332f>
    <TaxCatchAll xmlns="da89c8aa-bdf1-4272-829d-0bf2fbc1fe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.xml><?xml version="1.0" encoding="utf-8"?>
<ds:datastoreItem xmlns:ds="http://schemas.openxmlformats.org/officeDocument/2006/customXml" ds:itemID="{05064457-A99B-4F5A-8265-53D78F6EBD13}">
  <ds:schemaRefs/>
</ds:datastoreItem>
</file>

<file path=customXml/itemProps4.xml><?xml version="1.0" encoding="utf-8"?>
<ds:datastoreItem xmlns:ds="http://schemas.openxmlformats.org/officeDocument/2006/customXml" ds:itemID="{AED47698-1855-40F8-88F1-9046674C7C6F}">
  <ds:schemaRefs/>
</ds:datastoreItem>
</file>

<file path=customXml/itemProps5.xml><?xml version="1.0" encoding="utf-8"?>
<ds:datastoreItem xmlns:ds="http://schemas.openxmlformats.org/officeDocument/2006/customXml" ds:itemID="{A168439B-1DAE-4F2B-934D-367C7A79D1E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330</Words>
  <Application>WPS Presentation</Application>
  <PresentationFormat>On-screen Show (4:3)</PresentationFormat>
  <Paragraphs>10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Montserrat</vt:lpstr>
      <vt:lpstr>Liberation Mono</vt:lpstr>
      <vt:lpstr>Calibri</vt:lpstr>
      <vt:lpstr>Calibri</vt:lpstr>
      <vt:lpstr>Cambria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Trí Phạm</cp:lastModifiedBy>
  <cp:revision>2</cp:revision>
  <dcterms:created xsi:type="dcterms:W3CDTF">2020-07-24T09:46:00Z</dcterms:created>
  <dcterms:modified xsi:type="dcterms:W3CDTF">2026-08-05T07:19:31Z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0x010100DD8169476D4E494B950A59EBCB7A573C</vt:lpwstr>
  </property>
  <property fmtid="{D5CDD505-2E9C-101B-9397-08002B2CF9AE}" pid="3" name="MediaServiceImageTags">
    <vt:lpwstr/>
  </property>
  <property fmtid="{D5CDD505-2E9C-101B-9397-08002B2CF9AE}" pid="4" name="ICV">
    <vt:lpwstr>3A92109A331E46C8A8FC5A7A47822D39_12</vt:lpwstr>
  </property>
  <property fmtid="{D5CDD505-2E9C-101B-9397-08002B2CF9AE}" pid="5" name="KSOProductBuildVer">
    <vt:lpwstr>1033-12.1.0.28032</vt:lpwstr>
  </property>
</Properties>
</file>