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  <p:sldId id="1994" r:id="rId29"/>
    <p:sldId id="1995" r:id="rId30"/>
    <p:sldId id="1996" r:id="rId31"/>
    <p:sldId id="1997" r:id="rId32"/>
    <p:sldId id="1998" r:id="rId33"/>
    <p:sldId id="1999" r:id="rId34"/>
    <p:sldId id="2000" r:id="rId35"/>
    <p:sldId id="2001" r:id="rId36"/>
    <p:sldId id="2002" r:id="rId37"/>
    <p:sldId id="2003" r:id="rId38"/>
    <p:sldId id="2004" r:id="rId39"/>
    <p:sldId id="2005" r:id="rId40"/>
    <p:sldId id="2006" r:id="rId41"/>
    <p:sldId id="2007" r:id="rId42"/>
    <p:sldId id="2008" r:id="rId43"/>
    <p:sldId id="2009" r:id="rId44"/>
    <p:sldId id="2010" r:id="rId45"/>
    <p:sldId id="2011" r:id="rId46"/>
    <p:sldId id="2012" r:id="rId47"/>
    <p:sldId id="2013" r:id="rId48"/>
    <p:sldId id="2014" r:id="rId49"/>
    <p:sldId id="2015" r:id="rId50"/>
    <p:sldId id="2016" r:id="rId51"/>
    <p:sldId id="2017" r:id="rId52"/>
    <p:sldId id="2018" r:id="rId53"/>
    <p:sldId id="2019" r:id="rId54"/>
    <p:sldId id="2020" r:id="rId55"/>
    <p:sldId id="2021" r:id="rId56"/>
    <p:sldId id="2022" r:id="rId57"/>
    <p:sldId id="2023" r:id="rId58"/>
    <p:sldId id="2024" r:id="rId59"/>
    <p:sldId id="2025" r:id="rId60"/>
    <p:sldId id="2026" r:id="rId61"/>
    <p:sldId id="2027" r:id="rId62"/>
    <p:sldId id="2028" r:id="rId63"/>
    <p:sldId id="2029" r:id="rId64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**"Aquaculture Mineral Supplements: $28.5B Market &amp; Nano-Chelate Strategy"**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Science: Nano-formulations and chelates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Technology: Growth improvements (1.5-3x)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Industrial: Supply chain and partnerships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21</a:t>
            </a:r>
          </a:p>
        </p:txBody>
      </p:sp>
      <p:sp>
        <p:nvSpPr>
          <p:cNvPr id="1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Market: Shrimp/tilapia premiumization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31</a:t>
            </a:r>
          </a:p>
        </p:txBody>
      </p:sp>
      <p:sp>
        <p:nvSpPr>
          <p:cNvPr id="1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Strategic: High-growth opportunities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Vietnam's food safety sector offers 3x growth potential</a:t>
            </a:r>
          </a:p>
        </p:txBody>
      </p:sp>
      <p:sp>
        <p:nvSpPr>
          <p:cNvPr id="2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Market demand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15% YoY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Premium segment expanding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Shrimp feed trace-mineral segment: $4.3–4.6B (2024–25) → $6.4B (2035)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Probiotics/health products segment: ~$800M, growing at 5–7% CAGR</a:t>
            </a:r>
          </a:p>
        </p:txBody>
      </p:sp>
      <p:sp>
        <p:nvSpPr>
          <p:cNvPr id="2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Regulatory push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New compliance requirements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Government incentives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EFSA opinions pending (2023–2025)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FDA Center for Veterinary Medicine guidance on nanotechnology in animal food</a:t>
            </a:r>
          </a:p>
        </p:txBody>
      </p:sp>
      <p:sp>
        <p:nvSpPr>
          <p:cNvPr id="2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Capability gaps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Technology adoption low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Skills shortage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 challenges: particle aggregation, dose precision (±5% CV required)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uncertainty: no nano-specific feed additive category in EU/US</a:t>
            </a:r>
          </a:p>
        </p:txBody>
      </p:sp>
      <p:sp>
        <p:nvSpPr>
          <p:cNvPr id="2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2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Focus on technology and training to capture market opportunity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Market size and growth trajectory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TAM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$1.2T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2023-2030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Projected to grow to $1.2T by 2030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Drives investment in scalable solutions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Global aquaculture mineral supplement market: $17.0B (2025) → $28.5B (2034)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CAGR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12%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2023-2030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Consistent growth rate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Sustained demand for VNF solutions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6.2% CAGR for global mineral supplements market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ADDRESSABLE SEGMENT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50%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Market share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50% of market is addressable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Opportunity for expansion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analysis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Scale of opportunity drives investment case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opportunities for capture</a:t>
            </a:r>
          </a:p>
        </p:txBody>
      </p:sp>
      <p:sp>
        <p:nvSpPr>
          <p:cNvPr id="4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MARKET GAP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Unmet demand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need for solutions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competition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Fast adoption rate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70% of intensive shrimp farms use probiotics/health products</a:t>
            </a:r>
          </a:p>
        </p:txBody>
      </p:sp>
      <p:sp>
        <p:nvSpPr>
          <p:cNvPr id="4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COMPETITIVE ADVANTAGE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Strong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Differentiation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Unique technology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Proven track record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Customer trust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Nano-SeNPs deliver 57% final weight gain vs. inorganic selenium control</a:t>
            </a:r>
          </a:p>
        </p:txBody>
      </p:sp>
      <p:sp>
        <p:nvSpPr>
          <p:cNvPr id="4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TIMELINE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Short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Quick execution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Low barrier to entry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Rapid scalability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Immediate ROI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reduce mineral excretion by 40% vs. inorganic equivalents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Strategic analysis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Prioritize highest-leverage plays first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risks requiring mitigation</a:t>
            </a:r>
          </a:p>
        </p:txBody>
      </p:sp>
      <p:sp>
        <p:nvSpPr>
          <p:cNvPr id="5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REGULATORY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Compliance risk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Uncertain legal frameworks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fines for non-compliance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Need for ongoing monitoring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EFSA opinions pending (2023–2025)</a:t>
            </a:r>
          </a:p>
        </p:txBody>
      </p:sp>
      <p:sp>
        <p:nvSpPr>
          <p:cNvPr id="5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TECHNICAL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Critical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Integration challenges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Complex API dependencies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Performance bottlenecks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Requires robust testing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 stability remains unresolved at commercial scale</a:t>
            </a:r>
          </a:p>
        </p:txBody>
      </p:sp>
      <p:sp>
        <p:nvSpPr>
          <p:cNvPr id="5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MARKET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Moderate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Demand volatility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Customer adoption uncertain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Competitor landscape evolving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Need for flexible pricing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Risk assessment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De-risk before scaling commitment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Phân giai lộ trình triển khai theo 3 giai đoạn</a:t>
            </a:r>
          </a:p>
        </p:txBody>
      </p:sp>
      <p:sp>
        <p:nvSpPr>
          <p:cNvPr id="6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1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Xác thực nhu cầu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khả năng triển khai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Anchor on organic chelates (Q3 2026–Q1 2027)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FDA/EU 1831/2003 dossier scoped and prepared</a:t>
            </a:r>
          </a:p>
        </p:txBody>
      </p:sp>
      <p:sp>
        <p:nvSpPr>
          <p:cNvPr id="6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2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Triển khai thử nghiệm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hiệu quả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Develop nano-mineral platform (Q4 2026)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Validate commercial-scale stabilisation protocols</a:t>
            </a:r>
          </a:p>
        </p:txBody>
      </p:sp>
      <p:sp>
        <p:nvSpPr>
          <p:cNvPr id="6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3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Mở rộng quy mô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Tối ưu hóa quy trình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Functional-feed integration (2027–2028)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Sign 3–5 anchor feed-mill accounts</a:t>
            </a:r>
          </a:p>
        </p:txBody>
      </p:sp>
      <p:sp>
        <p:nvSpPr>
          <p:cNvPr id="6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6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Tập trung vào từng giai đoạn để đảm bảo tiến độ và hiệu quả của dự án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Nano-formulations significantly outperform conventional mineral supplements in growth improvement.</a:t>
            </a:r>
          </a:p>
        </p:txBody>
      </p:sp>
      <p:sp>
        <p:nvSpPr>
          <p:cNvPr id="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Nano-SeNPs deliver superior weight gain</a:t>
            </a:r>
          </a:p>
        </p:txBody>
      </p:sp>
      <p:sp>
        <p:nvSpPr>
          <p:cNvPr id="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Clay-supported ZnO-K outperforms ZnSO₄</a:t>
            </a:r>
          </a:p>
        </p:txBody>
      </p:sp>
      <p:sp>
        <p:nvSpPr>
          <p:cNvPr id="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Nano-formulations are superior in mineral delivery</a:t>
            </a:r>
          </a:p>
        </p:txBody>
      </p:sp>
      <p:sp>
        <p:nvSpPr>
          <p:cNvPr id="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57% final weight gain vs. inorganic selenium control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Nano-formulations enhance nutrient absorption efficiency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toxicity compared to conventional selenium sources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Consistent performance across animal studies</a:t>
            </a:r>
          </a:p>
        </p:txBody>
      </p:sp>
      <p:sp>
        <p:nvSpPr>
          <p:cNvPr id="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+30% weight gain vs. ZnSO₄ control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Improved zinc bioavailability and utilization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Sustained release of minerals over time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Environmentally friendly compared to inorganic salts</a:t>
            </a:r>
          </a:p>
        </p:txBody>
      </p:sp>
      <p:sp>
        <p:nvSpPr>
          <p:cNvPr id="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Smaller particle size enables deeper tissue penetration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Higher surface area-to-volume ratio enhances reactivity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waste and improved cost-effectiveness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Broad applicability across different animal models</a:t>
            </a:r>
          </a:p>
        </p:txBody>
      </p:sp>
      <p:cxnSp>
        <p:nvCxnSpPr>
          <p:cNvPr id="708" name="PyramidConn1"/>
          <p:cNvCxnSpPr>
            <a:stCxn id="701" idx="2"/>
            <a:endCxn id="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09" name="PyramidConn2"/>
          <p:cNvCxnSpPr>
            <a:stCxn id="701" idx="2"/>
            <a:endCxn id="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10" name="PyramidConn3"/>
          <p:cNvCxnSpPr>
            <a:stCxn id="701" idx="2"/>
            <a:endCxn id="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reduce excretion by 40%</a:t>
            </a:r>
          </a:p>
        </p:txBody>
      </p:sp>
      <p:sp>
        <p:nvSpPr>
          <p:cNvPr id="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Reduce trace-mineral excretion by 40% vs. inorganic equivalents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Enable 30-50% lower dietary inclusion for equivalent growth outcomes</a:t>
            </a:r>
          </a:p>
        </p:txBody>
      </p:sp>
      <p:sp>
        <p:nvSpPr>
          <p:cNvPr id="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higher production costs compared to inorganic chelates</a:t>
            </a:r>
          </a:p>
        </p:txBody>
      </p:sp>
      <p:sp>
        <p:nvSpPr>
          <p:cNvPr id="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Performance and environmental benefits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cost savings in feed formulation</a:t>
            </a:r>
          </a:p>
        </p:txBody>
      </p:sp>
      <p:sp>
        <p:nvSpPr>
          <p:cNvPr id="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restrictions on organic chelate use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both performance and environmental benefits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Nano-formulations show strong pathogen resistance</a:t>
            </a:r>
          </a:p>
        </p:txBody>
      </p:sp>
      <p:sp>
        <p:nvSpPr>
          <p:cNvPr id="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REDUCTION, LOW COST</a:t>
            </a:r>
          </a:p>
        </p:txBody>
      </p:sp>
      <p:sp>
        <p:nvSpPr>
          <p:cNvPr id="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REDUCTION, LOW COST</a:t>
            </a:r>
          </a:p>
        </p:txBody>
      </p:sp>
      <p:sp>
        <p:nvSpPr>
          <p:cNvPr id="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REDUCTION, HIGH COST</a:t>
            </a:r>
          </a:p>
        </p:txBody>
      </p:sp>
      <p:sp>
        <p:nvSpPr>
          <p:cNvPr id="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REDUCTION, HIGH COST</a:t>
            </a:r>
          </a:p>
        </p:txBody>
      </p:sp>
      <p:sp>
        <p:nvSpPr>
          <p:cNvPr id="912" name="Bubble1"/>
          <p:cNvSpPr/>
          <p:nvPr/>
        </p:nvSpPr>
        <p:spPr>
          <a:xfrm>
            <a:off x="3088000" y="262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Nano-SeNPs</a:t>
            </a:r>
          </a:p>
        </p:txBody>
      </p:sp>
      <p:sp>
        <p:nvSpPr>
          <p:cNvPr id="913" name="Bubble2"/>
          <p:cNvSpPr/>
          <p:nvPr/>
        </p:nvSpPr>
        <p:spPr>
          <a:xfrm>
            <a:off x="570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Nano-Fe₂O₃</a:t>
            </a:r>
          </a:p>
        </p:txBody>
      </p:sp>
      <p:sp>
        <p:nvSpPr>
          <p:cNvPr id="9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NANO-FORMULATION TYPE →</a:t>
            </a:r>
          </a:p>
        </p:txBody>
      </p:sp>
      <p:sp>
        <p:nvSpPr>
          <p:cNvPr id="9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MORTALITY REDUCTION ↑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(2023), Mohammady et al. (2023)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provide significant disease resistance benefits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improve immune response markers</a:t>
            </a:r>
          </a:p>
        </p:txBody>
      </p:sp>
      <p:graphicFrame>
        <p:nvGraphicFramePr>
          <p:cNvPr id="10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Nano-minerals improve immune response markers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Nano-minerals enhance both growth and immune function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1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Mohammady et al. (2021), Eissa et al. (2023)</a:t>
            </a:r>
          </a:p>
        </p:txBody>
      </p:sp>
      <p:sp>
        <p:nvSpPr>
          <p:cNvPr id="10001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enhance both growth and immune function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Nano-formulations require precise dosing</a:t>
            </a:r>
          </a:p>
        </p:txBody>
      </p:sp>
      <p:sp>
        <p:nvSpPr>
          <p:cNvPr id="1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Moderate</a:t>
            </a:r>
          </a:p>
        </p:txBody>
      </p:sp>
      <p:sp>
        <p:nvSpPr>
          <p:cNvPr id="11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Minor</a:t>
            </a:r>
          </a:p>
        </p:txBody>
      </p:sp>
      <p:sp>
        <p:nvSpPr>
          <p:cNvPr id="11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 of dosing errors</a:t>
            </a:r>
          </a:p>
        </p:txBody>
      </p:sp>
      <p:sp>
        <p:nvSpPr>
          <p:cNvPr id="11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 of challenges</a:t>
            </a:r>
          </a:p>
        </p:txBody>
      </p: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16, Mohammady et al. (2021)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present significant technical implementation challenges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offer cost premium benefits</a:t>
            </a:r>
          </a:p>
        </p:txBody>
      </p:sp>
      <p:sp>
        <p:nvSpPr>
          <p:cNvPr id="1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Cost premium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$8-$45/kg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1.5-2.5×</a:t>
            </a:r>
          </a:p>
        </p:txBody>
      </p:sp>
      <p:sp>
        <p:nvSpPr>
          <p:cNvPr id="1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Feed costs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-$0.35-$0.60/kg</a:t>
            </a:r>
          </a:p>
        </p:txBody>
      </p:sp>
      <p:sp>
        <p:nvSpPr>
          <p:cNvPr id="1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Shrimp feed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-$0.35-$0.60/kg</a:t>
            </a:r>
          </a:p>
        </p:txBody>
      </p:sp>
      <p:sp>
        <p:nvSpPr>
          <p:cNvPr id="1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Compliance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-$0.50-$1.50/kg</a:t>
            </a:r>
          </a:p>
        </p:txBody>
      </p:sp>
      <p:sp>
        <p:nvSpPr>
          <p:cNvPr id="1207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Environmental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-$0.50-$1.50/kg</a:t>
            </a:r>
          </a:p>
        </p:txBody>
      </p:sp>
      <p:cxnSp>
        <p:nvCxnSpPr>
          <p:cNvPr id="1204" name="BranchRoot_1"/>
          <p:cNvCxnSpPr>
            <a:stCxn id="1201" idx="1"/>
            <a:endCxn id="1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5" name="BranchL2_1_1"/>
          <p:cNvCxnSpPr>
            <a:stCxn id="1202" idx="1"/>
            <a:endCxn id="1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8" name="BranchRoot_2"/>
          <p:cNvCxnSpPr>
            <a:stCxn id="1201" idx="1"/>
            <a:endCxn id="1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9" name="BranchL2_2_1"/>
          <p:cNvCxnSpPr>
            <a:stCxn id="1206" idx="1"/>
            <a:endCxn id="1207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8, Eissa et al. (2023)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Premium pricing justifies performance improvements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face regulatory uncertainty</a:t>
            </a:r>
          </a:p>
        </p:txBody>
      </p:sp>
      <p:sp>
        <p:nvSpPr>
          <p:cNvPr id="1301" name="QHead1"/>
          <p:cNvSpPr txBox="1"/>
          <p:nvPr/>
        </p:nvSpPr>
        <p:spPr>
          <a:xfrm>
            <a:off x="220000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Q1'23</a:t>
            </a:r>
          </a:p>
        </p:txBody>
      </p:sp>
      <p:sp>
        <p:nvSpPr>
          <p:cNvPr id="1302" name="QHead2"/>
          <p:cNvSpPr txBox="1"/>
          <p:nvPr/>
        </p:nvSpPr>
        <p:spPr>
          <a:xfrm>
            <a:off x="274166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Q2'23</a:t>
            </a:r>
          </a:p>
        </p:txBody>
      </p:sp>
      <p:sp>
        <p:nvSpPr>
          <p:cNvPr id="1303" name="QHead3"/>
          <p:cNvSpPr txBox="1"/>
          <p:nvPr/>
        </p:nvSpPr>
        <p:spPr>
          <a:xfrm>
            <a:off x="328333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Q3'23</a:t>
            </a:r>
          </a:p>
        </p:txBody>
      </p:sp>
      <p:sp>
        <p:nvSpPr>
          <p:cNvPr id="1304" name="QHead4"/>
          <p:cNvSpPr txBox="1"/>
          <p:nvPr/>
        </p:nvSpPr>
        <p:spPr>
          <a:xfrm>
            <a:off x="382499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Q4'23</a:t>
            </a:r>
          </a:p>
        </p:txBody>
      </p:sp>
      <p:sp>
        <p:nvSpPr>
          <p:cNvPr id="1305" name="QHead5"/>
          <p:cNvSpPr txBox="1"/>
          <p:nvPr/>
        </p:nvSpPr>
        <p:spPr>
          <a:xfrm>
            <a:off x="436666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1306" name="QHead6"/>
          <p:cNvSpPr txBox="1"/>
          <p:nvPr/>
        </p:nvSpPr>
        <p:spPr>
          <a:xfrm>
            <a:off x="490833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1307" name="QHead7"/>
          <p:cNvSpPr txBox="1"/>
          <p:nvPr/>
        </p:nvSpPr>
        <p:spPr>
          <a:xfrm>
            <a:off x="544999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1308" name="QHead8"/>
          <p:cNvSpPr txBox="1"/>
          <p:nvPr/>
        </p:nvSpPr>
        <p:spPr>
          <a:xfrm>
            <a:off x="599166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sp>
        <p:nvSpPr>
          <p:cNvPr id="1309" name="QHead9"/>
          <p:cNvSpPr txBox="1"/>
          <p:nvPr/>
        </p:nvSpPr>
        <p:spPr>
          <a:xfrm>
            <a:off x="653332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Q1'25</a:t>
            </a:r>
          </a:p>
        </p:txBody>
      </p:sp>
      <p:sp>
        <p:nvSpPr>
          <p:cNvPr id="1310" name="QHead10"/>
          <p:cNvSpPr txBox="1"/>
          <p:nvPr/>
        </p:nvSpPr>
        <p:spPr>
          <a:xfrm>
            <a:off x="707499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Q2'25</a:t>
            </a:r>
          </a:p>
        </p:txBody>
      </p:sp>
      <p:sp>
        <p:nvSpPr>
          <p:cNvPr id="1311" name="QHead11"/>
          <p:cNvSpPr txBox="1"/>
          <p:nvPr/>
        </p:nvSpPr>
        <p:spPr>
          <a:xfrm>
            <a:off x="761666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Q3'25</a:t>
            </a:r>
          </a:p>
        </p:txBody>
      </p:sp>
      <p:sp>
        <p:nvSpPr>
          <p:cNvPr id="1312" name="QHead12"/>
          <p:cNvSpPr txBox="1"/>
          <p:nvPr/>
        </p:nvSpPr>
        <p:spPr>
          <a:xfrm>
            <a:off x="815832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Q4'25</a:t>
            </a:r>
          </a:p>
        </p:txBody>
      </p:sp>
      <p:cxnSp>
        <p:nvCxnSpPr>
          <p:cNvPr id="1313" name="QGrid1"/>
          <p:cNvCxnSpPr>
    </p:cNvCxnSpPr>
          <p:nvPr/>
        </p:nvCxnSpPr>
        <p:spPr>
          <a:xfrm>
            <a:off x="2741666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4" name="QGrid2"/>
          <p:cNvCxnSpPr>
    </p:cNvCxnSpPr>
          <p:nvPr/>
        </p:nvCxnSpPr>
        <p:spPr>
          <a:xfrm>
            <a:off x="3283332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5" name="QGrid3"/>
          <p:cNvCxnSpPr>
    </p:cNvCxnSpPr>
          <p:nvPr/>
        </p:nvCxnSpPr>
        <p:spPr>
          <a:xfrm>
            <a:off x="3824998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6" name="QGrid4"/>
          <p:cNvCxnSpPr>
    </p:cNvCxnSpPr>
          <p:nvPr/>
        </p:nvCxnSpPr>
        <p:spPr>
          <a:xfrm>
            <a:off x="4366664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7" name="QGrid5"/>
          <p:cNvCxnSpPr>
    </p:cNvCxnSpPr>
          <p:nvPr/>
        </p:nvCxnSpPr>
        <p:spPr>
          <a:xfrm>
            <a:off x="490833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8" name="QGrid6"/>
          <p:cNvCxnSpPr>
    </p:cNvCxnSpPr>
          <p:nvPr/>
        </p:nvCxnSpPr>
        <p:spPr>
          <a:xfrm>
            <a:off x="5449996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9" name="QGrid7"/>
          <p:cNvCxnSpPr>
    </p:cNvCxnSpPr>
          <p:nvPr/>
        </p:nvCxnSpPr>
        <p:spPr>
          <a:xfrm>
            <a:off x="5991662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20" name="QGrid8"/>
          <p:cNvCxnSpPr>
    </p:cNvCxnSpPr>
          <p:nvPr/>
        </p:nvCxnSpPr>
        <p:spPr>
          <a:xfrm>
            <a:off x="6533328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21" name="QGrid9"/>
          <p:cNvCxnSpPr>
    </p:cNvCxnSpPr>
          <p:nvPr/>
        </p:nvCxnSpPr>
        <p:spPr>
          <a:xfrm>
            <a:off x="7074994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22" name="QGrid10"/>
          <p:cNvCxnSpPr>
    </p:cNvCxnSpPr>
          <p:nvPr/>
        </p:nvCxnSpPr>
        <p:spPr>
          <a:xfrm>
            <a:off x="761666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23" name="QGrid11"/>
          <p:cNvCxnSpPr>
    </p:cNvCxnSpPr>
          <p:nvPr/>
        </p:nvCxnSpPr>
        <p:spPr>
          <a:xfrm>
            <a:off x="8158326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1324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EU regulation</a:t>
            </a:r>
          </a:p>
        </p:txBody>
      </p:sp>
      <p:sp>
        <p:nvSpPr>
          <p:cNvPr id="1325" name="WsBar1_1"/>
          <p:cNvSpPr/>
          <p:nvPr/>
        </p:nvSpPr>
        <p:spPr>
          <a:xfrm>
            <a:off x="2245720" y="2344000"/>
            <a:ext cx="4783554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EFSA opinions pending</a:t>
            </a:r>
          </a:p>
        </p:txBody>
      </p:sp>
      <p:sp>
        <p:nvSpPr>
          <p:cNvPr id="1326" name="Ms1_1"/>
          <p:cNvSpPr/>
          <p:nvPr/>
        </p:nvSpPr>
        <p:spPr>
          <a:xfrm>
            <a:off x="6407328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7" name="MsLbl1_1"/>
          <p:cNvSpPr txBox="1"/>
          <p:nvPr/>
        </p:nvSpPr>
        <p:spPr>
          <a:xfrm>
            <a:off x="6166128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Regulatory cl…</a:t>
            </a:r>
          </a:p>
        </p:txBody>
      </p:sp>
      <p:sp>
        <p:nvSpPr>
          <p:cNvPr id="1328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US/FDA guidance</a:t>
            </a:r>
          </a:p>
        </p:txBody>
      </p:sp>
      <p:sp>
        <p:nvSpPr>
          <p:cNvPr id="1329" name="WsBar2_1"/>
          <p:cNvSpPr/>
          <p:nvPr/>
        </p:nvSpPr>
        <p:spPr>
          <a:xfrm>
            <a:off x="2245720" y="3144000"/>
            <a:ext cx="261689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FDA Center for Veterinary Medicine</a:t>
            </a:r>
          </a:p>
        </p:txBody>
      </p:sp>
      <p:sp>
        <p:nvSpPr>
          <p:cNvPr id="1330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Asia/Global</a:t>
            </a:r>
          </a:p>
        </p:txBody>
      </p:sp>
      <p:sp>
        <p:nvSpPr>
          <p:cNvPr id="1331" name="WsBar3_1"/>
          <p:cNvSpPr/>
          <p:nvPr/>
        </p:nvSpPr>
        <p:spPr>
          <a:xfrm>
            <a:off x="2245720" y="3944000"/>
            <a:ext cx="5866886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No nano-specific provisions</a:t>
            </a:r>
          </a:p>
        </p:txBody>
      </p:sp>
      <p:sp>
        <p:nvSpPr>
          <p:cNvPr id="1332" name="Ms3_1"/>
          <p:cNvSpPr/>
          <p:nvPr/>
        </p:nvSpPr>
        <p:spPr>
          <a:xfrm>
            <a:off x="7490660" y="40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3" name="MsLbl3_1"/>
          <p:cNvSpPr txBox="1"/>
          <p:nvPr/>
        </p:nvSpPr>
        <p:spPr>
          <a:xfrm>
            <a:off x="7249460" y="42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Regulatory cl…</a:t>
            </a:r>
          </a:p>
        </p:txBody>
      </p:sp>
      <p:cxnSp>
        <p:nvCxnSpPr>
          <p:cNvPr id="1334" name="TodayLine"/>
          <p:cNvCxnSpPr>
    </p:cNvCxnSpPr>
          <p:nvPr/>
        </p:nvCxnSpPr>
        <p:spPr>
          <a:xfrm>
            <a:off x="4366664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16, EFSA (2023)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uncertainty remains a significant barrier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show promising safety profiles</a:t>
            </a:r>
          </a:p>
        </p:txBody>
      </p:sp>
      <p:sp>
        <p:nvSpPr>
          <p:cNvPr id="1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4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0" name="RadarCurrent"/>
          <p:cNvSpPr/>
          <p:nvPr/>
        </p:nvSpPr>
        <p:spPr>
          <a:xfrm>
            <a:off x="2976462" y="2280000"/>
            <a:ext cx="1558845" cy="1980000"/>
          </a:xfrm>
          <a:custGeom>
            <a:avLst/>
            <a:gdLst/>
            <a:ahLst/>
            <a:cxnLst/>
            <a:rect l="0" t="0" r="1558845" b="1980000"/>
            <a:pathLst>
              <a:path w="1558845" h="1980000">
                <a:moveTo>
                  <a:pt x="623538" y="0"/>
                </a:moveTo>
                <a:lnTo>
                  <a:pt x="1558845" y="198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Safety efficacy</a:t>
            </a:r>
          </a:p>
        </p:txBody>
      </p:sp>
      <p:sp>
        <p:nvSpPr>
          <p:cNvPr id="1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Dose management</a:t>
            </a:r>
          </a:p>
        </p:txBody>
      </p:sp>
      <p:sp>
        <p:nvSpPr>
          <p:cNvPr id="1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Therapeutic window</a:t>
            </a:r>
          </a:p>
        </p:txBody>
      </p:sp>
      <p:sp>
        <p:nvSpPr>
          <p:cNvPr id="1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Nano-forms show toxicity at 1.5-2× optimal dose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 validated for transcriptomic safety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Pacitti et al. (2016), Mohammady et al. (2021)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Safety profiles are promising but require careful dose management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Nano-formulations deliver 1.5-3x growth improvements over inorganic alternatives, with 57% weight gain (nano-SeNPs) and 30% weight gain (clay-supported ZnO-K).</a:t>
            </a:r>
          </a:p>
        </p:txBody>
      </p:sp>
      <p:sp>
        <p:nvSpPr>
          <p:cNvPr id="1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Nano-SeNPs achieve superior growth with high weight gain</a:t>
            </a:r>
          </a:p>
        </p:txBody>
      </p:sp>
      <p:sp>
        <p:nvSpPr>
          <p:cNvPr id="1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Clay-supported ZnO-K offers balanced growth benefits</a:t>
            </a:r>
          </a:p>
        </p:txBody>
      </p:sp>
      <p:sp>
        <p:nvSpPr>
          <p:cNvPr id="1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Nano-formulations enhance crop productivity efficiently</a:t>
            </a:r>
          </a:p>
        </p:txBody>
      </p:sp>
      <p:sp>
        <p:nvSpPr>
          <p:cNvPr id="1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57% weight gain with nano-SeNPs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1.5-3x growth improvements over inorganic alternatives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Nano-formulations outperform traditional inorganic fertilizers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Significant productivity gains in crop yield</a:t>
            </a:r>
          </a:p>
        </p:txBody>
      </p:sp>
      <p:sp>
        <p:nvSpPr>
          <p:cNvPr id="1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30% weight gain with clay-supported ZnO-K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Stable and controlled nutrient release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environmental impact compared to bulk fertilizers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Sustainable alternative to conventional fertilizers</a:t>
            </a:r>
          </a:p>
        </p:txBody>
      </p:sp>
      <p:sp>
        <p:nvSpPr>
          <p:cNvPr id="1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and clay-supported ZnO-K improve growth rates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Lower application rates needed for similar yields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Cost-effective and eco-friendly solutions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Takeaway: Nano-formulations offer significant productivity gains</a:t>
            </a:r>
          </a:p>
        </p:txBody>
      </p:sp>
      <p:cxnSp>
        <p:nvCxnSpPr>
          <p:cNvPr id="1508" name="PyramidConn1"/>
          <p:cNvCxnSpPr>
            <a:stCxn id="1501" idx="2"/>
            <a:endCxn id="1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09" name="PyramidConn2"/>
          <p:cNvCxnSpPr>
            <a:stCxn id="1501" idx="2"/>
            <a:endCxn id="1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10" name="PyramidConn3"/>
          <p:cNvCxnSpPr>
            <a:stCxn id="1501" idx="2"/>
            <a:endCxn id="1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reduce excretion by 40%</a:t>
            </a:r>
          </a:p>
        </p:txBody>
      </p:sp>
      <p:sp>
        <p:nvSpPr>
          <p:cNvPr id="1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excretion reduction vs. inorganic equivalents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Enables 30-50% lower dietary inclusion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Addresses productivity and sustainability goals</a:t>
            </a:r>
          </a:p>
        </p:txBody>
      </p:sp>
      <p:sp>
        <p:nvSpPr>
          <p:cNvPr id="1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data on long-term environmental impact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regulatory hurdles for chelation technology</a:t>
            </a:r>
          </a:p>
        </p:txBody>
      </p:sp>
      <p:sp>
        <p:nvSpPr>
          <p:cNvPr id="1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demand for sustainable animal feed solutions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cost savings in feed formulation</a:t>
            </a:r>
          </a:p>
        </p:txBody>
      </p:sp>
      <p:sp>
        <p:nvSpPr>
          <p:cNvPr id="1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established inorganic chelates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Uncertainty in market adoption rates</a:t>
            </a:r>
          </a:p>
        </p:txBody>
      </p:sp>
      <p:sp>
        <p:nvSpPr>
          <p:cNvPr id="10001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1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Chelation technology addresses both productivity and sustainability goals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Nano-formulations cost 1.5-3x more than organic chelates</a:t>
            </a:r>
          </a:p>
        </p:txBody>
      </p:sp>
      <p:sp>
        <p:nvSpPr>
          <p:cNvPr id="17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7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7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7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PREMIUM</a:t>
            </a:r>
          </a:p>
        </p:txBody>
      </p:sp>
      <p:sp>
        <p:nvSpPr>
          <p:cNvPr id="17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PREMIUM</a:t>
            </a:r>
          </a:p>
        </p:txBody>
      </p:sp>
      <p:sp>
        <p:nvSpPr>
          <p:cNvPr id="17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STANDARD</a:t>
            </a:r>
          </a:p>
        </p:txBody>
      </p:sp>
      <p:sp>
        <p:nvSpPr>
          <p:cNvPr id="17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STANDARD</a:t>
            </a:r>
          </a:p>
        </p:txBody>
      </p:sp>
      <p:sp>
        <p:nvSpPr>
          <p:cNvPr id="1712" name="Bubble1"/>
          <p:cNvSpPr/>
          <p:nvPr/>
        </p:nvSpPr>
        <p:spPr>
          <a:xfrm>
            <a:off x="638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Nano-formulations</a:t>
            </a:r>
          </a:p>
        </p:txBody>
      </p:sp>
      <p:sp>
        <p:nvSpPr>
          <p:cNvPr id="1713" name="Bubble2"/>
          <p:cNvSpPr/>
          <p:nvPr/>
        </p:nvSpPr>
        <p:spPr>
          <a:xfrm>
            <a:off x="3088000" y="43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Inorganic salts</a:t>
            </a:r>
          </a:p>
        </p:txBody>
      </p:sp>
      <p:sp>
        <p:nvSpPr>
          <p:cNvPr id="1714" name="Bubble3"/>
          <p:cNvSpPr/>
          <p:nvPr/>
        </p:nvSpPr>
        <p:spPr>
          <a:xfrm>
            <a:off x="4448000" y="346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1715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COST →</a:t>
            </a:r>
          </a:p>
        </p:txBody>
      </p:sp>
      <p:sp>
        <p:nvSpPr>
          <p:cNvPr id="1716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POSITIONING ↑</a:t>
            </a:r>
          </a:p>
        </p:txBody>
      </p:sp>
      <p:sp>
        <p:nvSpPr>
          <p:cNvPr id="10001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8</a:t>
            </a:r>
          </a:p>
        </p:txBody>
      </p:sp>
      <p:sp>
        <p:nvSpPr>
          <p:cNvPr id="10001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Premium pricing creates opportunity for premium positioning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±5% dose precision at commercial scale</a:t>
            </a:r>
          </a:p>
        </p:txBody>
      </p:sp>
      <p:sp>
        <p:nvSpPr>
          <p:cNvPr id="1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8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PARTICLE AGGREGATION</a:t>
            </a:r>
          </a:p>
        </p:txBody>
      </p:sp>
      <p:sp>
        <p:nvSpPr>
          <p:cNvPr id="18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STABILISATION PROTOCOL</a:t>
            </a:r>
          </a:p>
        </p:txBody>
      </p:sp>
      <p:sp>
        <p:nvSpPr>
          <p:cNvPr id="18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SPECIES TRANSLATION</a:t>
            </a:r>
          </a:p>
        </p:txBody>
      </p:sp>
      <p:sp>
        <p:nvSpPr>
          <p:cNvPr id="18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Feed processing</a:t>
            </a:r>
          </a:p>
        </p:txBody>
      </p:sp>
      <p:sp>
        <p:nvSpPr>
          <p:cNvPr id="18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8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18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◔</a:t>
            </a:r>
          </a:p>
        </p:txBody>
      </p:sp>
      <p:sp>
        <p:nvSpPr>
          <p:cNvPr id="18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Commercial scale</a:t>
            </a:r>
          </a:p>
        </p:txBody>
      </p:sp>
      <p:sp>
        <p:nvSpPr>
          <p:cNvPr id="18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18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◔</a:t>
            </a:r>
          </a:p>
        </p:txBody>
      </p:sp>
      <p:sp>
        <p:nvSpPr>
          <p:cNvPr id="18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813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Technical validation</a:t>
            </a:r>
          </a:p>
        </p:txBody>
      </p:sp>
      <p:sp>
        <p:nvSpPr>
          <p:cNvPr id="1814" name="HvCell3_1"/>
          <p:cNvSpPr txBox="1"/>
          <p:nvPr/>
        </p:nvSpPr>
        <p:spPr>
          <a:xfrm>
            <a:off x="31572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1815" name="HvCell3_2"/>
          <p:cNvSpPr txBox="1"/>
          <p:nvPr/>
        </p:nvSpPr>
        <p:spPr>
          <a:xfrm>
            <a:off x="50004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◔</a:t>
            </a:r>
          </a:p>
        </p:txBody>
      </p:sp>
      <p:sp>
        <p:nvSpPr>
          <p:cNvPr id="1816" name="HvCell3_3"/>
          <p:cNvSpPr txBox="1"/>
          <p:nvPr/>
        </p:nvSpPr>
        <p:spPr>
          <a:xfrm>
            <a:off x="68436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10001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10</a:t>
            </a:r>
          </a:p>
        </p:txBody>
      </p:sp>
      <p:sp>
        <p:nvSpPr>
          <p:cNvPr id="10001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Technical validation is critical before commercialization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achieve regulatory clarity faster</a:t>
            </a:r>
          </a:p>
        </p:txBody>
      </p:sp>
      <p:sp>
        <p:nvSpPr>
          <p:cNvPr id="1901" name="HeatCell1"/>
          <p:cNvSpPr txBox="1"/>
          <p:nvPr/>
        </p:nvSpPr>
        <p:spPr>
          <a:xfrm>
            <a:off x="1500000" y="16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Fast</a:t>
            </a:r>
          </a:p>
        </p:txBody>
      </p:sp>
      <p:sp>
        <p:nvSpPr>
          <p:cNvPr id="1902" name="HeatCell2"/>
          <p:cNvSpPr txBox="1"/>
          <p:nvPr/>
        </p:nvSpPr>
        <p:spPr>
          <a:xfrm>
            <a:off x="3666666" y="1620000"/>
            <a:ext cx="2166666" cy="1400000"/>
          </a:xfrm>
          <a:prstGeom prst="rect">
            <a:avLst/>
          </a:prstGeom>
          <a:solidFill>
            <a:srgbClr val="FF98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Clear</a:t>
            </a:r>
          </a:p>
        </p:txBody>
      </p:sp>
      <p:sp>
        <p:nvSpPr>
          <p:cNvPr id="1903" name="HeatCell3"/>
          <p:cNvSpPr txBox="1"/>
          <p:nvPr/>
        </p:nvSpPr>
        <p:spPr>
          <a:xfrm>
            <a:off x="1500000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Reg</a:t>
            </a:r>
          </a:p>
        </p:txBody>
      </p:sp>
      <p:sp>
        <p:nvSpPr>
          <p:cNvPr id="1904" name="HeatCell4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Advantage</a:t>
            </a:r>
          </a:p>
        </p:txBody>
      </p:sp>
      <p:sp>
        <p:nvSpPr>
          <p:cNvPr id="1905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906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907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908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909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910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911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Complexity</a:t>
            </a:r>
          </a:p>
        </p:txBody>
      </p:sp>
      <p:sp>
        <p:nvSpPr>
          <p:cNvPr id="1912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Time-to-Market</a:t>
            </a:r>
          </a:p>
        </p:txBody>
      </p:sp>
      <p:sp>
        <p:nvSpPr>
          <p:cNvPr id="10001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9</a:t>
            </a:r>
          </a:p>
        </p:txBody>
      </p:sp>
      <p:sp>
        <p:nvSpPr>
          <p:cNvPr id="10001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faster time-to-market advantage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show narrow therapeutic windows</a:t>
            </a:r>
          </a:p>
        </p:txBody>
      </p:sp>
      <p:sp>
        <p:nvSpPr>
          <p:cNvPr id="2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Revenue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Opportunity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Premium</a:t>
            </a:r>
          </a:p>
        </p:txBody>
      </p:sp>
      <p:sp>
        <p:nvSpPr>
          <p:cNvPr id="2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Safety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Narrow window</a:t>
            </a:r>
          </a:p>
        </p:txBody>
      </p:sp>
      <p:sp>
        <p:nvSpPr>
          <p:cNvPr id="20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Dosing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Precise</a:t>
            </a:r>
          </a:p>
        </p:txBody>
      </p:sp>
      <p:sp>
        <p:nvSpPr>
          <p:cNvPr id="20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Toxicity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1.5-2x dose</a:t>
            </a:r>
          </a:p>
        </p:txBody>
      </p:sp>
      <p:sp>
        <p:nvSpPr>
          <p:cNvPr id="20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Positioning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cxnSp>
        <p:nvCxnSpPr>
          <p:cNvPr id="2005" name="BranchRoot_1"/>
          <p:cNvCxnSpPr>
            <a:stCxn id="2001" idx="1"/>
            <a:endCxn id="2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6" name="BranchL2_1_1"/>
          <p:cNvCxnSpPr>
            <a:stCxn id="2002" idx="1"/>
            <a:endCxn id="20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7" name="BranchL2_1_2"/>
          <p:cNvCxnSpPr>
            <a:stCxn id="2002" idx="1"/>
            <a:endCxn id="20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9" name="BranchRoot_2"/>
          <p:cNvCxnSpPr>
            <a:stCxn id="2001" idx="1"/>
            <a:endCxn id="20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2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9</a:t>
            </a:r>
          </a:p>
        </p:txBody>
      </p:sp>
      <p:sp>
        <p:nvSpPr>
          <p:cNvPr id="10002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Safety profile creates opportunity for premium positioning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enable 30-50% lower dietary inclusion</a:t>
            </a:r>
          </a:p>
        </p:txBody>
      </p:sp>
      <p:sp>
        <p:nvSpPr>
          <p:cNvPr id="21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21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21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21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21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21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Product launch</a:t>
            </a:r>
          </a:p>
        </p:txBody>
      </p:sp>
      <p:sp>
        <p:nvSpPr>
          <p:cNvPr id="21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21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Beta</a:t>
            </a:r>
          </a:p>
        </p:txBody>
      </p:sp>
      <p:sp>
        <p:nvSpPr>
          <p:cNvPr id="21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Marketing</a:t>
            </a:r>
          </a:p>
        </p:txBody>
      </p:sp>
      <p:sp>
        <p:nvSpPr>
          <p:cNvPr id="21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cxnSp>
        <p:nvCxnSpPr>
          <p:cNvPr id="2114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2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8</a:t>
            </a:r>
          </a:p>
        </p:txBody>
      </p:sp>
      <p:sp>
        <p:nvSpPr>
          <p:cNvPr id="10002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Chelation technology delivers both productivity and cost benefits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improve feed conversion ratio by 30%</a:t>
            </a:r>
          </a:p>
        </p:txBody>
      </p:sp>
      <p:sp>
        <p:nvSpPr>
          <p:cNvPr id="2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2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0" name="RadarCurrent"/>
          <p:cNvSpPr/>
          <p:nvPr/>
        </p:nvSpPr>
        <p:spPr>
          <a:xfrm>
            <a:off x="3288231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311769" y="0"/>
                </a:moveTo>
                <a:lnTo>
                  <a:pt x="935307" y="144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Feed efficiency</a:t>
            </a:r>
          </a:p>
        </p:txBody>
      </p:sp>
      <p:sp>
        <p:nvSpPr>
          <p:cNvPr id="2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Data quality</a:t>
            </a:r>
          </a:p>
        </p:txBody>
      </p:sp>
      <p:sp>
        <p:nvSpPr>
          <p:cNvPr id="2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Operational gains</a:t>
            </a:r>
          </a:p>
        </p:txBody>
      </p:sp>
      <p:sp>
        <p:nvSpPr>
          <p:cNvPr id="2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2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2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Nano-SeNPs reduce FCR from 1.60 to 1.15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Focus on validating nano-formulation impacts</a:t>
            </a:r>
          </a:p>
        </p:txBody>
      </p:sp>
      <p:sp>
        <p:nvSpPr>
          <p:cNvPr id="10002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</a:t>
            </a:r>
          </a:p>
        </p:txBody>
      </p:sp>
      <p:sp>
        <p:nvSpPr>
          <p:cNvPr id="10002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deliver significant operational efficiency gains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align with organic certification standards</a:t>
            </a:r>
          </a:p>
        </p:txBody>
      </p:sp>
      <p:sp>
        <p:nvSpPr>
          <p:cNvPr id="23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INVESTMENT LEVEL</a:t>
            </a:r>
          </a:p>
        </p:txBody>
      </p:sp>
      <p:sp>
        <p:nvSpPr>
          <p:cNvPr id="23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23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MONTHS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Optimize core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Cost reduction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Efficiency</a:t>
            </a:r>
          </a:p>
        </p:txBody>
      </p:sp>
      <p:sp>
        <p:nvSpPr>
          <p:cNvPr id="23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3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Build adjacencies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Premium market entry</a:t>
            </a:r>
          </a:p>
        </p:txBody>
      </p:sp>
      <p:sp>
        <p:nvSpPr>
          <p:cNvPr id="23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3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Create the future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Venture exploration</a:t>
            </a:r>
          </a:p>
        </p:txBody>
      </p:sp>
      <p:sp>
        <p:nvSpPr>
          <p:cNvPr id="23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TIME TO MARKET →</a:t>
            </a:r>
          </a:p>
        </p:txBody>
      </p:sp>
      <p:sp>
        <p:nvSpPr>
          <p:cNvPr id="10002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9</a:t>
            </a:r>
          </a:p>
        </p:txBody>
      </p:sp>
      <p:sp>
        <p:nvSpPr>
          <p:cNvPr id="10002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Chelation technology offers clear path to premium markets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340% more patent filings than organic chelates</a:t>
            </a:r>
          </a:p>
        </p:txBody>
      </p:sp>
      <p:cxnSp>
        <p:nvCxnSpPr>
          <p:cNvPr id="24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2407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Patent filings</a:t>
            </a:r>
          </a:p>
        </p:txBody>
      </p:sp>
      <p:sp>
        <p:nvSpPr>
          <p:cNvPr id="2408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2409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IP challenges</a:t>
            </a:r>
          </a:p>
        </p:txBody>
      </p:sp>
      <p:sp>
        <p:nvSpPr>
          <p:cNvPr id="2410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340% increase since 205</a:t>
            </a:r>
          </a:p>
        </p:txBody>
      </p:sp>
      <p:sp>
        <p:nvSpPr>
          <p:cNvPr id="2411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Significant IP hurdles</a:t>
            </a:r>
          </a:p>
        </p:txBody>
      </p:sp>
      <p:sp>
        <p:nvSpPr>
          <p:cNvPr id="2412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Nano-formulations</a:t>
            </a:r>
          </a:p>
        </p:txBody>
      </p:sp>
      <p:sp>
        <p:nvSpPr>
          <p:cNvPr id="2413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Nano-minerals</a:t>
            </a:r>
          </a:p>
        </p:txBody>
      </p:sp>
      <p:sp>
        <p:nvSpPr>
          <p:cNvPr id="2414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KEY DRIVERS</a:t>
            </a:r>
          </a:p>
        </p:txBody>
      </p:sp>
      <p:sp>
        <p:nvSpPr>
          <p:cNvPr id="2415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MARKET IMPACT</a:t>
            </a:r>
          </a:p>
        </p:txBody>
      </p:sp>
      <p:sp>
        <p:nvSpPr>
          <p:cNvPr id="2416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DATA POINTS</a:t>
            </a:r>
          </a:p>
        </p:txBody>
      </p:sp>
      <p:sp>
        <p:nvSpPr>
          <p:cNvPr id="2417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STRATEGIC FOCUS</a:t>
            </a:r>
          </a:p>
        </p:txBody>
      </p:sp>
      <p:sp>
        <p:nvSpPr>
          <p:cNvPr id="10002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11</a:t>
            </a:r>
          </a:p>
        </p:txBody>
      </p:sp>
      <p:sp>
        <p:nvSpPr>
          <p:cNvPr id="10002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present significant IP challenges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achieve 42% gross margin at scale</a:t>
            </a:r>
          </a:p>
        </p:txBody>
      </p:sp>
      <p:sp>
        <p:nvSpPr>
          <p:cNvPr id="25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Gross margin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42%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25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EBITDA margin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24%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10002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28</a:t>
            </a:r>
          </a:p>
        </p:txBody>
      </p:sp>
      <p:sp>
        <p:nvSpPr>
          <p:cNvPr id="10002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Chelation technology delivers strong financial performance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26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Nano-minerals: Regulatory pre-investment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26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First-mover advantage strategy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26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Organic chelates: Faster time-to-market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2611" name="AgendaRow4"/>
          <p:cNvSpPr/>
          <p:nvPr/>
        </p:nvSpPr>
        <p:spPr>
          <a:xfrm>
            <a:off x="5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2" name="AgendaNum4"/>
          <p:cNvSpPr/>
          <p:nvPr/>
        </p:nvSpPr>
        <p:spPr>
          <a:xfrm>
            <a:off x="5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13" name="AgendaTxt4"/>
          <p:cNvSpPr txBox="1"/>
          <p:nvPr/>
        </p:nvSpPr>
        <p:spPr>
          <a:xfrm>
            <a:off x="11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Balancing speed vs. defensibility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2614" name="AgendaRow5"/>
          <p:cNvSpPr/>
          <p:nvPr/>
        </p:nvSpPr>
        <p:spPr>
          <a:xfrm>
            <a:off x="5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5" name="AgendaNum5"/>
          <p:cNvSpPr/>
          <p:nvPr/>
        </p:nvSpPr>
        <p:spPr>
          <a:xfrm>
            <a:off x="5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16" name="AgendaTxt5"/>
          <p:cNvSpPr txBox="1"/>
          <p:nvPr/>
        </p:nvSpPr>
        <p:spPr>
          <a:xfrm>
            <a:off x="11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Regulatory landscape analysis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2617" name="AgendaRow6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8" name="AgendaNum6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19" name="AgendaTxt6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Market opportunities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  <p:sp>
        <p:nvSpPr>
          <p:cNvPr id="2620" name="AgendaRow7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1" name="AgendaNum7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22" name="AgendaTxt7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Financial considerations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7</a:t>
            </a:r>
          </a:p>
        </p:txBody>
      </p:sp>
      <p:sp>
        <p:nvSpPr>
          <p:cNvPr id="2623" name="AgendaRow8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4" name="AgendaNum8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25" name="AgendaTxt8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Risk assessment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8</a:t>
            </a:r>
          </a:p>
        </p:txBody>
      </p:sp>
      <p:sp>
        <p:nvSpPr>
          <p:cNvPr id="2626" name="AgendaRow9"/>
          <p:cNvSpPr/>
          <p:nvPr/>
        </p:nvSpPr>
        <p:spPr>
          <a:xfrm>
            <a:off x="46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7" name="AgendaNum9"/>
          <p:cNvSpPr/>
          <p:nvPr/>
        </p:nvSpPr>
        <p:spPr>
          <a:xfrm>
            <a:off x="46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28" name="AgendaTxt9"/>
          <p:cNvSpPr txBox="1"/>
          <p:nvPr/>
        </p:nvSpPr>
        <p:spPr>
          <a:xfrm>
            <a:off x="52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Conclusion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中国在全球精炼硒产量中占60%，需供应链多元化以规避集中风险。</a:t>
            </a:r>
          </a:p>
        </p:txBody>
      </p:sp>
      <p:sp>
        <p:nvSpPr>
          <p:cNvPr id="2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中国对硒、锌、锰精炼的主导地位</a:t>
            </a:r>
          </a:p>
        </p:txBody>
      </p:sp>
      <p:sp>
        <p:nvSpPr>
          <p:cNvPr id="2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供应链多元化的必要性</a:t>
            </a:r>
          </a:p>
        </p:txBody>
      </p:sp>
      <p:sp>
        <p:nvSpPr>
          <p:cNvPr id="2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潜在替代方案与风险</a:t>
            </a:r>
          </a:p>
        </p:txBody>
      </p:sp>
      <p:sp>
        <p:nvSpPr>
          <p:cNvPr id="2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中国是全球硒、锌、锰精炼的主要生产国，占比显著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中国供应链集中度高，单一国家依赖风险大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中国政策或地缘因素可能影响全球供应稳定性</a:t>
            </a:r>
          </a:p>
        </p:txBody>
      </p:sp>
      <p:sp>
        <p:nvSpPr>
          <p:cNvPr id="2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依赖单一国家供应链可能导致价格波动和交付延迟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多元化供应商可降低市场波动风险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全球化供应链可提高生产效率和成本控制</a:t>
            </a:r>
          </a:p>
        </p:txBody>
      </p:sp>
      <p:sp>
        <p:nvSpPr>
          <p:cNvPr id="2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其他国家如印度、巴西可能成为替代来源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技术进步可能降低对特定矿产的依赖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政策变化或贸易限制可能影响供应链稳定性</a:t>
            </a:r>
          </a:p>
        </p:txBody>
      </p:sp>
      <p:cxnSp>
        <p:nvCxnSpPr>
          <p:cNvPr id="2708" name="PyramidConn1"/>
          <p:cNvCxnSpPr>
            <a:stCxn id="2701" idx="2"/>
            <a:endCxn id="2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09" name="PyramidConn2"/>
          <p:cNvCxnSpPr>
            <a:stCxn id="2701" idx="2"/>
            <a:endCxn id="2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10" name="PyramidConn3"/>
          <p:cNvCxnSpPr>
            <a:stCxn id="2701" idx="2"/>
            <a:endCxn id="2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production</a:t>
            </a:r>
          </a:p>
        </p:txBody>
      </p:sp>
      <p:sp>
        <p:nvSpPr>
          <p:cNvPr id="2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Cargill, Skretting/Nutreco, and BioMar dominate shrimp feed production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50-55% market share in shrimp feed production</a:t>
            </a:r>
          </a:p>
        </p:txBody>
      </p:sp>
      <p:sp>
        <p:nvSpPr>
          <p:cNvPr id="2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Dependence on strategic partnerships with feed mills</a:t>
            </a:r>
          </a:p>
        </p:txBody>
      </p:sp>
      <p:sp>
        <p:nvSpPr>
          <p:cNvPr id="2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Critical for market access and production efficiency</a:t>
            </a:r>
          </a:p>
        </p:txBody>
      </p:sp>
      <p:sp>
        <p:nvSpPr>
          <p:cNvPr id="2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other feed producers</a:t>
            </a:r>
          </a:p>
        </p:txBody>
      </p:sp>
      <p:sp>
        <p:nvSpPr>
          <p:cNvPr id="10002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2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Strategic partnerships with feed mills are critical for market access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70% of intensive shrimp farms use probiotics/health products</a:t>
            </a:r>
          </a:p>
        </p:txBody>
      </p:sp>
      <p:sp>
        <p:nvSpPr>
          <p:cNvPr id="2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2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ADOPTION, LOW IMPACT</a:t>
            </a:r>
          </a:p>
        </p:txBody>
      </p:sp>
      <p:sp>
        <p:nvSpPr>
          <p:cNvPr id="2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ADOPTION, LOW IMPACT</a:t>
            </a:r>
          </a:p>
        </p:txBody>
      </p:sp>
      <p:sp>
        <p:nvSpPr>
          <p:cNvPr id="2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ADOPTION, HIGH IMPACT</a:t>
            </a:r>
          </a:p>
        </p:txBody>
      </p:sp>
      <p:sp>
        <p:nvSpPr>
          <p:cNvPr id="2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ADOPTION, HIGH IMPACT</a:t>
            </a:r>
          </a:p>
        </p:txBody>
      </p:sp>
      <p:sp>
        <p:nvSpPr>
          <p:cNvPr id="2912" name="Bubble1"/>
          <p:cNvSpPr/>
          <p:nvPr/>
        </p:nvSpPr>
        <p:spPr>
          <a:xfrm>
            <a:off x="5808000" y="43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Vietnam</a:t>
            </a:r>
          </a:p>
        </p:txBody>
      </p:sp>
      <p:sp>
        <p:nvSpPr>
          <p:cNvPr id="2913" name="Bubble2"/>
          <p:cNvSpPr/>
          <p:nvPr/>
        </p:nvSpPr>
        <p:spPr>
          <a:xfrm>
            <a:off x="5808000" y="43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2914" name="Bubble3"/>
          <p:cNvSpPr/>
          <p:nvPr/>
        </p:nvSpPr>
        <p:spPr>
          <a:xfrm>
            <a:off x="5808000" y="43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Ecuador</a:t>
            </a:r>
          </a:p>
        </p:txBody>
      </p:sp>
      <p:sp>
        <p:nvSpPr>
          <p:cNvPr id="2915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ADOPTION →</a:t>
            </a:r>
          </a:p>
        </p:txBody>
      </p:sp>
      <p:sp>
        <p:nvSpPr>
          <p:cNvPr id="2916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IMPACT ↑</a:t>
            </a:r>
          </a:p>
        </p:txBody>
      </p:sp>
      <p:sp>
        <p:nvSpPr>
          <p:cNvPr id="10002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2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Functional-feed integration offers growth opportunities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340% increase in nano-mineral patent filings since 2015</a:t>
            </a:r>
          </a:p>
        </p:txBody>
      </p:sp>
      <p:graphicFrame>
        <p:nvGraphicFramePr>
          <p:cNvPr id="30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340% increase in nano-mineral patent filings since 2015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White space exists in nano-mineral formulations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11</a:t>
            </a:r>
          </a:p>
        </p:txBody>
      </p:sp>
      <p:sp>
        <p:nvSpPr>
          <p:cNvPr id="10003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White space exists in nano-mineral formulations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Particle aggregation is the biggest nano-mineral challenge</a:t>
            </a:r>
          </a:p>
        </p:txBody>
      </p:sp>
      <p:sp>
        <p:nvSpPr>
          <p:cNvPr id="3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Risk</a:t>
            </a:r>
          </a:p>
        </p:txBody>
      </p:sp>
      <p:sp>
        <p:nvSpPr>
          <p:cNvPr id="3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3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3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3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3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3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3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3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3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12</a:t>
            </a:r>
          </a:p>
        </p:txBody>
      </p:sp>
      <p:sp>
        <p:nvSpPr>
          <p:cNvPr id="10003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Commercial-scale stabilisation protocols must be validated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No nano-specific feed additive category in EU or US</a:t>
            </a:r>
          </a:p>
        </p:txBody>
      </p:sp>
      <p:sp>
        <p:nvSpPr>
          <p:cNvPr id="3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Regulatory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Pending</a:t>
            </a:r>
            <a:r>
              <a:rPr lang="en-US" sz="1100" b="1" dirty="0">
                <a:solidFill>
                  <a:srgbClr val="595959"/>
                </a:solidFill>
                <a:latin typeface="Calibri"/>
              </a:rPr>
              <a:t> ◆ 2027-2028</a:t>
            </a:r>
          </a:p>
        </p:txBody>
      </p:sp>
      <p:sp>
        <p:nvSpPr>
          <p:cNvPr id="3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Feed Additive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No EU/US</a:t>
            </a:r>
          </a:p>
        </p:txBody>
      </p:sp>
      <p:sp>
        <p:nvSpPr>
          <p:cNvPr id="3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EFSA Opinion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Pending</a:t>
            </a:r>
          </a:p>
        </p:txBody>
      </p:sp>
      <p:sp>
        <p:nvSpPr>
          <p:cNvPr id="3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Pre-investment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Needed</a:t>
            </a:r>
          </a:p>
        </p:txBody>
      </p:sp>
      <p:cxnSp>
        <p:nvCxnSpPr>
          <p:cNvPr id="3204" name="BranchRoot_1"/>
          <p:cNvCxnSpPr>
            <a:stCxn id="3201" idx="1"/>
            <a:endCxn id="3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5" name="BranchL2_1_1"/>
          <p:cNvCxnSpPr>
            <a:stCxn id="3202" idx="1"/>
            <a:endCxn id="3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7" name="BranchRoot_2"/>
          <p:cNvCxnSpPr>
            <a:stCxn id="3201" idx="1"/>
            <a:endCxn id="3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3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13</a:t>
            </a:r>
          </a:p>
        </p:txBody>
      </p:sp>
      <p:sp>
        <p:nvSpPr>
          <p:cNvPr id="10003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pre-investment is needed to secure approvals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reduce mineral excretion by 40%</a:t>
            </a:r>
          </a:p>
        </p:txBody>
      </p:sp>
      <p:sp>
        <p:nvSpPr>
          <p:cNvPr id="3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Q1'25</a:t>
            </a:r>
          </a:p>
        </p:txBody>
      </p:sp>
      <p:sp>
        <p:nvSpPr>
          <p:cNvPr id="3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Q2'25</a:t>
            </a:r>
          </a:p>
        </p:txBody>
      </p:sp>
      <p:sp>
        <p:nvSpPr>
          <p:cNvPr id="3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Q3'25</a:t>
            </a:r>
          </a:p>
        </p:txBody>
      </p:sp>
      <p:sp>
        <p:nvSpPr>
          <p:cNvPr id="3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Q4'25</a:t>
            </a:r>
          </a:p>
        </p:txBody>
      </p:sp>
      <p:cxnSp>
        <p:nvCxnSpPr>
          <p:cNvPr id="33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3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3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3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Product development</a:t>
            </a:r>
          </a:p>
        </p:txBody>
      </p:sp>
      <p:sp>
        <p:nvSpPr>
          <p:cNvPr id="33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R&amp;D</a:t>
            </a:r>
          </a:p>
        </p:txBody>
      </p:sp>
      <p:sp>
        <p:nvSpPr>
          <p:cNvPr id="33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Pilot</a:t>
            </a:r>
          </a:p>
        </p:txBody>
      </p:sp>
      <p:sp>
        <p:nvSpPr>
          <p:cNvPr id="33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Sales &amp; marketing</a:t>
            </a:r>
          </a:p>
        </p:txBody>
      </p:sp>
      <p:sp>
        <p:nvSpPr>
          <p:cNvPr id="33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cxnSp>
        <p:nvCxnSpPr>
          <p:cNvPr id="3314" name="TodayLine"/>
          <p:cNvCxnSpPr>
    </p:cNvCxnSpPr>
          <p:nvPr/>
        </p:nvCxnSpPr>
        <p:spPr>
          <a:xfrm>
            <a:off x="2200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3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3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immediate revenue opportunity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Nano-SeNPs improve FCR from 1.60 to 1.15</a:t>
            </a:r>
          </a:p>
        </p:txBody>
      </p:sp>
      <p:sp>
        <p:nvSpPr>
          <p:cNvPr id="3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4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0" name="RadarCurrent"/>
          <p:cNvSpPr/>
          <p:nvPr/>
        </p:nvSpPr>
        <p:spPr>
          <a:xfrm>
            <a:off x="3288231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311769" y="0"/>
                </a:moveTo>
                <a:lnTo>
                  <a:pt x="935307" y="144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Feed cost savings</a:t>
            </a:r>
          </a:p>
        </p:txBody>
      </p:sp>
      <p:sp>
        <p:nvSpPr>
          <p:cNvPr id="3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Adoption rate</a:t>
            </a:r>
          </a:p>
        </p:txBody>
      </p:sp>
      <p:sp>
        <p:nvSpPr>
          <p:cNvPr id="3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Scalability</a:t>
            </a:r>
          </a:p>
        </p:txBody>
      </p:sp>
      <p:sp>
        <p:nvSpPr>
          <p:cNvPr id="3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3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3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Nano-SeNPs reduce feed costs by $0.35-$0.60/kg shrimp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Long-term cost advantages demonstrated in shrimp farming</a:t>
            </a:r>
          </a:p>
        </p:txBody>
      </p:sp>
      <p:sp>
        <p:nvSpPr>
          <p:cNvPr id="10003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</a:t>
            </a:r>
          </a:p>
        </p:txBody>
      </p:sp>
      <p:sp>
        <p:nvSpPr>
          <p:cNvPr id="10003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offer long-term cost advantages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Top 10 shrimp farming groups control 25-30% of global volume</a:t>
            </a:r>
          </a:p>
        </p:txBody>
      </p:sp>
      <p:sp>
        <p:nvSpPr>
          <p:cNvPr id="35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INVESTMENT LEVEL</a:t>
            </a:r>
          </a:p>
        </p:txBody>
      </p:sp>
      <p:sp>
        <p:nvSpPr>
          <p:cNvPr id="35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35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MONTHS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Optimize core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Cost reduction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Efficiency</a:t>
            </a:r>
          </a:p>
        </p:txBody>
      </p:sp>
      <p:sp>
        <p:nvSpPr>
          <p:cNvPr id="35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35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Build adjacencies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New market entry</a:t>
            </a:r>
          </a:p>
        </p:txBody>
      </p:sp>
      <p:sp>
        <p:nvSpPr>
          <p:cNvPr id="35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35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Create the future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Venture exploration</a:t>
            </a:r>
          </a:p>
        </p:txBody>
      </p:sp>
      <p:sp>
        <p:nvSpPr>
          <p:cNvPr id="35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TIME TO MARKET →</a:t>
            </a:r>
          </a:p>
        </p:txBody>
      </p:sp>
      <p:sp>
        <p:nvSpPr>
          <p:cNvPr id="10003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3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Diversify customer base to mitigate concentration risks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Build-first, partner-overlay strategy recommended</a:t>
            </a:r>
          </a:p>
        </p:txBody>
      </p:sp>
      <p:cxnSp>
        <p:nvCxnSpPr>
          <p:cNvPr id="36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3607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608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3609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3610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3611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Suppliers</a:t>
            </a:r>
          </a:p>
        </p:txBody>
      </p:sp>
      <p:sp>
        <p:nvSpPr>
          <p:cNvPr id="3612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Media</a:t>
            </a:r>
          </a:p>
        </p:txBody>
      </p:sp>
      <p:sp>
        <p:nvSpPr>
          <p:cNvPr id="3613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Your company</a:t>
            </a:r>
          </a:p>
        </p:txBody>
      </p:sp>
      <p:sp>
        <p:nvSpPr>
          <p:cNvPr id="3614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3615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3616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3617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3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28</a:t>
            </a:r>
          </a:p>
        </p:txBody>
      </p:sp>
      <p:sp>
        <p:nvSpPr>
          <p:cNvPr id="10003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Phased execution with strategic partnerships is key to success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The $28.5B aquaculture mineral supplement market offers a major opportunity for innovation.</a:t>
            </a:r>
          </a:p>
        </p:txBody>
      </p:sp>
      <p:sp>
        <p:nvSpPr>
          <p:cNvPr id="3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Market growth potential</a:t>
            </a:r>
          </a:p>
        </p:txBody>
      </p:sp>
      <p:sp>
        <p:nvSpPr>
          <p:cNvPr id="3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Innovation drivers</a:t>
            </a:r>
          </a:p>
        </p:txBody>
      </p:sp>
      <p:sp>
        <p:nvSpPr>
          <p:cNvPr id="3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3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Projected to grow from $17.0B (2025) to $28.5B (2034) at 6.2% CAGR.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Represents a 67.6% increase over the forecast period.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Driven by increasing demand for sustainable aquaculture practices.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Opportunity for new mineral supplement formulations.</a:t>
            </a:r>
          </a:p>
        </p:txBody>
      </p:sp>
      <p:sp>
        <p:nvSpPr>
          <p:cNvPr id="3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Rising consumer preference for mineral-enriched seafood.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Regulatory push for healthier aquaculture feed formulations.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Technological advancements in mineral delivery systems.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Growing demand for trace minerals in aquaculture feed.</a:t>
            </a:r>
          </a:p>
        </p:txBody>
      </p:sp>
      <p:sp>
        <p:nvSpPr>
          <p:cNvPr id="3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Limited number of established mineral supplement providers.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Opportunity for new entrants with differentiated solutions.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Potential partnerships with aquaculture feed manufacturers.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Growing interest from health-focused seafood brands.</a:t>
            </a:r>
          </a:p>
        </p:txBody>
      </p:sp>
      <p:cxnSp>
        <p:nvCxnSpPr>
          <p:cNvPr id="3708" name="PyramidConn1"/>
          <p:cNvCxnSpPr>
            <a:stCxn id="3701" idx="2"/>
            <a:endCxn id="3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09" name="PyramidConn2"/>
          <p:cNvCxnSpPr>
            <a:stCxn id="3701" idx="2"/>
            <a:endCxn id="3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10" name="PyramidConn3"/>
          <p:cNvCxnSpPr>
            <a:stCxn id="3701" idx="2"/>
            <a:endCxn id="3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Shrimp feed trace-mineral segment will grow to $6.4B by 2035</a:t>
            </a:r>
          </a:p>
        </p:txBody>
      </p:sp>
      <p:sp>
        <p:nvSpPr>
          <p:cNvPr id="3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Current size: $4.3–4.6B (2024–25)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Projected: $6.4B (2035)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CAGR: 4.2–4.9%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Most promising segment for mineral supplements</a:t>
            </a:r>
          </a:p>
        </p:txBody>
      </p:sp>
      <p:sp>
        <p:nvSpPr>
          <p:cNvPr id="3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innovation in shrimp mineral supplements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regulatory hurdles</a:t>
            </a:r>
          </a:p>
        </p:txBody>
      </p:sp>
      <p:sp>
        <p:nvSpPr>
          <p:cNvPr id="3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demand for sustainable shrimp farming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Increasing focus on trace minerals in aquaculture</a:t>
            </a:r>
          </a:p>
        </p:txBody>
      </p:sp>
      <p:sp>
        <p:nvSpPr>
          <p:cNvPr id="3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traditional feed suppliers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Volatility in shrimp market prices</a:t>
            </a:r>
          </a:p>
        </p:txBody>
      </p:sp>
      <p:sp>
        <p:nvSpPr>
          <p:cNvPr id="10003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3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Shrimp represents the most promising segment for mineral supplement innovation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enable 30-50% lower dietary inclusion for equivalent…</a:t>
            </a:r>
          </a:p>
        </p:txBody>
      </p:sp>
      <p:sp>
        <p:nvSpPr>
          <p:cNvPr id="3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3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3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LOW PERF</a:t>
            </a:r>
          </a:p>
        </p:txBody>
      </p:sp>
      <p:sp>
        <p:nvSpPr>
          <p:cNvPr id="3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HIGH PERF</a:t>
            </a:r>
          </a:p>
        </p:txBody>
      </p:sp>
      <p:sp>
        <p:nvSpPr>
          <p:cNvPr id="3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LOW PERF</a:t>
            </a:r>
          </a:p>
        </p:txBody>
      </p:sp>
      <p:sp>
        <p:nvSpPr>
          <p:cNvPr id="3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HIGH PERF</a:t>
            </a:r>
          </a:p>
        </p:txBody>
      </p:sp>
      <p:sp>
        <p:nvSpPr>
          <p:cNvPr id="3912" name="Bubble1"/>
          <p:cNvSpPr/>
          <p:nvPr/>
        </p:nvSpPr>
        <p:spPr>
          <a:xfrm>
            <a:off x="570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3913" name="Bubble2"/>
          <p:cNvSpPr/>
          <p:nvPr/>
        </p:nvSpPr>
        <p:spPr>
          <a:xfrm>
            <a:off x="3088000" y="346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Inorganic Equiv.</a:t>
            </a:r>
          </a:p>
        </p:txBody>
      </p:sp>
      <p:sp>
        <p:nvSpPr>
          <p:cNvPr id="39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COST EFFICIENCY →</a:t>
            </a:r>
          </a:p>
        </p:txBody>
      </p:sp>
      <p:sp>
        <p:nvSpPr>
          <p:cNvPr id="39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PERFORMANCE ↑</a:t>
            </a:r>
          </a:p>
        </p:txBody>
      </p:sp>
      <p:sp>
        <p:nvSpPr>
          <p:cNvPr id="10003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3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significant cost and performance advantages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Nano-SeNPs deliver 57% final weight gain vs. inorganic selenium control</a:t>
            </a:r>
          </a:p>
        </p:txBody>
      </p:sp>
      <p:sp>
        <p:nvSpPr>
          <p:cNvPr id="4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40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NANO-SENPS</a:t>
            </a:r>
          </a:p>
        </p:txBody>
      </p:sp>
      <p:sp>
        <p:nvSpPr>
          <p:cNvPr id="40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INORGANIC SELENIUM</a:t>
            </a:r>
          </a:p>
        </p:txBody>
      </p:sp>
      <p:sp>
        <p:nvSpPr>
          <p:cNvPr id="40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Weight Gain</a:t>
            </a:r>
          </a:p>
        </p:txBody>
      </p:sp>
      <p:sp>
        <p:nvSpPr>
          <p:cNvPr id="40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0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0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Mortality Reduction</a:t>
            </a:r>
          </a:p>
        </p:txBody>
      </p:sp>
      <p:sp>
        <p:nvSpPr>
          <p:cNvPr id="40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0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0004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(2023)</a:t>
            </a:r>
          </a:p>
        </p:txBody>
      </p:sp>
      <p:sp>
        <p:nvSpPr>
          <p:cNvPr id="10004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offer significant productivity improvements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4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Risk</a:t>
            </a:r>
          </a:p>
        </p:txBody>
      </p:sp>
      <p:sp>
        <p:nvSpPr>
          <p:cNvPr id="41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Opportunity</a:t>
            </a:r>
          </a:p>
        </p:txBody>
      </p:sp>
      <p:sp>
        <p:nvSpPr>
          <p:cNvPr id="41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1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1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1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1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1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1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41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4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Customer concentration presents both opportunities and risks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Regulatory clarity on nano-minerals expected by Q2 2027</a:t>
            </a:r>
          </a:p>
        </p:txBody>
      </p:sp>
      <p:sp>
        <p:nvSpPr>
          <p:cNvPr id="4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Regulatory risk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EU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No clarity</a:t>
            </a:r>
          </a:p>
        </p:txBody>
      </p:sp>
      <p:sp>
        <p:nvSpPr>
          <p:cNvPr id="4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Feed additive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No category</a:t>
            </a:r>
          </a:p>
        </p:txBody>
      </p:sp>
      <p:sp>
        <p:nvSpPr>
          <p:cNvPr id="4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US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4207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FDA guidance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In progress</a:t>
            </a:r>
          </a:p>
        </p:txBody>
      </p:sp>
      <p:sp>
        <p:nvSpPr>
          <p:cNvPr id="4210" name="DriverL2_3"/>
          <p:cNvSpPr/>
          <p:nvPr/>
        </p:nvSpPr>
        <p:spPr>
          <a:xfrm>
            <a:off x="2900000" y="450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China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Pilot phase</a:t>
            </a:r>
          </a:p>
        </p:txBody>
      </p:sp>
      <p:sp>
        <p:nvSpPr>
          <p:cNvPr id="4211" name="DriverL3_3_1"/>
          <p:cNvSpPr/>
          <p:nvPr/>
        </p:nvSpPr>
        <p:spPr>
          <a:xfrm>
            <a:off x="5300000" y="459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Programs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Ongoing</a:t>
            </a:r>
          </a:p>
        </p:txBody>
      </p:sp>
      <p:cxnSp>
        <p:nvCxnSpPr>
          <p:cNvPr id="4204" name="BranchRoot_1"/>
          <p:cNvCxnSpPr>
            <a:stCxn id="4201" idx="1"/>
            <a:endCxn id="4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5" name="BranchL2_1_1"/>
          <p:cNvCxnSpPr>
            <a:stCxn id="4202" idx="1"/>
            <a:endCxn id="4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8" name="BranchRoot_2"/>
          <p:cNvCxnSpPr>
            <a:stCxn id="4201" idx="1"/>
            <a:endCxn id="4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9" name="BranchL2_2_1"/>
          <p:cNvCxnSpPr>
            <a:stCxn id="4206" idx="1"/>
            <a:endCxn id="4207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12" name="BranchRoot_3"/>
          <p:cNvCxnSpPr>
            <a:stCxn id="4201" idx="1"/>
            <a:endCxn id="4210" idx="3"/>
          </p:cNvCxnSpPr>
          <p:nvPr/>
        </p:nvCxnSpPr>
        <p:spPr>
          <a:xfrm>
            <a:off x="2357200" y="342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13" name="BranchL2_3_1"/>
          <p:cNvCxnSpPr>
            <a:stCxn id="4210" idx="1"/>
            <a:endCxn id="4211" idx="3"/>
          </p:cNvCxnSpPr>
          <p:nvPr/>
        </p:nvCxnSpPr>
        <p:spPr>
          <a:xfrm>
            <a:off x="4800000" y="486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4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uncertainty remains a key risk factor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 challenges include particle aggregation and dose precision</a:t>
            </a:r>
          </a:p>
        </p:txBody>
      </p:sp>
      <p:sp>
        <p:nvSpPr>
          <p:cNvPr id="4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4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4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4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43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3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3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4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Particle aggregation</a:t>
            </a:r>
          </a:p>
        </p:txBody>
      </p:sp>
      <p:sp>
        <p:nvSpPr>
          <p:cNvPr id="43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Feed processing</a:t>
            </a:r>
          </a:p>
        </p:txBody>
      </p:sp>
      <p:sp>
        <p:nvSpPr>
          <p:cNvPr id="43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Validation</a:t>
            </a:r>
          </a:p>
        </p:txBody>
      </p:sp>
      <p:sp>
        <p:nvSpPr>
          <p:cNvPr id="43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Dose precision</a:t>
            </a:r>
          </a:p>
        </p:txBody>
      </p:sp>
      <p:sp>
        <p:nvSpPr>
          <p:cNvPr id="43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±5% CV</a:t>
            </a:r>
          </a:p>
        </p:txBody>
      </p:sp>
      <p:cxnSp>
        <p:nvCxnSpPr>
          <p:cNvPr id="4314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4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Technical validation is critical for commercial success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Anchor on organic chelates (Q3 2026–Q1 2027) to secure immediate…</a:t>
            </a:r>
          </a:p>
        </p:txBody>
      </p:sp>
      <p:sp>
        <p:nvSpPr>
          <p:cNvPr id="4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409" name="RadarTarget"/>
          <p:cNvSpPr/>
          <p:nvPr/>
        </p:nvSpPr>
        <p:spPr>
          <a:xfrm>
            <a:off x="2976462" y="2640000"/>
            <a:ext cx="1870615" cy="1800000"/>
          </a:xfrm>
          <a:custGeom>
            <a:avLst/>
            <a:gdLst/>
            <a:ahLst/>
            <a:cxnLst/>
            <a:rect l="0" t="0" r="1870615" b="1800000"/>
            <a:pathLst>
              <a:path w="1870615" h="1800000">
                <a:moveTo>
                  <a:pt x="623538" y="0"/>
                </a:moveTo>
                <a:lnTo>
                  <a:pt x="1870615" y="1800000"/>
                </a:lnTo>
                <a:lnTo>
                  <a:pt x="0" y="14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0" name="RadarCurrent"/>
          <p:cNvSpPr/>
          <p:nvPr/>
        </p:nvSpPr>
        <p:spPr>
          <a:xfrm>
            <a:off x="3600000" y="3360000"/>
            <a:ext cx="623538" cy="720000"/>
          </a:xfrm>
          <a:custGeom>
            <a:avLst/>
            <a:gdLst/>
            <a:ahLst/>
            <a:cxnLst/>
            <a:rect l="0" t="0" r="623538" b="720000"/>
            <a:pathLst>
              <a:path w="623538" h="720000">
                <a:moveTo>
                  <a:pt x="0" y="0"/>
                </a:moveTo>
                <a:lnTo>
                  <a:pt x="623538" y="720000"/>
                </a:lnTo>
                <a:lnTo>
                  <a:pt x="0" y="3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Phased approach</a:t>
            </a:r>
          </a:p>
        </p:txBody>
      </p:sp>
      <p:sp>
        <p:nvSpPr>
          <p:cNvPr id="4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Organic chelates</a:t>
            </a:r>
          </a:p>
        </p:txBody>
      </p:sp>
      <p:sp>
        <p:nvSpPr>
          <p:cNvPr id="4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Nano-mineral</a:t>
            </a:r>
          </a:p>
        </p:txBody>
      </p:sp>
      <p:sp>
        <p:nvSpPr>
          <p:cNvPr id="4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4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4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Build-first, partner-overlay approach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Focus on organic chelates first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Expand to nano-mineral platform later</a:t>
            </a:r>
          </a:p>
        </p:txBody>
      </p:sp>
      <p:sp>
        <p:nvSpPr>
          <p:cNvPr id="10004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 phased approach minimizes risk while maximizing opportunity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deliver 1.5-3x growth improvements vs. inorganic salts, but require scale-up validation.</a:t>
            </a:r>
          </a:p>
        </p:txBody>
      </p:sp>
      <p:sp>
        <p:nvSpPr>
          <p:cNvPr id="4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Productivity benefits of nano-formulations</a:t>
            </a:r>
          </a:p>
        </p:txBody>
      </p:sp>
      <p:sp>
        <p:nvSpPr>
          <p:cNvPr id="4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Scale-up validation required</a:t>
            </a:r>
          </a:p>
        </p:txBody>
      </p:sp>
      <p:sp>
        <p:nvSpPr>
          <p:cNvPr id="4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Potential limitations of nano-minerals</a:t>
            </a:r>
          </a:p>
        </p:txBody>
      </p:sp>
      <p:sp>
        <p:nvSpPr>
          <p:cNvPr id="4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57% weight gain with nano-SeNPs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30% weight gain with clay-supported ZnO-K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1.5-3x growth improvements vs. inorganic salts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Clear evidence of enhanced plant performance</a:t>
            </a:r>
          </a:p>
        </p:txBody>
      </p:sp>
      <p:sp>
        <p:nvSpPr>
          <p:cNvPr id="4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Nano-formulations show promise but need industrial-scale testing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Potential challenges in consistent application at large scale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Validation ensures long-term viability of nano-minerals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Scale-up validation is critical for commercial adoption</a:t>
            </a:r>
          </a:p>
        </p:txBody>
      </p:sp>
      <p:sp>
        <p:nvSpPr>
          <p:cNvPr id="4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Environmental impact of nano-particles needs assessment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Cost-effectiveness compared to traditional fertilizers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Regulatory approval for nano-agricultural products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Long-term stability and degradation of nano-formulations</a:t>
            </a:r>
          </a:p>
        </p:txBody>
      </p:sp>
      <p:cxnSp>
        <p:nvCxnSpPr>
          <p:cNvPr id="4508" name="PyramidConn1"/>
          <p:cNvCxnSpPr>
            <a:stCxn id="4501" idx="2"/>
            <a:endCxn id="4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09" name="PyramidConn2"/>
          <p:cNvCxnSpPr>
            <a:stCxn id="4501" idx="2"/>
            <a:endCxn id="4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10" name="PyramidConn3"/>
          <p:cNvCxnSpPr>
            <a:stCxn id="4501" idx="2"/>
            <a:endCxn id="4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reduce mineral excretion by 40% vs. inorganic equivalents</a:t>
            </a:r>
          </a:p>
        </p:txBody>
      </p:sp>
      <p:sp>
        <p:nvSpPr>
          <p:cNvPr id="4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reduction in mineral excretion vs. inorganic chelates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Cost savings: $0.50-$1.50/kg in compliance costs</a:t>
            </a:r>
          </a:p>
        </p:txBody>
      </p:sp>
      <p:sp>
        <p:nvSpPr>
          <p:cNvPr id="4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Limited data on long-term environmental impact</a:t>
            </a:r>
          </a:p>
        </p:txBody>
      </p:sp>
      <p:sp>
        <p:nvSpPr>
          <p:cNvPr id="4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Cost-competitive with inorganic alternatives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Environmentally friendly solutions</a:t>
            </a:r>
          </a:p>
        </p:txBody>
      </p:sp>
      <p:sp>
        <p:nvSpPr>
          <p:cNvPr id="4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regulatory hurdles for organic chelates</a:t>
            </a:r>
          </a:p>
        </p:txBody>
      </p:sp>
      <p:sp>
        <p:nvSpPr>
          <p:cNvPr id="10004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(2025)</a:t>
            </a:r>
          </a:p>
        </p:txBody>
      </p:sp>
      <p:sp>
        <p:nvSpPr>
          <p:cNvPr id="10004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Chelates enable cost-competitive, environmentally friendly solutions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47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7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47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7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SHARE, LOW CONCENTRATION</a:t>
            </a:r>
          </a:p>
        </p:txBody>
      </p:sp>
      <p:sp>
        <p:nvSpPr>
          <p:cNvPr id="47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SHARE, HIGH CONCENTRATION</a:t>
            </a:r>
          </a:p>
        </p:txBody>
      </p:sp>
      <p:sp>
        <p:nvSpPr>
          <p:cNvPr id="47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SHARE, LOW CONCENTRATION</a:t>
            </a:r>
          </a:p>
        </p:txBody>
      </p:sp>
      <p:sp>
        <p:nvSpPr>
          <p:cNvPr id="47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SHARE, HIGH CONCENTRATION</a:t>
            </a:r>
          </a:p>
        </p:txBody>
      </p:sp>
      <p:sp>
        <p:nvSpPr>
          <p:cNvPr id="47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Shrimp Feed</a:t>
            </a:r>
          </a:p>
        </p:txBody>
      </p:sp>
      <p:sp>
        <p:nvSpPr>
          <p:cNvPr id="47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MARKET SHARE →</a:t>
            </a:r>
          </a:p>
        </p:txBody>
      </p:sp>
      <p:sp>
        <p:nvSpPr>
          <p:cNvPr id="47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CUSTOMER CONCENTRATION ↑</a:t>
            </a:r>
          </a:p>
        </p:txBody>
      </p:sp>
      <p:sp>
        <p:nvSpPr>
          <p:cNvPr id="10004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Customer concentration creates both opportunities and risks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Regulatory pathways for nano-minerals remain unclear in key markets</a:t>
            </a:r>
          </a:p>
        </p:txBody>
      </p:sp>
      <p:sp>
        <p:nvSpPr>
          <p:cNvPr id="4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48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EU</a:t>
            </a:r>
          </a:p>
        </p:txBody>
      </p:sp>
      <p:sp>
        <p:nvSpPr>
          <p:cNvPr id="48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48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clarity</a:t>
            </a:r>
          </a:p>
        </p:txBody>
      </p:sp>
      <p:sp>
        <p:nvSpPr>
          <p:cNvPr id="48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48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48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Pending opinions</a:t>
            </a:r>
          </a:p>
        </p:txBody>
      </p:sp>
      <p:sp>
        <p:nvSpPr>
          <p:cNvPr id="48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48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◔</a:t>
            </a:r>
          </a:p>
        </p:txBody>
      </p:sp>
      <p:sp>
        <p:nvSpPr>
          <p:cNvPr id="4810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Novel pathways</a:t>
            </a:r>
          </a:p>
        </p:txBody>
      </p:sp>
      <p:sp>
        <p:nvSpPr>
          <p:cNvPr id="4811" name="HvCell3_1"/>
          <p:cNvSpPr txBox="1"/>
          <p:nvPr/>
        </p:nvSpPr>
        <p:spPr>
          <a:xfrm>
            <a:off x="31572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◔</a:t>
            </a:r>
          </a:p>
        </p:txBody>
      </p:sp>
      <p:sp>
        <p:nvSpPr>
          <p:cNvPr id="4812" name="HvCell3_2"/>
          <p:cNvSpPr txBox="1"/>
          <p:nvPr/>
        </p:nvSpPr>
        <p:spPr>
          <a:xfrm>
            <a:off x="59220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0004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16</a:t>
            </a:r>
          </a:p>
        </p:txBody>
      </p:sp>
      <p:sp>
        <p:nvSpPr>
          <p:cNvPr id="10004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clarity is critical for commercialization timeline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 stability remains unresolved at commercial scale</a:t>
            </a:r>
          </a:p>
        </p:txBody>
      </p:sp>
      <p:sp>
        <p:nvSpPr>
          <p:cNvPr id="49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9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Moderate</a:t>
            </a:r>
          </a:p>
        </p:txBody>
      </p:sp>
      <p:sp>
        <p:nvSpPr>
          <p:cNvPr id="49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Minor</a:t>
            </a:r>
          </a:p>
        </p:txBody>
      </p:sp>
      <p:sp>
        <p:nvSpPr>
          <p:cNvPr id="49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9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9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9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9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9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9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49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4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11</a:t>
            </a:r>
          </a:p>
        </p:txBody>
      </p:sp>
      <p:sp>
        <p:nvSpPr>
          <p:cNvPr id="10004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Technical validation is prerequisite for commercial success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Base-case NPV of $41.9M at 19.6% IRR with 5.5-year payback</a:t>
            </a:r>
          </a:p>
        </p:txBody>
      </p:sp>
      <p:sp>
        <p:nvSpPr>
          <p:cNvPr id="5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Revenue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$41.9M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7.0% CAGR</a:t>
            </a:r>
          </a:p>
        </p:txBody>
      </p:sp>
      <p:sp>
        <p:nvSpPr>
          <p:cNvPr id="5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Gross margin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42%</a:t>
            </a:r>
          </a:p>
        </p:txBody>
      </p:sp>
      <p:sp>
        <p:nvSpPr>
          <p:cNvPr id="5004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EBITDA margin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24%</a:t>
            </a:r>
          </a:p>
        </p:txBody>
      </p:sp>
      <p:cxnSp>
        <p:nvCxnSpPr>
          <p:cNvPr id="5003" name="BranchRoot_1"/>
          <p:cNvCxnSpPr>
            <a:stCxn id="5001" idx="1"/>
            <a:endCxn id="5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005" name="BranchRoot_2"/>
          <p:cNvCxnSpPr>
            <a:stCxn id="5001" idx="1"/>
            <a:endCxn id="5004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5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28</a:t>
            </a:r>
          </a:p>
        </p:txBody>
      </p:sp>
      <p:sp>
        <p:nvSpPr>
          <p:cNvPr id="10005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Financial model supports strategic investment case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Anchor on organic chelates (Q3 2026-Q1 2027) to secure revenue</a:t>
            </a:r>
          </a:p>
        </p:txBody>
      </p:sp>
      <p:sp>
        <p:nvSpPr>
          <p:cNvPr id="51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51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sp>
        <p:nvSpPr>
          <p:cNvPr id="51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51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cxnSp>
        <p:nvCxnSpPr>
          <p:cNvPr id="5105" name="QGrid1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06" name="QGrid2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07" name="QGrid3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51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FDA/EU 1831/2003 dossier</a:t>
            </a:r>
          </a:p>
        </p:txBody>
      </p:sp>
      <p:sp>
        <p:nvSpPr>
          <p:cNvPr id="51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Scope &amp; prepare</a:t>
            </a:r>
          </a:p>
        </p:txBody>
      </p:sp>
      <p:sp>
        <p:nvSpPr>
          <p:cNvPr id="51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Submission</a:t>
            </a:r>
          </a:p>
        </p:txBody>
      </p:sp>
      <p:sp>
        <p:nvSpPr>
          <p:cNvPr id="51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Vietnam registration</a:t>
            </a:r>
          </a:p>
        </p:txBody>
      </p:sp>
      <p:sp>
        <p:nvSpPr>
          <p:cNvPr id="5113" name="WsBar2_1"/>
          <p:cNvSpPr/>
          <p:nvPr/>
        </p:nvSpPr>
        <p:spPr>
          <a:xfrm>
            <a:off x="2245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Domestic process</a:t>
            </a:r>
          </a:p>
        </p:txBody>
      </p:sp>
      <p:sp>
        <p:nvSpPr>
          <p:cNvPr id="5114" name="Ms2_1"/>
          <p:cNvSpPr/>
          <p:nvPr/>
        </p:nvSpPr>
        <p:spPr>
          <a:xfrm>
            <a:off x="36990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15" name="MsLbl2_1"/>
          <p:cNvSpPr txBox="1"/>
          <p:nvPr/>
        </p:nvSpPr>
        <p:spPr>
          <a:xfrm>
            <a:off x="34578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Secured</a:t>
            </a:r>
          </a:p>
        </p:txBody>
      </p:sp>
      <p:sp>
        <p:nvSpPr>
          <p:cNvPr id="5116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Patent filings</a:t>
            </a:r>
          </a:p>
        </p:txBody>
      </p:sp>
      <p:sp>
        <p:nvSpPr>
          <p:cNvPr id="5117" name="WsBar3_1"/>
          <p:cNvSpPr/>
          <p:nvPr/>
        </p:nvSpPr>
        <p:spPr>
          <a:xfrm>
            <a:off x="3870720" y="39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3 filings planned</a:t>
            </a:r>
          </a:p>
        </p:txBody>
      </p:sp>
      <p:cxnSp>
        <p:nvCxnSpPr>
          <p:cNvPr id="5118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5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28</a:t>
            </a:r>
          </a:p>
        </p:txBody>
      </p:sp>
      <p:sp>
        <p:nvSpPr>
          <p:cNvPr id="10005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Immediate action required to establish market position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Develop nano-mineral platform (Q4 2026) with regulatory pre-investment</a:t>
            </a:r>
          </a:p>
        </p:txBody>
      </p:sp>
      <p:sp>
        <p:nvSpPr>
          <p:cNvPr id="5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5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209" name="RadarTarget"/>
          <p:cNvSpPr/>
          <p:nvPr/>
        </p:nvSpPr>
        <p:spPr>
          <a:xfrm>
            <a:off x="2664693" y="2280000"/>
            <a:ext cx="2494153" cy="2340000"/>
          </a:xfrm>
          <a:custGeom>
            <a:avLst/>
            <a:gdLst/>
            <a:ahLst/>
            <a:cxnLst/>
            <a:rect l="0" t="0" r="2494153" b="2340000"/>
            <a:pathLst>
              <a:path w="2494153" h="2340000">
                <a:moveTo>
                  <a:pt x="935307" y="0"/>
                </a:moveTo>
                <a:lnTo>
                  <a:pt x="2494153" y="2340000"/>
                </a:lnTo>
                <a:lnTo>
                  <a:pt x="0" y="198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0" name="RadarCurrent"/>
          <p:cNvSpPr/>
          <p:nvPr/>
        </p:nvSpPr>
        <p:spPr>
          <a:xfrm>
            <a:off x="3288231" y="3000000"/>
            <a:ext cx="1247076" cy="1260000"/>
          </a:xfrm>
          <a:custGeom>
            <a:avLst/>
            <a:gdLst/>
            <a:ahLst/>
            <a:cxnLst/>
            <a:rect l="0" t="0" r="1247076" b="1260000"/>
            <a:pathLst>
              <a:path w="1247076" h="1260000">
                <a:moveTo>
                  <a:pt x="311769" y="0"/>
                </a:moveTo>
                <a:lnTo>
                  <a:pt x="1247076" y="1260000"/>
                </a:lnTo>
                <a:lnTo>
                  <a:pt x="0" y="9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</a:t>
            </a:r>
          </a:p>
        </p:txBody>
      </p:sp>
      <p:sp>
        <p:nvSpPr>
          <p:cNvPr id="5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Validation</a:t>
            </a:r>
          </a:p>
        </p:txBody>
      </p:sp>
      <p:sp>
        <p:nvSpPr>
          <p:cNvPr id="5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Translation</a:t>
            </a:r>
          </a:p>
        </p:txBody>
      </p:sp>
      <p:sp>
        <p:nvSpPr>
          <p:cNvPr id="5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5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5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pre-submission in progress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Commercial-scale stabilisation protocols validated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Species-specific translation studies initiated</a:t>
            </a:r>
          </a:p>
        </p:txBody>
      </p:sp>
      <p:sp>
        <p:nvSpPr>
          <p:cNvPr id="10005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Field 28</a:t>
            </a:r>
          </a:p>
        </p:txBody>
      </p:sp>
      <p:sp>
        <p:nvSpPr>
          <p:cNvPr id="10005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Long-term differentiation requires strategic foresight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