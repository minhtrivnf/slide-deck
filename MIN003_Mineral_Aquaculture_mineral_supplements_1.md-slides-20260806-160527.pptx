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  <p:sldId id="1994" r:id="rId29"/>
    <p:sldId id="1995" r:id="rId30"/>
    <p:sldId id="1996" r:id="rId31"/>
    <p:sldId id="1997" r:id="rId32"/>
    <p:sldId id="1998" r:id="rId33"/>
    <p:sldId id="1999" r:id="rId34"/>
    <p:sldId id="2000" r:id="rId35"/>
    <p:sldId id="2001" r:id="rId36"/>
    <p:sldId id="2002" r:id="rId37"/>
    <p:sldId id="2003" r:id="rId38"/>
    <p:sldId id="2004" r:id="rId39"/>
    <p:sldId id="2005" r:id="rId40"/>
    <p:sldId id="2006" r:id="rId41"/>
    <p:sldId id="2007" r:id="rId42"/>
    <p:sldId id="2008" r:id="rId43"/>
    <p:sldId id="2009" r:id="rId44"/>
    <p:sldId id="2010" r:id="rId45"/>
    <p:sldId id="2011" r:id="rId46"/>
    <p:sldId id="2012" r:id="rId47"/>
    <p:sldId id="2013" r:id="rId48"/>
    <p:sldId id="2014" r:id="rId49"/>
    <p:sldId id="2015" r:id="rId50"/>
    <p:sldId id="2016" r:id="rId51"/>
    <p:sldId id="2017" r:id="rId52"/>
    <p:sldId id="2018" r:id="rId53"/>
    <p:sldId id="2019" r:id="rId54"/>
    <p:sldId id="2020" r:id="rId55"/>
    <p:sldId id="2021" r:id="rId56"/>
    <p:sldId id="2022" r:id="rId57"/>
    <p:sldId id="2023" r:id="rId58"/>
    <p:sldId id="2024" r:id="rId59"/>
    <p:sldId id="2025" r:id="rId60"/>
    <p:sldId id="2026" r:id="rId61"/>
    <p:sldId id="2027" r:id="rId62"/>
    <p:sldId id="2028" r:id="rId63"/>
    <p:sldId id="2029" r:id="rId64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"High-Growth Aquaculture Mineral Supplements: Nano &amp; Organic Chelates Drive $28.5B Market by 2034"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Overview of 5 layers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Science: Nano-structured minerals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1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Technology: Bioavailability benefits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Industrial: Market deployment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Market: $28.5B opportunity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Strategic verdict: Market opportunity + recommended action</a:t>
            </a:r>
          </a:p>
        </p:txBody>
      </p:sp>
      <p:sp>
        <p:nvSpPr>
          <p:cNvPr id="2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Executive thesis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Direction for organization</a:t>
            </a:r>
          </a:p>
        </p:txBody>
      </p:sp>
      <p:sp>
        <p:nvSpPr>
          <p:cNvPr id="2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Pillar 1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Content from report</a:t>
            </a:r>
          </a:p>
        </p:txBody>
      </p:sp>
      <p:sp>
        <p:nvSpPr>
          <p:cNvPr id="2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Pillar 2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Content from report</a:t>
            </a:r>
          </a:p>
        </p:txBody>
      </p:sp>
      <p:sp>
        <p:nvSpPr>
          <p:cNvPr id="2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2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Zone 4 so-what takeaway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Market size and growth trajectory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TAM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$X.XXB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Current/2030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Drives investment case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Scale of opportunity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CAGR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X.X%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Compound growth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Consistent expansion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Market momentum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ADDRESSABLE SEGMENT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X.X%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Market share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Targeted opportunity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growth potential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analysis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Scale of opportunity drives investment case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opportunities for capture</a:t>
            </a:r>
          </a:p>
        </p:txBody>
      </p:sp>
      <p:sp>
        <p:nvSpPr>
          <p:cNvPr id="4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MARKET GAP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Unmet demand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Identified by strategic analysis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Prioritize first for highest impact</a:t>
            </a:r>
          </a:p>
        </p:txBody>
      </p:sp>
      <p:sp>
        <p:nvSpPr>
          <p:cNvPr id="4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COMPETITIVE ADVANTAGE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Strong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Differentiation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Strategic analysis highlights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Leverage to outperform competitors</a:t>
            </a:r>
          </a:p>
        </p:txBody>
      </p:sp>
      <p:sp>
        <p:nvSpPr>
          <p:cNvPr id="4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TIMELINE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Tight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Execution window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Critical timeframe identified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Act quickly to capitalize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Strategic analysis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Prioritize highest-leverage plays first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risks requiring mitigation</a:t>
            </a:r>
          </a:p>
        </p:txBody>
      </p:sp>
      <p:sp>
        <p:nvSpPr>
          <p:cNvPr id="5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REGULATORY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Compliance risks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Uncertainty in new regulations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fines for non-compliance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Need for ongoing legal review</a:t>
            </a:r>
          </a:p>
        </p:txBody>
      </p:sp>
      <p:sp>
        <p:nvSpPr>
          <p:cNvPr id="5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TECHNICAL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Critical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System stability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Dependency on third-party APIs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Risk of downtime during scaling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Need for robust failover mechanisms</a:t>
            </a:r>
          </a:p>
        </p:txBody>
      </p:sp>
      <p:sp>
        <p:nvSpPr>
          <p:cNvPr id="5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MARKET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Moderate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Demand volatility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Seasonal fluctuations in usage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Competitor entry risks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Dependence on customer adoption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Risk assessment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De-risk before scaling commitment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Phân giai triển khai theo lộ trình chiến lược</a:t>
            </a:r>
          </a:p>
        </p:txBody>
      </p:sp>
      <p:sp>
        <p:nvSpPr>
          <p:cNvPr id="6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1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Xác thực nhu cầu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khả năng</a:t>
            </a:r>
          </a:p>
        </p:txBody>
      </p:sp>
      <p:sp>
        <p:nvSpPr>
          <p:cNvPr id="6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2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Triển khai thử nghiệm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Đánh giá hiệu quả</a:t>
            </a:r>
          </a:p>
        </p:txBody>
      </p:sp>
      <p:sp>
        <p:nvSpPr>
          <p:cNvPr id="6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Giai đoạn 3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Mở rộng quy mô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Tối ưu hóa</a:t>
            </a:r>
          </a:p>
        </p:txBody>
      </p:sp>
      <p:sp>
        <p:nvSpPr>
          <p:cNvPr id="6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6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Tập trung vào từng giai đoạn để đảm bảo thành công dài hạn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deliver 1.5-3x growth improvements at 10-50% lower inclusion rates, achieving equivalent performance at 2-3x lower cost.</a:t>
            </a:r>
          </a:p>
        </p:txBody>
      </p:sp>
      <p:sp>
        <p:nvSpPr>
          <p:cNvPr id="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Higher weight gain with nano-formulations</a:t>
            </a:r>
          </a:p>
        </p:txBody>
      </p:sp>
      <p:sp>
        <p:nvSpPr>
          <p:cNvPr id="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Cost efficiency at lower inclusion rates</a:t>
            </a:r>
          </a:p>
        </p:txBody>
      </p:sp>
      <p:sp>
        <p:nvSpPr>
          <p:cNvPr id="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Broad applicability across minerals</a:t>
            </a:r>
          </a:p>
        </p:txBody>
      </p:sp>
      <p:sp>
        <p:nvSpPr>
          <p:cNvPr id="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Nano-SeNPs: +57% final weight gain vs. inorganic selenium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ZnO-K: +30% weight gain vs. ZnSO4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Nano-Fe2O3: +46% weight gain at 0.4 mg/kg (Mohammady et al., 2023)</a:t>
            </a:r>
          </a:p>
        </p:txBody>
      </p:sp>
      <p:sp>
        <p:nvSpPr>
          <p:cNvPr id="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achieve equivalent performance at 2-3x lower cost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10-50% lower inclusion rates maintain or improve growth outcomes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material usage aligns with sustainability goals</a:t>
            </a:r>
          </a:p>
        </p:txBody>
      </p:sp>
      <p:sp>
        <p:nvSpPr>
          <p:cNvPr id="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SeNPs, ZnO-K, and Fe2O3 demonstrate nano-formulation benefits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nano-minerals show superior performance vs. traditional forms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Nano-technology enhances mineral efficacy across multiple applications</a:t>
            </a:r>
          </a:p>
        </p:txBody>
      </p:sp>
      <p:cxnSp>
        <p:nvCxnSpPr>
          <p:cNvPr id="708" name="PyramidConn1"/>
          <p:cNvCxnSpPr>
            <a:stCxn id="701" idx="2"/>
            <a:endCxn id="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09" name="PyramidConn2"/>
          <p:cNvCxnSpPr>
            <a:stCxn id="701" idx="2"/>
            <a:endCxn id="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10" name="PyramidConn3"/>
          <p:cNvCxnSpPr>
            <a:stCxn id="701" idx="2"/>
            <a:endCxn id="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reduce mineral excretion by 40% while commanding…</a:t>
            </a:r>
          </a:p>
        </p:txBody>
      </p:sp>
      <p:sp>
        <p:nvSpPr>
          <p:cNvPr id="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reduction in mineral excretion (Huang et al., 2025)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premium pricing justified by performance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Sustainability benefits</a:t>
            </a:r>
          </a:p>
        </p:txBody>
      </p:sp>
      <p:sp>
        <p:nvSpPr>
          <p:cNvPr id="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No growth response for manganese at adequate baseline supply (Prabhu et al., 2019)</a:t>
            </a:r>
          </a:p>
        </p:txBody>
      </p:sp>
      <p:sp>
        <p:nvSpPr>
          <p:cNvPr id="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premium pricing in high-value markets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demand for sustainable mineral solutions</a:t>
            </a:r>
          </a:p>
        </p:txBody>
      </p:sp>
      <p:sp>
        <p:nvSpPr>
          <p:cNvPr id="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cheaper alternatives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changes affecting mineral excretion standards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2025; Prabhu et al., 2019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Premium pricing justified by superior performance and sustainability benefits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show 2-4x higher disease resistance but require…</a:t>
            </a:r>
          </a:p>
        </p:txBody>
      </p:sp>
      <p:sp>
        <p:nvSpPr>
          <p:cNvPr id="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LOW BENEFIT</a:t>
            </a:r>
          </a:p>
        </p:txBody>
      </p:sp>
      <p:sp>
        <p:nvSpPr>
          <p:cNvPr id="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COST, HIGH BENEFIT</a:t>
            </a:r>
          </a:p>
        </p:txBody>
      </p:sp>
      <p:sp>
        <p:nvSpPr>
          <p:cNvPr id="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LOW BENEFIT</a:t>
            </a:r>
          </a:p>
        </p:txBody>
      </p:sp>
      <p:sp>
        <p:nvSpPr>
          <p:cNvPr id="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COST, HIGH BENEFIT</a:t>
            </a:r>
          </a:p>
        </p:txBody>
      </p:sp>
      <p:sp>
        <p:nvSpPr>
          <p:cNvPr id="9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Nano-SeNPs</a:t>
            </a:r>
          </a:p>
        </p:txBody>
      </p:sp>
      <p:sp>
        <p:nvSpPr>
          <p:cNvPr id="913" name="Bubble2"/>
          <p:cNvSpPr/>
          <p:nvPr/>
        </p:nvSpPr>
        <p:spPr>
          <a:xfrm>
            <a:off x="5808000" y="220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Clay-ZnO-K</a:t>
            </a:r>
          </a:p>
        </p:txBody>
      </p:sp>
      <p:sp>
        <p:nvSpPr>
          <p:cNvPr id="9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DEVELOPMENT COST →</a:t>
            </a:r>
          </a:p>
        </p:txBody>
      </p:sp>
      <p:sp>
        <p:nvSpPr>
          <p:cNvPr id="9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IMMUNITY BENEFIT ↑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2023; Mohammady et al., 2021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Immunity benefits justify higher development costs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achieve TRL 7-8 while nano-minerals remain at TRL…</a:t>
            </a:r>
          </a:p>
        </p:txBody>
      </p:sp>
      <p:sp>
        <p:nvSpPr>
          <p:cNvPr id="1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10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NANO-MINERALS</a:t>
            </a:r>
          </a:p>
        </p:txBody>
      </p:sp>
      <p:sp>
        <p:nvSpPr>
          <p:cNvPr id="10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TRL level</a:t>
            </a:r>
          </a:p>
        </p:txBody>
      </p:sp>
      <p:sp>
        <p:nvSpPr>
          <p:cNvPr id="10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10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0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Chelation</a:t>
            </a:r>
          </a:p>
        </p:txBody>
      </p:sp>
      <p:sp>
        <p:nvSpPr>
          <p:cNvPr id="10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10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010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Spray-drying</a:t>
            </a:r>
          </a:p>
        </p:txBody>
      </p:sp>
      <p:sp>
        <p:nvSpPr>
          <p:cNvPr id="1011" name="HvCell3_1"/>
          <p:cNvSpPr txBox="1"/>
          <p:nvPr/>
        </p:nvSpPr>
        <p:spPr>
          <a:xfrm>
            <a:off x="31572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1012" name="HvCell3_2"/>
          <p:cNvSpPr txBox="1"/>
          <p:nvPr/>
        </p:nvSpPr>
        <p:spPr>
          <a:xfrm>
            <a:off x="59220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013" name="HvCrit4"/>
          <p:cNvSpPr txBox="1"/>
          <p:nvPr/>
        </p:nvSpPr>
        <p:spPr>
          <a:xfrm>
            <a:off x="457200" y="3276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Nano-milling</a:t>
            </a:r>
          </a:p>
        </p:txBody>
      </p:sp>
      <p:sp>
        <p:nvSpPr>
          <p:cNvPr id="1014" name="HvCell4_1"/>
          <p:cNvSpPr txBox="1"/>
          <p:nvPr/>
        </p:nvSpPr>
        <p:spPr>
          <a:xfrm>
            <a:off x="3157200" y="3276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1015" name="HvCell4_2"/>
          <p:cNvSpPr txBox="1"/>
          <p:nvPr/>
        </p:nvSpPr>
        <p:spPr>
          <a:xfrm>
            <a:off x="5922000" y="3276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10001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require additional validation before commercialization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face toxicity risks at 1.5-2x optimal doses</a:t>
            </a:r>
          </a:p>
        </p:txBody>
      </p:sp>
      <p:sp>
        <p:nvSpPr>
          <p:cNvPr id="1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Warning</a:t>
            </a:r>
          </a:p>
        </p:txBody>
      </p:sp>
      <p:sp>
        <p:nvSpPr>
          <p:cNvPr id="1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Dose Precision</a:t>
            </a:r>
          </a:p>
        </p:txBody>
      </p:sp>
      <p:sp>
        <p:nvSpPr>
          <p:cNvPr id="1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Toxicity Risk</a:t>
            </a:r>
          </a:p>
        </p:txBody>
      </p: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Pacitti et al., 2016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Dose precision critical for nano-mineral safety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cost $8-18/kg while nano-minerals reach $15-45/kg</a:t>
            </a:r>
          </a:p>
        </p:txBody>
      </p:sp>
      <p:sp>
        <p:nvSpPr>
          <p:cNvPr id="1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Cost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$8-45/kg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2-3x CapEx</a:t>
            </a:r>
          </a:p>
        </p:txBody>
      </p:sp>
      <p:sp>
        <p:nvSpPr>
          <p:cNvPr id="1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Organic chelates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$8-18/kg</a:t>
            </a:r>
          </a:p>
        </p:txBody>
      </p:sp>
      <p:sp>
        <p:nvSpPr>
          <p:cNvPr id="1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Inorganic salts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$2.50-$5/kg</a:t>
            </a:r>
          </a:p>
        </p:txBody>
      </p:sp>
      <p:sp>
        <p:nvSpPr>
          <p:cNvPr id="1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Nano-minerals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$15-45/kg</a:t>
            </a:r>
          </a:p>
        </p:txBody>
      </p:sp>
      <p:cxnSp>
        <p:nvCxnSpPr>
          <p:cNvPr id="1204" name="BranchRoot_1"/>
          <p:cNvCxnSpPr>
            <a:stCxn id="1201" idx="1"/>
            <a:endCxn id="1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5" name="BranchL2_1_1"/>
          <p:cNvCxnSpPr>
            <a:stCxn id="1202" idx="1"/>
            <a:endCxn id="1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7" name="BranchRoot_2"/>
          <p:cNvCxnSpPr>
            <a:stCxn id="1201" idx="1"/>
            <a:endCxn id="1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Higher costs justify premium pricing and performance benefits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EFSA opinions on nano-minerals expected by 2027-2028</a:t>
            </a:r>
          </a:p>
        </p:txBody>
      </p:sp>
      <p:sp>
        <p:nvSpPr>
          <p:cNvPr id="1301" name="QHead1"/>
          <p:cNvSpPr txBox="1"/>
          <p:nvPr/>
        </p:nvSpPr>
        <p:spPr>
          <a:xfrm>
            <a:off x="2200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1302" name="QHead2"/>
          <p:cNvSpPr txBox="1"/>
          <p:nvPr/>
        </p:nvSpPr>
        <p:spPr>
          <a:xfrm>
            <a:off x="3012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sp>
        <p:nvSpPr>
          <p:cNvPr id="1303" name="QHead3"/>
          <p:cNvSpPr txBox="1"/>
          <p:nvPr/>
        </p:nvSpPr>
        <p:spPr>
          <a:xfrm>
            <a:off x="3825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Q3'27</a:t>
            </a:r>
          </a:p>
        </p:txBody>
      </p:sp>
      <p:sp>
        <p:nvSpPr>
          <p:cNvPr id="1304" name="QHead4"/>
          <p:cNvSpPr txBox="1"/>
          <p:nvPr/>
        </p:nvSpPr>
        <p:spPr>
          <a:xfrm>
            <a:off x="4637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Q4'27</a:t>
            </a:r>
          </a:p>
        </p:txBody>
      </p:sp>
      <p:sp>
        <p:nvSpPr>
          <p:cNvPr id="1305" name="QHead5"/>
          <p:cNvSpPr txBox="1"/>
          <p:nvPr/>
        </p:nvSpPr>
        <p:spPr>
          <a:xfrm>
            <a:off x="5450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Q1'28</a:t>
            </a:r>
          </a:p>
        </p:txBody>
      </p:sp>
      <p:sp>
        <p:nvSpPr>
          <p:cNvPr id="1306" name="QHead6"/>
          <p:cNvSpPr txBox="1"/>
          <p:nvPr/>
        </p:nvSpPr>
        <p:spPr>
          <a:xfrm>
            <a:off x="6262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Q2'28</a:t>
            </a:r>
          </a:p>
        </p:txBody>
      </p:sp>
      <p:sp>
        <p:nvSpPr>
          <p:cNvPr id="1307" name="QHead7"/>
          <p:cNvSpPr txBox="1"/>
          <p:nvPr/>
        </p:nvSpPr>
        <p:spPr>
          <a:xfrm>
            <a:off x="7075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Q3'28</a:t>
            </a:r>
          </a:p>
        </p:txBody>
      </p:sp>
      <p:sp>
        <p:nvSpPr>
          <p:cNvPr id="1308" name="QHead8"/>
          <p:cNvSpPr txBox="1"/>
          <p:nvPr/>
        </p:nvSpPr>
        <p:spPr>
          <a:xfrm>
            <a:off x="7887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Q4'28</a:t>
            </a:r>
          </a:p>
        </p:txBody>
      </p:sp>
      <p:cxnSp>
        <p:nvCxnSpPr>
          <p:cNvPr id="1309" name="QGrid1"/>
          <p:cNvCxnSpPr>
    </p:cNvCxnSpPr>
          <p:nvPr/>
        </p:nvCxnSpPr>
        <p:spPr>
          <a:xfrm>
            <a:off x="30125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0" name="QGrid2"/>
          <p:cNvCxnSpPr>
    </p:cNvCxnSpPr>
          <p:nvPr/>
        </p:nvCxnSpPr>
        <p:spPr>
          <a:xfrm>
            <a:off x="382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1" name="QGrid3"/>
          <p:cNvCxnSpPr>
    </p:cNvCxnSpPr>
          <p:nvPr/>
        </p:nvCxnSpPr>
        <p:spPr>
          <a:xfrm>
            <a:off x="46375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2" name="QGrid4"/>
          <p:cNvCxnSpPr>
    </p:cNvCxnSpPr>
          <p:nvPr/>
        </p:nvCxnSpPr>
        <p:spPr>
          <a:xfrm>
            <a:off x="5450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3" name="QGrid5"/>
          <p:cNvCxnSpPr>
    </p:cNvCxnSpPr>
          <p:nvPr/>
        </p:nvCxnSpPr>
        <p:spPr>
          <a:xfrm>
            <a:off x="62625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4" name="QGrid6"/>
          <p:cNvCxnSpPr>
    </p:cNvCxnSpPr>
          <p:nvPr/>
        </p:nvCxnSpPr>
        <p:spPr>
          <a:xfrm>
            <a:off x="70750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15" name="QGrid7"/>
          <p:cNvCxnSpPr>
    </p:cNvCxnSpPr>
          <p:nvPr/>
        </p:nvCxnSpPr>
        <p:spPr>
          <a:xfrm>
            <a:off x="7887500" y="2160000"/>
            <a:ext cx="0" cy="24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1316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EU: EFSA opinions</a:t>
            </a:r>
          </a:p>
        </p:txBody>
      </p:sp>
      <p:sp>
        <p:nvSpPr>
          <p:cNvPr id="1317" name="WsBar1_1"/>
          <p:cNvSpPr/>
          <p:nvPr/>
        </p:nvSpPr>
        <p:spPr>
          <a:xfrm>
            <a:off x="2245720" y="23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Nano-Se/Zn review</a:t>
            </a:r>
          </a:p>
        </p:txBody>
      </p:sp>
      <p:sp>
        <p:nvSpPr>
          <p:cNvPr id="1318" name="Ms1_1"/>
          <p:cNvSpPr/>
          <p:nvPr/>
        </p:nvSpPr>
        <p:spPr>
          <a:xfrm>
            <a:off x="45115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9" name="MsLbl1_1"/>
          <p:cNvSpPr txBox="1"/>
          <p:nvPr/>
        </p:nvSpPr>
        <p:spPr>
          <a:xfrm>
            <a:off x="42703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Opinion due</a:t>
            </a:r>
          </a:p>
        </p:txBody>
      </p:sp>
      <p:sp>
        <p:nvSpPr>
          <p:cNvPr id="1320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US: FDA pathway</a:t>
            </a:r>
          </a:p>
        </p:txBody>
      </p:sp>
      <p:sp>
        <p:nvSpPr>
          <p:cNvPr id="1321" name="WsBar2_1"/>
          <p:cNvSpPr/>
          <p:nvPr/>
        </p:nvSpPr>
        <p:spPr>
          <a:xfrm>
            <a:off x="3870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GRAS/feed-additive</a:t>
            </a:r>
          </a:p>
        </p:txBody>
      </p:sp>
      <p:sp>
        <p:nvSpPr>
          <p:cNvPr id="1322" name="Ms2_1"/>
          <p:cNvSpPr/>
          <p:nvPr/>
        </p:nvSpPr>
        <p:spPr>
          <a:xfrm>
            <a:off x="61365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3" name="MsLbl2_1"/>
          <p:cNvSpPr txBox="1"/>
          <p:nvPr/>
        </p:nvSpPr>
        <p:spPr>
          <a:xfrm>
            <a:off x="58953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Approval</a:t>
            </a:r>
          </a:p>
        </p:txBody>
      </p:sp>
      <p:sp>
        <p:nvSpPr>
          <p:cNvPr id="1324" name="WsLbl3"/>
          <p:cNvSpPr txBox="1"/>
          <p:nvPr/>
        </p:nvSpPr>
        <p:spPr>
          <a:xfrm>
            <a:off x="230400" y="37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Vietnam/India/Ecuador</a:t>
            </a:r>
          </a:p>
        </p:txBody>
      </p:sp>
      <p:sp>
        <p:nvSpPr>
          <p:cNvPr id="1325" name="WsBar3_1"/>
          <p:cNvSpPr/>
          <p:nvPr/>
        </p:nvSpPr>
        <p:spPr>
          <a:xfrm>
            <a:off x="2245720" y="3944000"/>
            <a:ext cx="1533560" cy="432000"/>
          </a:xfrm>
          <a:prstGeom prst="roundRect">
            <a:avLst>
              <a:gd name="adj" fmla="val 25000"/>
            </a:avLst>
          </a:prstGeom>
          <a:solidFill>
            <a:srgbClr val="953735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Regulatory clarity</a:t>
            </a:r>
          </a:p>
        </p:txBody>
      </p:sp>
      <p:sp>
        <p:nvSpPr>
          <p:cNvPr id="1326" name="Ms3_1"/>
          <p:cNvSpPr/>
          <p:nvPr/>
        </p:nvSpPr>
        <p:spPr>
          <a:xfrm>
            <a:off x="2886500" y="40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27" name="MsLbl3_1"/>
          <p:cNvSpPr txBox="1"/>
          <p:nvPr/>
        </p:nvSpPr>
        <p:spPr>
          <a:xfrm>
            <a:off x="2645300" y="42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Q2 2027</a:t>
            </a:r>
          </a:p>
        </p:txBody>
      </p:sp>
      <p:cxnSp>
        <p:nvCxnSpPr>
          <p:cNvPr id="1328" name="TodayLine"/>
          <p:cNvCxnSpPr>
    </p:cNvCxnSpPr>
          <p:nvPr/>
        </p:nvCxnSpPr>
        <p:spPr>
          <a:xfrm>
            <a:off x="2200000" y="2160000"/>
            <a:ext cx="0" cy="24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approvals will determine commercialization timeline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Nano-minerals require 18-36 month regulatory pathways</a:t>
            </a:r>
          </a:p>
        </p:txBody>
      </p:sp>
      <p:sp>
        <p:nvSpPr>
          <p:cNvPr id="1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409" name="RadarTarget"/>
          <p:cNvSpPr/>
          <p:nvPr/>
        </p:nvSpPr>
        <p:spPr>
          <a:xfrm>
            <a:off x="2664693" y="2280000"/>
            <a:ext cx="1870614" cy="1980000"/>
          </a:xfrm>
          <a:custGeom>
            <a:avLst/>
            <a:gdLst/>
            <a:ahLst/>
            <a:cxnLst/>
            <a:rect l="0" t="0" r="1870614" b="1980000"/>
            <a:pathLst>
              <a:path w="1870614" h="1980000">
                <a:moveTo>
                  <a:pt x="935307" y="0"/>
                </a:moveTo>
                <a:lnTo>
                  <a:pt x="1870614" y="1980000"/>
                </a:lnTo>
                <a:lnTo>
                  <a:pt x="0" y="198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0" name="RadarCurrent"/>
          <p:cNvSpPr/>
          <p:nvPr/>
        </p:nvSpPr>
        <p:spPr>
          <a:xfrm>
            <a:off x="3288231" y="3000000"/>
            <a:ext cx="623538" cy="900000"/>
          </a:xfrm>
          <a:custGeom>
            <a:avLst/>
            <a:gdLst/>
            <a:ahLst/>
            <a:cxnLst/>
            <a:rect l="0" t="0" r="623538" b="900000"/>
            <a:pathLst>
              <a:path w="623538" h="900000">
                <a:moveTo>
                  <a:pt x="311769" y="0"/>
                </a:moveTo>
                <a:lnTo>
                  <a:pt x="623538" y="900000"/>
                </a:lnTo>
                <a:lnTo>
                  <a:pt x="0" y="9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 delays</a:t>
            </a:r>
          </a:p>
        </p:txBody>
      </p:sp>
      <p:sp>
        <p:nvSpPr>
          <p:cNvPr id="1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Commercialization</a:t>
            </a:r>
          </a:p>
        </p:txBody>
      </p:sp>
      <p:sp>
        <p:nvSpPr>
          <p:cNvPr id="1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 clarity</a:t>
            </a:r>
          </a:p>
        </p:txBody>
      </p:sp>
      <p:sp>
        <p:nvSpPr>
          <p:cNvPr id="1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FDA pathway: 18-36 months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EFSA opinions: 2027-2028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Vietnam/India/Ecuador: Draft limits pending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delays could impact commercialization timeline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Nano-formulations deliver 1.5-3x growth improvements at 10-50% lower inclusion rates, reducing feed costs while boosting performance.</a:t>
            </a:r>
          </a:p>
        </p:txBody>
      </p:sp>
      <p:sp>
        <p:nvSpPr>
          <p:cNvPr id="1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Growth improvements</a:t>
            </a:r>
          </a:p>
        </p:txBody>
      </p:sp>
      <p:sp>
        <p:nvSpPr>
          <p:cNvPr id="1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Cost efficiency</a:t>
            </a:r>
          </a:p>
        </p:txBody>
      </p:sp>
      <p:sp>
        <p:nvSpPr>
          <p:cNvPr id="1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Technological advantage</a:t>
            </a:r>
          </a:p>
        </p:txBody>
      </p:sp>
      <p:sp>
        <p:nvSpPr>
          <p:cNvPr id="1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+57% final weight gain vs. inorganic selenium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+30% weight gain vs. ZnSO4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1.5-3x growth improvements demonstrated in studies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and clay-supported ZnO-K show superior performance</a:t>
            </a:r>
          </a:p>
        </p:txBody>
      </p:sp>
      <p:sp>
        <p:nvSpPr>
          <p:cNvPr id="1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10-50% lower inclusion rates reduce feed costs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Nano-formulations optimize nutrient delivery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Lower inclusion rates maintain performance benefits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Economical alternative to traditional formulations</a:t>
            </a:r>
          </a:p>
        </p:txBody>
      </p:sp>
      <p:sp>
        <p:nvSpPr>
          <p:cNvPr id="1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Nano-formulations enhance bioavailability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ZnO-K improves stability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waste and improved efficiency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Scientific validation from Eissa and Mohammady studies</a:t>
            </a:r>
          </a:p>
        </p:txBody>
      </p:sp>
      <p:cxnSp>
        <p:nvCxnSpPr>
          <p:cNvPr id="1508" name="PyramidConn1"/>
          <p:cNvCxnSpPr>
            <a:stCxn id="1501" idx="2"/>
            <a:endCxn id="1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09" name="PyramidConn2"/>
          <p:cNvCxnSpPr>
            <a:stCxn id="1501" idx="2"/>
            <a:endCxn id="1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10" name="PyramidConn3"/>
          <p:cNvCxnSpPr>
            <a:stCxn id="1501" idx="2"/>
            <a:endCxn id="1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reduce excretion by 40% while commanding 1.5-2.5x…</a:t>
            </a:r>
          </a:p>
        </p:txBody>
      </p:sp>
      <p:sp>
        <p:nvSpPr>
          <p:cNvPr id="1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excretion reduction (Huang et al., 2025)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premium pricing over inorganic salts</a:t>
            </a:r>
          </a:p>
        </p:txBody>
      </p:sp>
      <p:sp>
        <p:nvSpPr>
          <p:cNvPr id="1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No growth response for manganese at adequate baseline supply (Prabhu et al., 2019)</a:t>
            </a:r>
          </a:p>
        </p:txBody>
      </p:sp>
      <p:sp>
        <p:nvSpPr>
          <p:cNvPr id="1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Environmental and financial value creation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premium pricing in niche markets</a:t>
            </a:r>
          </a:p>
        </p:txBody>
      </p:sp>
      <p:sp>
        <p:nvSpPr>
          <p:cNvPr id="1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established inorganic salt suppliers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constraints on chelate use</a:t>
            </a:r>
          </a:p>
        </p:txBody>
      </p:sp>
      <p:sp>
        <p:nvSpPr>
          <p:cNvPr id="10001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2025; Prabhu et al., 2019</a:t>
            </a:r>
          </a:p>
        </p:txBody>
      </p:sp>
      <p:sp>
        <p:nvSpPr>
          <p:cNvPr id="10001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create both environmental and financial value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validation but offer highest growth potential</a:t>
            </a:r>
          </a:p>
        </p:txBody>
      </p:sp>
      <p:sp>
        <p:nvSpPr>
          <p:cNvPr id="17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7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7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7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STAGE, LOW POTENTIAL</a:t>
            </a:r>
          </a:p>
        </p:txBody>
      </p:sp>
      <p:sp>
        <p:nvSpPr>
          <p:cNvPr id="17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STAGE, LOW POTENTIAL</a:t>
            </a:r>
          </a:p>
        </p:txBody>
      </p:sp>
      <p:sp>
        <p:nvSpPr>
          <p:cNvPr id="17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STAGE, HIGH POTENTIAL</a:t>
            </a:r>
          </a:p>
        </p:txBody>
      </p:sp>
      <p:sp>
        <p:nvSpPr>
          <p:cNvPr id="17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STAGE, HIGH POTENTIAL</a:t>
            </a:r>
          </a:p>
        </p:txBody>
      </p:sp>
      <p:sp>
        <p:nvSpPr>
          <p:cNvPr id="1712" name="Bubble1"/>
          <p:cNvSpPr/>
          <p:nvPr/>
        </p:nvSpPr>
        <p:spPr>
          <a:xfrm>
            <a:off x="570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1713" name="Bubble2"/>
          <p:cNvSpPr/>
          <p:nvPr/>
        </p:nvSpPr>
        <p:spPr>
          <a:xfrm>
            <a:off x="3088000" y="262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Nano-minerals</a:t>
            </a:r>
          </a:p>
        </p:txBody>
      </p:sp>
      <p:sp>
        <p:nvSpPr>
          <p:cNvPr id="1714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DEVELOPMENT STAGE →</a:t>
            </a:r>
          </a:p>
        </p:txBody>
      </p:sp>
      <p:sp>
        <p:nvSpPr>
          <p:cNvPr id="1715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GROWTH POTENTIAL ↑</a:t>
            </a:r>
          </a:p>
        </p:txBody>
      </p:sp>
      <p:sp>
        <p:nvSpPr>
          <p:cNvPr id="10001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Nano-formulations have higher potential but require more development work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Nano-formulations cost 2-3x more to manufacture than organic chelates</a:t>
            </a:r>
          </a:p>
        </p:txBody>
      </p:sp>
      <p:sp>
        <p:nvSpPr>
          <p:cNvPr id="1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8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INORGANIC SALTS</a:t>
            </a:r>
          </a:p>
        </p:txBody>
      </p:sp>
      <p:sp>
        <p:nvSpPr>
          <p:cNvPr id="18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18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NANO-FORMULATIONS</a:t>
            </a:r>
          </a:p>
        </p:txBody>
      </p:sp>
      <p:sp>
        <p:nvSpPr>
          <p:cNvPr id="18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Cost</a:t>
            </a:r>
          </a:p>
        </p:txBody>
      </p:sp>
      <p:sp>
        <p:nvSpPr>
          <p:cNvPr id="18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8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Performance</a:t>
            </a:r>
          </a:p>
        </p:txBody>
      </p:sp>
      <p:sp>
        <p:nvSpPr>
          <p:cNvPr id="18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◔</a:t>
            </a:r>
          </a:p>
        </p:txBody>
      </p:sp>
      <p:sp>
        <p:nvSpPr>
          <p:cNvPr id="18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10001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Higher costs must be justified by performance benefits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have narrow therapeutic windows requiring precise dosing</a:t>
            </a:r>
          </a:p>
        </p:txBody>
      </p:sp>
      <p:sp>
        <p:nvSpPr>
          <p:cNvPr id="19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Toxic</a:t>
            </a:r>
          </a:p>
        </p:txBody>
      </p:sp>
      <p:sp>
        <p:nvSpPr>
          <p:cNvPr id="19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Optimal</a:t>
            </a:r>
          </a:p>
        </p:txBody>
      </p:sp>
      <p:sp>
        <p:nvSpPr>
          <p:cNvPr id="19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9CCC65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Safe</a:t>
            </a:r>
          </a:p>
        </p:txBody>
      </p:sp>
      <p:sp>
        <p:nvSpPr>
          <p:cNvPr id="19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9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9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9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19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19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19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Dose Level</a:t>
            </a:r>
          </a:p>
        </p:txBody>
      </p:sp>
      <p:sp>
        <p:nvSpPr>
          <p:cNvPr id="19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Therapeutic Window</a:t>
            </a:r>
          </a:p>
        </p:txBody>
      </p:sp>
      <p:sp>
        <p:nvSpPr>
          <p:cNvPr id="10001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1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Dosing precision is critical for nano-mineral safety and efficacy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have faster commercialization but lower growth potential</a:t>
            </a:r>
          </a:p>
        </p:txBody>
      </p:sp>
      <p:sp>
        <p:nvSpPr>
          <p:cNvPr id="2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Commercialization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Organic chelates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Faster</a:t>
            </a:r>
          </a:p>
        </p:txBody>
      </p:sp>
      <p:sp>
        <p:nvSpPr>
          <p:cNvPr id="2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Speed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TRL 7-8</a:t>
            </a:r>
          </a:p>
        </p:txBody>
      </p:sp>
      <p:sp>
        <p:nvSpPr>
          <p:cNvPr id="20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Deployment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Ready</a:t>
            </a:r>
          </a:p>
        </p:txBody>
      </p:sp>
      <p:sp>
        <p:nvSpPr>
          <p:cNvPr id="20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Entry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Quick</a:t>
            </a:r>
          </a:p>
        </p:txBody>
      </p:sp>
      <p:sp>
        <p:nvSpPr>
          <p:cNvPr id="20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Potential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Lower</a:t>
            </a:r>
          </a:p>
        </p:txBody>
      </p:sp>
      <p:sp>
        <p:nvSpPr>
          <p:cNvPr id="20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Growth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Limited</a:t>
            </a:r>
          </a:p>
        </p:txBody>
      </p:sp>
      <p:cxnSp>
        <p:nvCxnSpPr>
          <p:cNvPr id="2005" name="BranchRoot_1"/>
          <p:cNvCxnSpPr>
            <a:stCxn id="2001" idx="1"/>
            <a:endCxn id="2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6" name="BranchL2_1_1"/>
          <p:cNvCxnSpPr>
            <a:stCxn id="2002" idx="1"/>
            <a:endCxn id="20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7" name="BranchL2_1_2"/>
          <p:cNvCxnSpPr>
            <a:stCxn id="2002" idx="1"/>
            <a:endCxn id="20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10" name="BranchRoot_2"/>
          <p:cNvCxnSpPr>
            <a:stCxn id="2001" idx="1"/>
            <a:endCxn id="20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11" name="BranchL2_2_1"/>
          <p:cNvCxnSpPr>
            <a:stCxn id="2008" idx="1"/>
            <a:endCxn id="20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2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quicker entry but nano-formulations have higher long-term potential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regulatory pre-investment to secure approvals</a:t>
            </a:r>
          </a:p>
        </p:txBody>
      </p:sp>
      <p:sp>
        <p:nvSpPr>
          <p:cNvPr id="2101" name="QHead1"/>
          <p:cNvSpPr txBox="1"/>
          <p:nvPr/>
        </p:nvSpPr>
        <p:spPr>
          <a:xfrm>
            <a:off x="2200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2102" name="QHead2"/>
          <p:cNvSpPr txBox="1"/>
          <p:nvPr/>
        </p:nvSpPr>
        <p:spPr>
          <a:xfrm>
            <a:off x="3012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sp>
        <p:nvSpPr>
          <p:cNvPr id="2103" name="QHead3"/>
          <p:cNvSpPr txBox="1"/>
          <p:nvPr/>
        </p:nvSpPr>
        <p:spPr>
          <a:xfrm>
            <a:off x="3825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Q3'27</a:t>
            </a:r>
          </a:p>
        </p:txBody>
      </p:sp>
      <p:sp>
        <p:nvSpPr>
          <p:cNvPr id="2104" name="QHead4"/>
          <p:cNvSpPr txBox="1"/>
          <p:nvPr/>
        </p:nvSpPr>
        <p:spPr>
          <a:xfrm>
            <a:off x="4637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Q4'27</a:t>
            </a:r>
          </a:p>
        </p:txBody>
      </p:sp>
      <p:sp>
        <p:nvSpPr>
          <p:cNvPr id="2105" name="QHead5"/>
          <p:cNvSpPr txBox="1"/>
          <p:nvPr/>
        </p:nvSpPr>
        <p:spPr>
          <a:xfrm>
            <a:off x="5450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Q1'28</a:t>
            </a:r>
          </a:p>
        </p:txBody>
      </p:sp>
      <p:sp>
        <p:nvSpPr>
          <p:cNvPr id="2106" name="QHead6"/>
          <p:cNvSpPr txBox="1"/>
          <p:nvPr/>
        </p:nvSpPr>
        <p:spPr>
          <a:xfrm>
            <a:off x="6262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Q2'28</a:t>
            </a:r>
          </a:p>
        </p:txBody>
      </p:sp>
      <p:sp>
        <p:nvSpPr>
          <p:cNvPr id="2107" name="QHead7"/>
          <p:cNvSpPr txBox="1"/>
          <p:nvPr/>
        </p:nvSpPr>
        <p:spPr>
          <a:xfrm>
            <a:off x="70750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Q3'28</a:t>
            </a:r>
          </a:p>
        </p:txBody>
      </p:sp>
      <p:sp>
        <p:nvSpPr>
          <p:cNvPr id="2108" name="QHead8"/>
          <p:cNvSpPr txBox="1"/>
          <p:nvPr/>
        </p:nvSpPr>
        <p:spPr>
          <a:xfrm>
            <a:off x="7887500" y="1620000"/>
            <a:ext cx="8125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Q4'28</a:t>
            </a:r>
          </a:p>
        </p:txBody>
      </p:sp>
      <p:cxnSp>
        <p:nvCxnSpPr>
          <p:cNvPr id="2109" name="QGrid1"/>
          <p:cNvCxnSpPr>
    </p:cNvCxnSpPr>
          <p:nvPr/>
        </p:nvCxnSpPr>
        <p:spPr>
          <a:xfrm>
            <a:off x="30125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0" name="QGrid2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1" name="QGrid3"/>
          <p:cNvCxnSpPr>
    </p:cNvCxnSpPr>
          <p:nvPr/>
        </p:nvCxnSpPr>
        <p:spPr>
          <a:xfrm>
            <a:off x="46375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2" name="QGrid4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3" name="QGrid5"/>
          <p:cNvCxnSpPr>
    </p:cNvCxnSpPr>
          <p:nvPr/>
        </p:nvCxnSpPr>
        <p:spPr>
          <a:xfrm>
            <a:off x="62625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4" name="QGrid6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15" name="QGrid7"/>
          <p:cNvCxnSpPr>
    </p:cNvCxnSpPr>
          <p:nvPr/>
        </p:nvCxnSpPr>
        <p:spPr>
          <a:xfrm>
            <a:off x="78875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2116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EFSA opinion</a:t>
            </a:r>
          </a:p>
        </p:txBody>
      </p:sp>
      <p:sp>
        <p:nvSpPr>
          <p:cNvPr id="2117" name="WsBar1_1"/>
          <p:cNvSpPr/>
          <p:nvPr/>
        </p:nvSpPr>
        <p:spPr>
          <a:xfrm>
            <a:off x="2245720" y="23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Nano-Se/Zn</a:t>
            </a:r>
          </a:p>
        </p:txBody>
      </p:sp>
      <p:sp>
        <p:nvSpPr>
          <p:cNvPr id="2118" name="Ms1_1"/>
          <p:cNvSpPr/>
          <p:nvPr/>
        </p:nvSpPr>
        <p:spPr>
          <a:xfrm>
            <a:off x="45115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9" name="MsLbl1_1"/>
          <p:cNvSpPr txBox="1"/>
          <p:nvPr/>
        </p:nvSpPr>
        <p:spPr>
          <a:xfrm>
            <a:off x="42703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Approval</a:t>
            </a:r>
          </a:p>
        </p:txBody>
      </p:sp>
      <p:sp>
        <p:nvSpPr>
          <p:cNvPr id="2120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FDA pathway</a:t>
            </a:r>
          </a:p>
        </p:txBody>
      </p:sp>
      <p:sp>
        <p:nvSpPr>
          <p:cNvPr id="2121" name="WsBar2_1"/>
          <p:cNvSpPr/>
          <p:nvPr/>
        </p:nvSpPr>
        <p:spPr>
          <a:xfrm>
            <a:off x="5495720" y="31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GRAS/feed</a:t>
            </a:r>
          </a:p>
        </p:txBody>
      </p:sp>
      <p:sp>
        <p:nvSpPr>
          <p:cNvPr id="2122" name="Ms2_1"/>
          <p:cNvSpPr/>
          <p:nvPr/>
        </p:nvSpPr>
        <p:spPr>
          <a:xfrm>
            <a:off x="77615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3" name="MsLbl2_1"/>
          <p:cNvSpPr txBox="1"/>
          <p:nvPr/>
        </p:nvSpPr>
        <p:spPr>
          <a:xfrm>
            <a:off x="75203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Approval</a:t>
            </a:r>
          </a:p>
        </p:txBody>
      </p:sp>
      <p:cxnSp>
        <p:nvCxnSpPr>
          <p:cNvPr id="2124" name="TodayLine"/>
          <p:cNvCxnSpPr>
    </p:cNvCxnSpPr>
          <p:nvPr/>
        </p:nvCxnSpPr>
        <p:spPr>
          <a:xfrm>
            <a:off x="2200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2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pre-work is essential for nano-mineral commercialization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have FDA/NOSB approval pathways available now</a:t>
            </a:r>
          </a:p>
        </p:txBody>
      </p:sp>
      <p:sp>
        <p:nvSpPr>
          <p:cNvPr id="2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209" name="RadarTarget"/>
          <p:cNvSpPr/>
          <p:nvPr/>
        </p:nvSpPr>
        <p:spPr>
          <a:xfrm>
            <a:off x="235292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1247077" y="0"/>
                </a:moveTo>
                <a:lnTo>
                  <a:pt x="2182384" y="2340000"/>
                </a:lnTo>
                <a:lnTo>
                  <a:pt x="0" y="25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0" name="RadarCurrent"/>
          <p:cNvSpPr/>
          <p:nvPr/>
        </p:nvSpPr>
        <p:spPr>
          <a:xfrm>
            <a:off x="2976462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623538" y="0"/>
                </a:moveTo>
                <a:lnTo>
                  <a:pt x="935307" y="1260000"/>
                </a:lnTo>
                <a:lnTo>
                  <a:pt x="0" y="144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 status</a:t>
            </a:r>
          </a:p>
        </p:txBody>
      </p:sp>
      <p:sp>
        <p:nvSpPr>
          <p:cNvPr id="2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Pre-submission</a:t>
            </a:r>
          </a:p>
        </p:txBody>
      </p:sp>
      <p:sp>
        <p:nvSpPr>
          <p:cNvPr id="2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Approval process</a:t>
            </a:r>
          </a:p>
        </p:txBody>
      </p:sp>
      <p:sp>
        <p:nvSpPr>
          <p:cNvPr id="2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2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2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FDA/NOSB organic-listing pathway available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pre-submission by Q1 2027</a:t>
            </a:r>
          </a:p>
        </p:txBody>
      </p:sp>
      <p:sp>
        <p:nvSpPr>
          <p:cNvPr id="10002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have established regulatory pathways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green-synthesis methods for environmental benefits</a:t>
            </a:r>
          </a:p>
        </p:txBody>
      </p:sp>
      <p:sp>
        <p:nvSpPr>
          <p:cNvPr id="23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INVESTMENT LEVEL</a:t>
            </a:r>
          </a:p>
        </p:txBody>
      </p:sp>
      <p:sp>
        <p:nvSpPr>
          <p:cNvPr id="23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23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MONTHS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Optimize core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Develop green synthesis methods for Biogenic SeNPs, ZnO-NPs</a:t>
            </a:r>
          </a:p>
        </p:txBody>
      </p:sp>
      <p:sp>
        <p:nvSpPr>
          <p:cNvPr id="23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3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Build adjacencies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Commercialize clay-supported nano-ZnO (ZnO-K) for stability</a:t>
            </a:r>
          </a:p>
        </p:txBody>
      </p:sp>
      <p:sp>
        <p:nvSpPr>
          <p:cNvPr id="23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3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YEARS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Create the future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Explore new nano-mineral applications with green synthesis</a:t>
            </a:r>
          </a:p>
        </p:txBody>
      </p:sp>
      <p:sp>
        <p:nvSpPr>
          <p:cNvPr id="23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TIME TO MARKET →</a:t>
            </a:r>
          </a:p>
        </p:txBody>
      </p:sp>
      <p:sp>
        <p:nvSpPr>
          <p:cNvPr id="10002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Green synthesis methods are key for nano-mineral commercialization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have 42% gross margin at scale</a:t>
            </a:r>
          </a:p>
        </p:txBody>
      </p:sp>
      <p:cxnSp>
        <p:nvCxnSpPr>
          <p:cNvPr id="24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2407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408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Suppliers</a:t>
            </a:r>
          </a:p>
        </p:txBody>
      </p:sp>
      <p:sp>
        <p:nvSpPr>
          <p:cNvPr id="2409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2410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Nano-formulations</a:t>
            </a:r>
          </a:p>
        </p:txBody>
      </p:sp>
      <p:sp>
        <p:nvSpPr>
          <p:cNvPr id="2411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Media</a:t>
            </a:r>
          </a:p>
        </p:txBody>
      </p:sp>
      <p:sp>
        <p:nvSpPr>
          <p:cNvPr id="2412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2413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Organic chelates</a:t>
            </a:r>
          </a:p>
        </p:txBody>
      </p:sp>
      <p:sp>
        <p:nvSpPr>
          <p:cNvPr id="2414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2415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2416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2417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2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Organic chelates offer better financial returns than nano-formulations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2-3x higher capital investment than organic…</a:t>
            </a:r>
          </a:p>
        </p:txBody>
      </p:sp>
      <p:sp>
        <p:nvSpPr>
          <p:cNvPr id="25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CapEx intensity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2-3x higher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vs. organic chelates</a:t>
            </a:r>
          </a:p>
        </p:txBody>
      </p:sp>
      <p:sp>
        <p:nvSpPr>
          <p:cNvPr id="25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3-year CapEx   </a:t>
            </a:r>
            <a:r>
              <a:rPr lang="en-US" sz="1200" b="1" dirty="0">
                <a:solidFill>
                  <a:srgbClr val="595959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$60M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10002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Report data</a:t>
            </a:r>
          </a:p>
        </p:txBody>
      </p:sp>
      <p:sp>
        <p:nvSpPr>
          <p:cNvPr id="10002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Higher capital requirements must be justified by growth potential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26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Organic chelates: Key benefits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26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Excretion reduction &amp; premium pricing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26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Profitability vs. growth trade-off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2611" name="AgendaRow4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2" name="AgendaNum4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13" name="AgendaTxt4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Nano-minerals: Future potential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2614" name="AgendaRow5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5" name="AgendaNum5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16" name="AgendaTxt5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Validation challenges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2617" name="AgendaRow6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8" name="AgendaNum6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19" name="AgendaTxt6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Strategy recommendations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Organic chelates command 1.5-2.5x premium over inorganic salts, creating immediate profitability but requiring customer adoption.</a:t>
            </a:r>
          </a:p>
        </p:txBody>
      </p:sp>
      <p:sp>
        <p:nvSpPr>
          <p:cNvPr id="2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Premium pricing drives profitability</a:t>
            </a:r>
          </a:p>
        </p:txBody>
      </p:sp>
      <p:sp>
        <p:nvSpPr>
          <p:cNvPr id="2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Customer adoption is critical</a:t>
            </a:r>
          </a:p>
        </p:txBody>
      </p:sp>
      <p:sp>
        <p:nvSpPr>
          <p:cNvPr id="2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Market positioning strategy</a:t>
            </a:r>
          </a:p>
        </p:txBody>
      </p:sp>
      <p:sp>
        <p:nvSpPr>
          <p:cNvPr id="2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Organic chelates cost $8.00-$18.00/kg vs. $2.50-$5.00/kg for inorganic salts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Higher price point ensures immediate profitability for suppliers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Premium pricing can justify higher costs in niche markets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Profit margins are maximized due to the price differential</a:t>
            </a:r>
          </a:p>
        </p:txBody>
      </p:sp>
      <p:sp>
        <p:nvSpPr>
          <p:cNvPr id="2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Customers must perceive value in organic chelates to justify the price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Adoption requires education on benefits like bioavailability and stability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Early adopters may drive market demand and acceptance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Without adoption, premium pricing may not sustain profitability</a:t>
            </a:r>
          </a:p>
        </p:txBody>
      </p:sp>
      <p:sp>
        <p:nvSpPr>
          <p:cNvPr id="2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Premium pricing positions product as high-value in competitive markets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Strategic report highlights organic chelates as a premium alternative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Differentiation from inorganic salts is key to market success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Premium pricing can signal quality and innovation to buyers</a:t>
            </a:r>
          </a:p>
        </p:txBody>
      </p:sp>
      <p:cxnSp>
        <p:nvCxnSpPr>
          <p:cNvPr id="2708" name="PyramidConn1"/>
          <p:cNvCxnSpPr>
            <a:stCxn id="2701" idx="2"/>
            <a:endCxn id="2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09" name="PyramidConn2"/>
          <p:cNvCxnSpPr>
            <a:stCxn id="2701" idx="2"/>
            <a:endCxn id="2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10" name="PyramidConn3"/>
          <p:cNvCxnSpPr>
            <a:stCxn id="2701" idx="2"/>
            <a:endCxn id="2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require 2-3x higher capital intensity than organic chelates</a:t>
            </a:r>
          </a:p>
        </p:txBody>
      </p:sp>
      <p:sp>
        <p:nvSpPr>
          <p:cNvPr id="2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Nano-formulations: $15.00-$45.00/kg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Organic chelates: $8.00-$18.00/kg</a:t>
            </a:r>
          </a:p>
        </p:txBody>
      </p:sp>
      <p:sp>
        <p:nvSpPr>
          <p:cNvPr id="2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Nano-minerals require 2-3x higher capital intensity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Higher CapEx may delay nano-mineral commercialization</a:t>
            </a:r>
          </a:p>
        </p:txBody>
      </p:sp>
      <p:sp>
        <p:nvSpPr>
          <p:cNvPr id="2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cost savings with scale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demand for nano-technology applications</a:t>
            </a:r>
          </a:p>
        </p:txBody>
      </p:sp>
      <p:sp>
        <p:nvSpPr>
          <p:cNvPr id="2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hurdles for nano-products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established chelate suppliers</a:t>
            </a:r>
          </a:p>
        </p:txBody>
      </p:sp>
      <p:sp>
        <p:nvSpPr>
          <p:cNvPr id="10002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2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Higher CapEx may delay nano-mineral commercialization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China dominates 60% of mineral extraction for aquaculture</a:t>
            </a:r>
          </a:p>
        </p:txBody>
      </p:sp>
      <p:sp>
        <p:nvSpPr>
          <p:cNvPr id="2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2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RISK</a:t>
            </a:r>
          </a:p>
        </p:txBody>
      </p:sp>
      <p:sp>
        <p:nvSpPr>
          <p:cNvPr id="2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RISK</a:t>
            </a:r>
          </a:p>
        </p:txBody>
      </p:sp>
      <p:sp>
        <p:nvSpPr>
          <p:cNvPr id="2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RISK</a:t>
            </a:r>
          </a:p>
        </p:txBody>
      </p:sp>
      <p:sp>
        <p:nvSpPr>
          <p:cNvPr id="2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RISK</a:t>
            </a:r>
          </a:p>
        </p:txBody>
      </p:sp>
      <p:sp>
        <p:nvSpPr>
          <p:cNvPr id="2912" name="Bubble1"/>
          <p:cNvSpPr/>
          <p:nvPr/>
        </p:nvSpPr>
        <p:spPr>
          <a:xfrm>
            <a:off x="638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China's Dominance</a:t>
            </a:r>
          </a:p>
        </p:txBody>
      </p:sp>
      <p:sp>
        <p:nvSpPr>
          <p:cNvPr id="2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SUPPLY RISK →</a:t>
            </a:r>
          </a:p>
        </p:txBody>
      </p:sp>
      <p:sp>
        <p:nvSpPr>
          <p:cNvPr id="2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GEOPOLITICAL RISK ↑</a:t>
            </a:r>
          </a:p>
        </p:txBody>
      </p:sp>
      <p:sp>
        <p:nvSpPr>
          <p:cNvPr id="10002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2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Supply chain concentration creates geopolitical and operational risks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3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30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CARGILL</a:t>
            </a:r>
          </a:p>
        </p:txBody>
      </p:sp>
      <p:sp>
        <p:nvSpPr>
          <p:cNvPr id="30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SKRETTING/NUTRECO</a:t>
            </a:r>
          </a:p>
        </p:txBody>
      </p:sp>
      <p:sp>
        <p:nvSpPr>
          <p:cNvPr id="30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BIOMAR</a:t>
            </a:r>
          </a:p>
        </p:txBody>
      </p:sp>
      <p:sp>
        <p:nvSpPr>
          <p:cNvPr id="30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Market Share</a:t>
            </a:r>
          </a:p>
        </p:txBody>
      </p:sp>
      <p:sp>
        <p:nvSpPr>
          <p:cNvPr id="30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0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0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30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Strategic Value</a:t>
            </a:r>
          </a:p>
        </p:txBody>
      </p:sp>
      <p:sp>
        <p:nvSpPr>
          <p:cNvPr id="30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0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0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3013" name="HvScoreLbl"/>
          <p:cNvSpPr txBox="1"/>
          <p:nvPr/>
        </p:nvSpPr>
        <p:spPr>
          <a:xfrm>
            <a:off x="457200" y="2844000"/>
            <a:ext cx="2700000" cy="504000"/>
          </a:xfrm>
          <a:prstGeom prst="rect">
            <a:avLst/>
          </a:prstGeom>
          <a:solidFill>
            <a:srgbClr val="002F69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WEIGHTED SCORE</a:t>
            </a:r>
          </a:p>
        </p:txBody>
      </p:sp>
      <p:sp>
        <p:nvSpPr>
          <p:cNvPr id="3014" name="HvScore1"/>
          <p:cNvSpPr txBox="1"/>
          <p:nvPr/>
        </p:nvSpPr>
        <p:spPr>
          <a:xfrm>
            <a:off x="31572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3.5</a:t>
            </a:r>
          </a:p>
        </p:txBody>
      </p:sp>
      <p:sp>
        <p:nvSpPr>
          <p:cNvPr id="3015" name="HvScore2"/>
          <p:cNvSpPr txBox="1"/>
          <p:nvPr/>
        </p:nvSpPr>
        <p:spPr>
          <a:xfrm>
            <a:off x="50004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3.5</a:t>
            </a:r>
          </a:p>
        </p:txBody>
      </p:sp>
      <p:sp>
        <p:nvSpPr>
          <p:cNvPr id="3016" name="HvScore3"/>
          <p:cNvSpPr txBox="1"/>
          <p:nvPr/>
        </p:nvSpPr>
        <p:spPr>
          <a:xfrm>
            <a:off x="6843600" y="2844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3.5</a:t>
            </a:r>
          </a:p>
        </p:txBody>
      </p:sp>
      <p:sp>
        <p:nvSpPr>
          <p:cNvPr id="10003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Competitive landscape requires strategic partnerships for market access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EFSA opinions on nano-minerals expected by 2027-2028</a:t>
            </a:r>
          </a:p>
        </p:txBody>
      </p:sp>
      <p:sp>
        <p:nvSpPr>
          <p:cNvPr id="3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3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3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3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3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3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3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3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3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3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approvals are critical path dependencies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Base-case NPV of $41.9M requires 5.5-year payback</a:t>
            </a:r>
          </a:p>
        </p:txBody>
      </p:sp>
      <p:sp>
        <p:nvSpPr>
          <p:cNvPr id="3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NPV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$41.9M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19.6% IRR</a:t>
            </a:r>
          </a:p>
        </p:txBody>
      </p:sp>
      <p:sp>
        <p:nvSpPr>
          <p:cNvPr id="3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Payback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5.5 years</a:t>
            </a:r>
          </a:p>
        </p:txBody>
      </p:sp>
      <p:sp>
        <p:nvSpPr>
          <p:cNvPr id="32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Execution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Operational</a:t>
            </a:r>
          </a:p>
        </p:txBody>
      </p:sp>
      <p:sp>
        <p:nvSpPr>
          <p:cNvPr id="32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Return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Strong</a:t>
            </a:r>
          </a:p>
        </p:txBody>
      </p:sp>
      <p:cxnSp>
        <p:nvCxnSpPr>
          <p:cNvPr id="3205" name="BranchRoot_1"/>
          <p:cNvCxnSpPr>
            <a:stCxn id="3201" idx="1"/>
            <a:endCxn id="3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6" name="BranchL2_1_1"/>
          <p:cNvCxnSpPr>
            <a:stCxn id="3202" idx="1"/>
            <a:endCxn id="32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7" name="BranchL2_1_2"/>
          <p:cNvCxnSpPr>
            <a:stCxn id="3202" idx="1"/>
            <a:endCxn id="32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3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Financial model shows strong return but requires operational execution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First commercial sale expected in Q1 2028</a:t>
            </a:r>
          </a:p>
        </p:txBody>
      </p:sp>
      <p:graphicFrame>
        <p:nvGraphicFramePr>
          <p:cNvPr id="33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First commercial sale expected in Q1 2028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Execution requires careful timing and risk management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3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Execution requires careful timing and risk management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Secure IP and feed-mill partnerships by Q3 2026</a:t>
            </a:r>
          </a:p>
        </p:txBody>
      </p:sp>
      <p:sp>
        <p:nvSpPr>
          <p:cNvPr id="3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409" name="RadarTarget"/>
          <p:cNvSpPr/>
          <p:nvPr/>
        </p:nvSpPr>
        <p:spPr>
          <a:xfrm>
            <a:off x="2664693" y="2280000"/>
            <a:ext cx="1870614" cy="1980000"/>
          </a:xfrm>
          <a:custGeom>
            <a:avLst/>
            <a:gdLst/>
            <a:ahLst/>
            <a:cxnLst/>
            <a:rect l="0" t="0" r="1870614" b="1980000"/>
            <a:pathLst>
              <a:path w="1870614" h="1980000">
                <a:moveTo>
                  <a:pt x="935307" y="0"/>
                </a:moveTo>
                <a:lnTo>
                  <a:pt x="1870614" y="1980000"/>
                </a:lnTo>
                <a:lnTo>
                  <a:pt x="0" y="198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0" name="RadarCurrent"/>
          <p:cNvSpPr/>
          <p:nvPr/>
        </p:nvSpPr>
        <p:spPr>
          <a:xfrm>
            <a:off x="3288231" y="3000000"/>
            <a:ext cx="623538" cy="900000"/>
          </a:xfrm>
          <a:custGeom>
            <a:avLst/>
            <a:gdLst/>
            <a:ahLst/>
            <a:cxnLst/>
            <a:rect l="0" t="0" r="623538" b="900000"/>
            <a:pathLst>
              <a:path w="623538" h="900000">
                <a:moveTo>
                  <a:pt x="311769" y="0"/>
                </a:moveTo>
                <a:lnTo>
                  <a:pt x="623538" y="900000"/>
                </a:lnTo>
                <a:lnTo>
                  <a:pt x="0" y="9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IP protection</a:t>
            </a:r>
          </a:p>
        </p:txBody>
      </p:sp>
      <p:sp>
        <p:nvSpPr>
          <p:cNvPr id="3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Partnerships</a:t>
            </a:r>
          </a:p>
        </p:txBody>
      </p:sp>
      <p:sp>
        <p:nvSpPr>
          <p:cNvPr id="3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Patent filing</a:t>
            </a:r>
          </a:p>
        </p:txBody>
      </p:sp>
      <p:sp>
        <p:nvSpPr>
          <p:cNvPr id="3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3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3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File ≥3 nano-formulation patents by Q3 2026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Lock exclusive supply agreements</a:t>
            </a:r>
          </a:p>
        </p:txBody>
      </p:sp>
      <p:sp>
        <p:nvSpPr>
          <p:cNvPr id="10003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IP protection and partnerships are essential for competitive advantage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Pessimistic scenario shows -$18.4M NPV with 20% probability</a:t>
            </a:r>
          </a:p>
        </p:txBody>
      </p:sp>
      <p:sp>
        <p:nvSpPr>
          <p:cNvPr id="35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NET PRESENT VALUE (NPV)</a:t>
            </a:r>
          </a:p>
        </p:txBody>
      </p:sp>
      <p:sp>
        <p:nvSpPr>
          <p:cNvPr id="35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35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PESSIMISTIC SCENARIO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Financial risk assessment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NPV: -$18.4M (20% probability)</a:t>
            </a:r>
          </a:p>
        </p:txBody>
      </p:sp>
      <p:sp>
        <p:nvSpPr>
          <p:cNvPr id="35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35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RISK MITIGATION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Financial protection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Develop risk mitigation strategies</a:t>
            </a:r>
          </a:p>
        </p:txBody>
      </p:sp>
      <p:sp>
        <p:nvSpPr>
          <p:cNvPr id="35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35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FUTURE OUTLOOK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Strategic resilience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Prepare for financial uncertainty</a:t>
            </a:r>
          </a:p>
        </p:txBody>
      </p:sp>
      <p:sp>
        <p:nvSpPr>
          <p:cNvPr id="35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PROBABILITY →</a:t>
            </a:r>
          </a:p>
        </p:txBody>
      </p:sp>
      <p:sp>
        <p:nvSpPr>
          <p:cNvPr id="10003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Risk mitigation strategies are essential for financial protection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Probability-weighted NPV of $28.6M justifies conditional 'Go' decision</a:t>
            </a:r>
          </a:p>
        </p:txBody>
      </p:sp>
      <p:cxnSp>
        <p:nvCxnSpPr>
          <p:cNvPr id="36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3607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608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3609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3610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Competitors</a:t>
            </a:r>
          </a:p>
        </p:txBody>
      </p:sp>
      <p:sp>
        <p:nvSpPr>
          <p:cNvPr id="3611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Suppliers</a:t>
            </a:r>
          </a:p>
        </p:txBody>
      </p:sp>
      <p:sp>
        <p:nvSpPr>
          <p:cNvPr id="3612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Media</a:t>
            </a:r>
          </a:p>
        </p:txBody>
      </p:sp>
      <p:sp>
        <p:nvSpPr>
          <p:cNvPr id="3613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Your company</a:t>
            </a:r>
          </a:p>
        </p:txBody>
      </p:sp>
      <p:sp>
        <p:nvSpPr>
          <p:cNvPr id="3614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INFLUENCE</a:t>
            </a:r>
          </a:p>
        </p:txBody>
      </p:sp>
      <p:sp>
        <p:nvSpPr>
          <p:cNvPr id="3615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IMPACT</a:t>
            </a:r>
          </a:p>
        </p:txBody>
      </p:sp>
      <p:sp>
        <p:nvSpPr>
          <p:cNvPr id="3616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MONITOR</a:t>
            </a:r>
          </a:p>
        </p:txBody>
      </p:sp>
      <p:sp>
        <p:nvSpPr>
          <p:cNvPr id="3617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ENGAGE</a:t>
            </a:r>
          </a:p>
        </p:txBody>
      </p:sp>
      <p:sp>
        <p:nvSpPr>
          <p:cNvPr id="10003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 Strategic Report</a:t>
            </a:r>
          </a:p>
        </p:txBody>
      </p:sp>
      <p:sp>
        <p:nvSpPr>
          <p:cNvPr id="10003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Conditional 'Go' decision requires execution of gated milestones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The $28.5B mineral supplement market will grow at 6.2% CAGR through 2034, offering significant expansion opportunities.</a:t>
            </a:r>
          </a:p>
        </p:txBody>
      </p:sp>
      <p:sp>
        <p:nvSpPr>
          <p:cNvPr id="3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Market size and growth</a:t>
            </a:r>
          </a:p>
        </p:txBody>
      </p:sp>
      <p:sp>
        <p:nvSpPr>
          <p:cNvPr id="3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Shrimp feed segment growth</a:t>
            </a:r>
          </a:p>
        </p:txBody>
      </p:sp>
      <p:sp>
        <p:nvSpPr>
          <p:cNvPr id="3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3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Global market size: $17.0B (2025) to $28.5B (2034)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CAGR of 6.2% through 2034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Source: Brief, 2025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Represents a significant expansion opportunity</a:t>
            </a:r>
          </a:p>
        </p:txBody>
      </p:sp>
      <p:sp>
        <p:nvSpPr>
          <p:cNvPr id="3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Shrimp feed segment: $4.3-4.6B (2024-25)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Projected to reach ~$6.4B by 2035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Key driver of overall market growth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High demand for sustainable aquaculture solutions</a:t>
            </a:r>
          </a:p>
        </p:txBody>
      </p:sp>
      <p:sp>
        <p:nvSpPr>
          <p:cNvPr id="3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Increasing demand for mineral supplements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Growing adoption in aquaculture and animal feed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Potential for new entrants and partnerships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Regulatory support for mineral-rich products</a:t>
            </a:r>
          </a:p>
        </p:txBody>
      </p:sp>
      <p:cxnSp>
        <p:nvCxnSpPr>
          <p:cNvPr id="3708" name="PyramidConn1"/>
          <p:cNvCxnSpPr>
            <a:stCxn id="3701" idx="2"/>
            <a:endCxn id="3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09" name="PyramidConn2"/>
          <p:cNvCxnSpPr>
            <a:stCxn id="3701" idx="2"/>
            <a:endCxn id="3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10" name="PyramidConn3"/>
          <p:cNvCxnSpPr>
            <a:stCxn id="3701" idx="2"/>
            <a:endCxn id="3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Organic chelates command 1.5-2.5x premium over inorganic salts</a:t>
            </a:r>
          </a:p>
        </p:txBody>
      </p:sp>
      <p:sp>
        <p:nvSpPr>
          <p:cNvPr id="3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1.5-2.5x premium pricing over inorganic salts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40% excretion reduction (Huang et al., 2025)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Price range: $8.00-$18.00/kg</a:t>
            </a:r>
          </a:p>
        </p:txBody>
      </p:sp>
      <p:sp>
        <p:nvSpPr>
          <p:cNvPr id="3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higher production costs for organic chelates</a:t>
            </a:r>
          </a:p>
        </p:txBody>
      </p:sp>
      <p:sp>
        <p:nvSpPr>
          <p:cNvPr id="3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Clear profitability path from premium pricing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market expansion due to pricing advantage</a:t>
            </a:r>
          </a:p>
        </p:txBody>
      </p:sp>
      <p:sp>
        <p:nvSpPr>
          <p:cNvPr id="3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established inorganic salt suppliers</a:t>
            </a:r>
          </a:p>
        </p:txBody>
      </p:sp>
      <p:sp>
        <p:nvSpPr>
          <p:cNvPr id="10003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</a:t>
            </a:r>
          </a:p>
        </p:txBody>
      </p:sp>
      <p:sp>
        <p:nvSpPr>
          <p:cNvPr id="10003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This pricing advantage creates a clear path to profitability for organic chelates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deliver 1.5-3x growth improvements at 10-50% lower…</a:t>
            </a:r>
          </a:p>
        </p:txBody>
      </p:sp>
      <p:sp>
        <p:nvSpPr>
          <p:cNvPr id="3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3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3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RATE, LOW GROWTH</a:t>
            </a:r>
          </a:p>
        </p:txBody>
      </p:sp>
      <p:sp>
        <p:nvSpPr>
          <p:cNvPr id="3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RATE, HIGH GROWTH</a:t>
            </a:r>
          </a:p>
        </p:txBody>
      </p:sp>
      <p:sp>
        <p:nvSpPr>
          <p:cNvPr id="3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RATE, LOW GROWTH</a:t>
            </a:r>
          </a:p>
        </p:txBody>
      </p:sp>
      <p:sp>
        <p:nvSpPr>
          <p:cNvPr id="3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RATE, HIGH GROWTH</a:t>
            </a:r>
          </a:p>
        </p:txBody>
      </p:sp>
      <p:sp>
        <p:nvSpPr>
          <p:cNvPr id="3912" name="Bubble1"/>
          <p:cNvSpPr/>
          <p:nvPr/>
        </p:nvSpPr>
        <p:spPr>
          <a:xfrm>
            <a:off x="570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Nano-minerals</a:t>
            </a:r>
          </a:p>
        </p:txBody>
      </p:sp>
      <p:sp>
        <p:nvSpPr>
          <p:cNvPr id="3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INCLUSION RATE REDUCTION →</a:t>
            </a:r>
          </a:p>
        </p:txBody>
      </p:sp>
      <p:sp>
        <p:nvSpPr>
          <p:cNvPr id="3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PERFORMANCE IMPROVEMENT ↑</a:t>
            </a:r>
          </a:p>
        </p:txBody>
      </p:sp>
      <p:sp>
        <p:nvSpPr>
          <p:cNvPr id="10003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</a:t>
            </a:r>
          </a:p>
        </p:txBody>
      </p:sp>
      <p:sp>
        <p:nvSpPr>
          <p:cNvPr id="10003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offer significant performance benefits that justify their higher cost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shrimp feed market is concentrated with 50-55% controlled by…</a:t>
            </a:r>
          </a:p>
        </p:txBody>
      </p:sp>
      <p:graphicFrame>
        <p:nvGraphicFramePr>
          <p:cNvPr id="40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The shrimp feed market is concentrated with 50-55% controlled by Cargill, Skretting, and BioMar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This concentration creates both opportunities and challenges for new entrants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4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Brief, 2025</a:t>
            </a:r>
          </a:p>
        </p:txBody>
      </p:sp>
      <p:sp>
        <p:nvSpPr>
          <p:cNvPr id="10004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This concentration creates both opportunities and challenges for new entrants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Regulatory approvals for nano-minerals are pending with EFSA opinions…</a:t>
            </a:r>
          </a:p>
        </p:txBody>
      </p:sp>
      <p:sp>
        <p:nvSpPr>
          <p:cNvPr id="4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Pending</a:t>
            </a:r>
          </a:p>
        </p:txBody>
      </p:sp>
      <p:sp>
        <p:nvSpPr>
          <p:cNvPr id="4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4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4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Brief, 2025</a:t>
            </a:r>
          </a:p>
        </p:txBody>
      </p:sp>
      <p:sp>
        <p:nvSpPr>
          <p:cNvPr id="10004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approvals represent a critical path dependency for nano-mineral commercialization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financial model shows a base-case NPV of $41.9M with a…</a:t>
            </a:r>
          </a:p>
        </p:txBody>
      </p:sp>
      <p:sp>
        <p:nvSpPr>
          <p:cNvPr id="4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NPV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$41.9M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Base-case</a:t>
            </a:r>
          </a:p>
        </p:txBody>
      </p:sp>
      <p:sp>
        <p:nvSpPr>
          <p:cNvPr id="4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Probability-weighted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$28.6M</a:t>
            </a:r>
          </a:p>
        </p:txBody>
      </p:sp>
      <p:sp>
        <p:nvSpPr>
          <p:cNvPr id="42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IRR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19.6-20.59%</a:t>
            </a:r>
          </a:p>
        </p:txBody>
      </p:sp>
      <p:sp>
        <p:nvSpPr>
          <p:cNvPr id="42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Pessimistic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-$18.4M</a:t>
            </a:r>
          </a:p>
        </p:txBody>
      </p:sp>
      <p:sp>
        <p:nvSpPr>
          <p:cNvPr id="42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Upside potential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Conditional 'Go'</a:t>
            </a:r>
          </a:p>
        </p:txBody>
      </p:sp>
      <p:cxnSp>
        <p:nvCxnSpPr>
          <p:cNvPr id="4205" name="BranchRoot_1"/>
          <p:cNvCxnSpPr>
            <a:stCxn id="4201" idx="1"/>
            <a:endCxn id="4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6" name="BranchL2_1_1"/>
          <p:cNvCxnSpPr>
            <a:stCxn id="4202" idx="1"/>
            <a:endCxn id="42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7" name="BranchL2_1_2"/>
          <p:cNvCxnSpPr>
            <a:stCxn id="4202" idx="1"/>
            <a:endCxn id="42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9" name="BranchRoot_2"/>
          <p:cNvCxnSpPr>
            <a:stCxn id="4201" idx="1"/>
            <a:endCxn id="42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4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Brief, 2025</a:t>
            </a:r>
          </a:p>
        </p:txBody>
      </p:sp>
      <p:sp>
        <p:nvSpPr>
          <p:cNvPr id="10004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The financial model supports a conditional 'Go' decision with significant upside potential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execution roadmap includes three key phases: foundation, piloting,…</a:t>
            </a:r>
          </a:p>
        </p:txBody>
      </p:sp>
      <p:graphicFrame>
        <p:nvGraphicFramePr>
          <p:cNvPr id="43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The execution roadmap includes three key phases: foundation, piloting, and expansion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A structured, phased approach minimizes risk and maximizes learning opportunities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4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Brief, 2025</a:t>
            </a:r>
          </a:p>
        </p:txBody>
      </p:sp>
      <p:sp>
        <p:nvSpPr>
          <p:cNvPr id="10004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 structured, phased approach minimizes risk and maximizes learning opportunities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Three strategic moves secure success: IP protection, feed-mill…</a:t>
            </a:r>
          </a:p>
        </p:txBody>
      </p:sp>
      <p:sp>
        <p:nvSpPr>
          <p:cNvPr id="4401" name="RadarRing1"/>
          <p:cNvSpPr/>
          <p:nvPr/>
        </p:nvSpPr>
        <p:spPr>
          <a:xfrm>
            <a:off x="3257620" y="3360000"/>
            <a:ext cx="684760" cy="651246"/>
          </a:xfrm>
          <a:custGeom>
            <a:avLst/>
            <a:gdLst/>
            <a:ahLst/>
            <a:cxnLst/>
            <a:rect l="0" t="0" r="684760" b="651246"/>
            <a:pathLst>
              <a:path w="684760" h="651246">
                <a:moveTo>
                  <a:pt x="342380" y="0"/>
                </a:moveTo>
                <a:lnTo>
                  <a:pt x="684760" y="248754"/>
                </a:lnTo>
                <a:lnTo>
                  <a:pt x="553983" y="651246"/>
                </a:lnTo>
                <a:lnTo>
                  <a:pt x="130777" y="651246"/>
                </a:lnTo>
                <a:lnTo>
                  <a:pt x="0" y="248754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2" name="RadarRing2"/>
          <p:cNvSpPr/>
          <p:nvPr/>
        </p:nvSpPr>
        <p:spPr>
          <a:xfrm>
            <a:off x="2915239" y="3000000"/>
            <a:ext cx="1369522" cy="1302492"/>
          </a:xfrm>
          <a:custGeom>
            <a:avLst/>
            <a:gdLst/>
            <a:ahLst/>
            <a:cxnLst/>
            <a:rect l="0" t="0" r="1369522" b="1302492"/>
            <a:pathLst>
              <a:path w="1369522" h="1302492">
                <a:moveTo>
                  <a:pt x="684761" y="0"/>
                </a:moveTo>
                <a:lnTo>
                  <a:pt x="1369522" y="497508"/>
                </a:lnTo>
                <a:lnTo>
                  <a:pt x="1107966" y="1302492"/>
                </a:lnTo>
                <a:lnTo>
                  <a:pt x="261556" y="1302492"/>
                </a:lnTo>
                <a:lnTo>
                  <a:pt x="0" y="497508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3" name="RadarRing3"/>
          <p:cNvSpPr/>
          <p:nvPr/>
        </p:nvSpPr>
        <p:spPr>
          <a:xfrm>
            <a:off x="2572859" y="2640000"/>
            <a:ext cx="2054282" cy="1953738"/>
          </a:xfrm>
          <a:custGeom>
            <a:avLst/>
            <a:gdLst/>
            <a:ahLst/>
            <a:cxnLst/>
            <a:rect l="0" t="0" r="2054282" b="1953738"/>
            <a:pathLst>
              <a:path w="2054282" h="1953738">
                <a:moveTo>
                  <a:pt x="1027141" y="0"/>
                </a:moveTo>
                <a:lnTo>
                  <a:pt x="2054282" y="746262"/>
                </a:lnTo>
                <a:lnTo>
                  <a:pt x="1661949" y="1953738"/>
                </a:lnTo>
                <a:lnTo>
                  <a:pt x="392333" y="1953738"/>
                </a:lnTo>
                <a:lnTo>
                  <a:pt x="0" y="746262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4" name="RadarRing4"/>
          <p:cNvSpPr/>
          <p:nvPr/>
        </p:nvSpPr>
        <p:spPr>
          <a:xfrm>
            <a:off x="2230479" y="2280000"/>
            <a:ext cx="2739042" cy="2604984"/>
          </a:xfrm>
          <a:custGeom>
            <a:avLst/>
            <a:gdLst/>
            <a:ahLst/>
            <a:cxnLst/>
            <a:rect l="0" t="0" r="2739042" b="2604984"/>
            <a:pathLst>
              <a:path w="2739042" h="2604984">
                <a:moveTo>
                  <a:pt x="1369521" y="0"/>
                </a:moveTo>
                <a:lnTo>
                  <a:pt x="2739042" y="995016"/>
                </a:lnTo>
                <a:lnTo>
                  <a:pt x="2215932" y="2604984"/>
                </a:lnTo>
                <a:lnTo>
                  <a:pt x="523110" y="2604984"/>
                </a:lnTo>
                <a:lnTo>
                  <a:pt x="0" y="995016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5" name="RadarRing5"/>
          <p:cNvSpPr/>
          <p:nvPr/>
        </p:nvSpPr>
        <p:spPr>
          <a:xfrm>
            <a:off x="1888098" y="1920000"/>
            <a:ext cx="3423804" cy="3256231"/>
          </a:xfrm>
          <a:custGeom>
            <a:avLst/>
            <a:gdLst/>
            <a:ahLst/>
            <a:cxnLst/>
            <a:rect l="0" t="0" r="3423804" b="3256231"/>
            <a:pathLst>
              <a:path w="3423804" h="3256231">
                <a:moveTo>
                  <a:pt x="1711902" y="0"/>
                </a:moveTo>
                <a:lnTo>
                  <a:pt x="3423804" y="1243769"/>
                </a:lnTo>
                <a:lnTo>
                  <a:pt x="2769915" y="3256231"/>
                </a:lnTo>
                <a:lnTo>
                  <a:pt x="653889" y="3256231"/>
                </a:lnTo>
                <a:lnTo>
                  <a:pt x="0" y="1243769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7" name="RadarSpoke2"/>
          <p:cNvCxnSpPr>
    </p:cNvCxnSpPr>
          <p:nvPr/>
        </p:nvCxnSpPr>
        <p:spPr>
          <a:xfrm flipV="1">
            <a:off x="3600000" y="3163769"/>
            <a:ext cx="1711902" cy="556231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8" name="RadarSpoke3"/>
          <p:cNvCxnSpPr>
    </p:cNvCxnSpPr>
          <p:nvPr/>
        </p:nvCxnSpPr>
        <p:spPr>
          <a:xfrm>
            <a:off x="3600000" y="3720000"/>
            <a:ext cx="1058013" cy="1456231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9" name="RadarSpoke4"/>
          <p:cNvCxnSpPr>
    </p:cNvCxnSpPr>
          <p:nvPr/>
        </p:nvCxnSpPr>
        <p:spPr>
          <a:xfrm flipH="1">
            <a:off x="2541987" y="3720000"/>
            <a:ext cx="1058013" cy="1456231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10" name="RadarSpoke5"/>
          <p:cNvCxnSpPr>
    </p:cNvCxnSpPr>
          <p:nvPr/>
        </p:nvCxnSpPr>
        <p:spPr>
          <a:xfrm flipH="1" flipV="1">
            <a:off x="1888098" y="3163769"/>
            <a:ext cx="1711902" cy="556231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411" name="RadarTarget"/>
          <p:cNvSpPr/>
          <p:nvPr/>
        </p:nvSpPr>
        <p:spPr>
          <a:xfrm>
            <a:off x="2572859" y="2640000"/>
            <a:ext cx="2054282" cy="1953738"/>
          </a:xfrm>
          <a:custGeom>
            <a:avLst/>
            <a:gdLst/>
            <a:ahLst/>
            <a:cxnLst/>
            <a:rect l="0" t="0" r="2054282" b="1953738"/>
            <a:pathLst>
              <a:path w="2054282" h="1953738">
                <a:moveTo>
                  <a:pt x="1027141" y="0"/>
                </a:moveTo>
                <a:lnTo>
                  <a:pt x="2054282" y="746262"/>
                </a:lnTo>
                <a:lnTo>
                  <a:pt x="1661949" y="1953738"/>
                </a:lnTo>
                <a:lnTo>
                  <a:pt x="392333" y="1953738"/>
                </a:lnTo>
                <a:lnTo>
                  <a:pt x="0" y="746262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2" name="RadarCurrent"/>
          <p:cNvSpPr/>
          <p:nvPr/>
        </p:nvSpPr>
        <p:spPr>
          <a:xfrm>
            <a:off x="3257620" y="3360000"/>
            <a:ext cx="684760" cy="651246"/>
          </a:xfrm>
          <a:custGeom>
            <a:avLst/>
            <a:gdLst/>
            <a:ahLst/>
            <a:cxnLst/>
            <a:rect l="0" t="0" r="684760" b="651246"/>
            <a:pathLst>
              <a:path w="684760" h="651246">
                <a:moveTo>
                  <a:pt x="342380" y="0"/>
                </a:moveTo>
                <a:lnTo>
                  <a:pt x="684760" y="248754"/>
                </a:lnTo>
                <a:lnTo>
                  <a:pt x="553983" y="651246"/>
                </a:lnTo>
                <a:lnTo>
                  <a:pt x="130777" y="651246"/>
                </a:lnTo>
                <a:lnTo>
                  <a:pt x="0" y="248754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3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IP protection</a:t>
            </a:r>
          </a:p>
        </p:txBody>
      </p:sp>
      <p:sp>
        <p:nvSpPr>
          <p:cNvPr id="4414" name="RadarAxisLbl2"/>
          <p:cNvSpPr txBox="1"/>
          <p:nvPr/>
        </p:nvSpPr>
        <p:spPr>
          <a:xfrm>
            <a:off x="5140155" y="2969605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Feed-mill deals</a:t>
            </a:r>
          </a:p>
        </p:txBody>
      </p:sp>
      <p:sp>
        <p:nvSpPr>
          <p:cNvPr id="4415" name="RadarAxisLbl3"/>
          <p:cNvSpPr txBox="1"/>
          <p:nvPr/>
        </p:nvSpPr>
        <p:spPr>
          <a:xfrm>
            <a:off x="4399082" y="5250395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 prep</a:t>
            </a:r>
          </a:p>
        </p:txBody>
      </p:sp>
      <p:sp>
        <p:nvSpPr>
          <p:cNvPr id="4416" name="RadarAxisLbl4"/>
          <p:cNvSpPr txBox="1"/>
          <p:nvPr/>
        </p:nvSpPr>
        <p:spPr>
          <a:xfrm>
            <a:off x="2000918" y="5250395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Nano-mineral dev</a:t>
            </a:r>
          </a:p>
        </p:txBody>
      </p:sp>
      <p:sp>
        <p:nvSpPr>
          <p:cNvPr id="4417" name="RadarAxisLbl5"/>
          <p:cNvSpPr txBox="1"/>
          <p:nvPr/>
        </p:nvSpPr>
        <p:spPr>
          <a:xfrm>
            <a:off x="1259845" y="2969605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Probiotic pilot</a:t>
            </a:r>
          </a:p>
        </p:txBody>
      </p:sp>
      <p:sp>
        <p:nvSpPr>
          <p:cNvPr id="4418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20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4419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21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4422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Secure chelate IP and feed-mill deals by Q3 2026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Anchor nano-mineral platform by Q4 2026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Pilot probiotics integration in 2027-2028</a:t>
            </a:r>
          </a:p>
        </p:txBody>
      </p:sp>
      <p:sp>
        <p:nvSpPr>
          <p:cNvPr id="10004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Brief, 2025</a:t>
            </a:r>
          </a:p>
        </p:txBody>
      </p:sp>
      <p:sp>
        <p:nvSpPr>
          <p:cNvPr id="10004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These strategic moves position the company to capitalize on market opportunities while mitigating risks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Organic chelates command 1.5-2.5x premium pricing due to immediate profitability and excretion reduction.</a:t>
            </a:r>
          </a:p>
        </p:txBody>
      </p:sp>
      <p:sp>
        <p:nvSpPr>
          <p:cNvPr id="4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Premium pricing (1.5-2.5x)</a:t>
            </a:r>
          </a:p>
        </p:txBody>
      </p:sp>
      <p:sp>
        <p:nvSpPr>
          <p:cNvPr id="4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Excretion reduction (40%)</a:t>
            </a:r>
          </a:p>
        </p:txBody>
      </p:sp>
      <p:sp>
        <p:nvSpPr>
          <p:cNvPr id="4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Market differentiation</a:t>
            </a:r>
          </a:p>
        </p:txBody>
      </p:sp>
      <p:sp>
        <p:nvSpPr>
          <p:cNvPr id="4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Huang et al. (2025) reports 1.5-2.5x higher price for organic chelates vs. inorganic salts.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Price range: $8.00-$18.00/kg, reflecting market demand for premium products.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Premium pricing justifies higher costs due to superior performance and brand value.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Immediate profitability through higher revenue per unit outweighs production costs.</a:t>
            </a:r>
          </a:p>
        </p:txBody>
      </p:sp>
      <p:sp>
        <p:nvSpPr>
          <p:cNvPr id="4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Organic chelates reduce excretion by 40%, improving nutrient efficiency (Huang et al., 2025).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Lower excretion means less waste and higher resource utilization.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Reduced excretion aligns with sustainability goals and regulatory compliance.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Farmers benefit from lower feed costs and improved animal health outcomes.</a:t>
            </a:r>
          </a:p>
        </p:txBody>
      </p:sp>
      <p:sp>
        <p:nvSpPr>
          <p:cNvPr id="4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Organic chelates differentiate products in competitive markets.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Premium pricing reflects perceived value and quality.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Consumers and buyers prioritize organic formulations for health and environmental reasons.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Brand loyalty and market positioning are strengthened by premium pricing.</a:t>
            </a:r>
          </a:p>
        </p:txBody>
      </p:sp>
      <p:cxnSp>
        <p:nvCxnSpPr>
          <p:cNvPr id="4508" name="PyramidConn1"/>
          <p:cNvCxnSpPr>
            <a:stCxn id="4501" idx="2"/>
            <a:endCxn id="4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09" name="PyramidConn2"/>
          <p:cNvCxnSpPr>
            <a:stCxn id="4501" idx="2"/>
            <a:endCxn id="4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10" name="PyramidConn3"/>
          <p:cNvCxnSpPr>
            <a:stCxn id="4501" idx="2"/>
            <a:endCxn id="4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Nano-minerals deliver 1.5-3x growth improvements at 10-50% lower…</a:t>
            </a:r>
          </a:p>
        </p:txBody>
      </p:sp>
      <p:sp>
        <p:nvSpPr>
          <p:cNvPr id="4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1.5-3x growth improvements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+57% final weight gain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10-50% lower inclusion rates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TRL 5-6 (high maturity)</a:t>
            </a:r>
          </a:p>
        </p:txBody>
      </p:sp>
      <p:sp>
        <p:nvSpPr>
          <p:cNvPr id="4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Requires regulatory validation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Performance depends on nano-mineral type</a:t>
            </a:r>
          </a:p>
        </p:txBody>
      </p:sp>
      <p:sp>
        <p:nvSpPr>
          <p:cNvPr id="4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Potential for broader adoption in food industry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Scalability with validated nano-minerals</a:t>
            </a:r>
          </a:p>
        </p:txBody>
      </p:sp>
      <p:sp>
        <p:nvSpPr>
          <p:cNvPr id="4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Regulatory hurdles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Competition from conventional additives</a:t>
            </a:r>
          </a:p>
        </p:txBody>
      </p:sp>
      <p:sp>
        <p:nvSpPr>
          <p:cNvPr id="10004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</a:t>
            </a:r>
          </a:p>
        </p:txBody>
      </p:sp>
      <p:sp>
        <p:nvSpPr>
          <p:cNvPr id="10004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Nano-minerals offer superior performance but require regulatory validation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 triad controls 50-55% of shrimp feed market</a:t>
            </a:r>
          </a:p>
        </p:txBody>
      </p:sp>
      <p:sp>
        <p:nvSpPr>
          <p:cNvPr id="47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7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47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7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SHARE, LOW PATENTS</a:t>
            </a:r>
          </a:p>
        </p:txBody>
      </p:sp>
      <p:sp>
        <p:nvSpPr>
          <p:cNvPr id="47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HIGH SHARE, HIGH PATENTS</a:t>
            </a:r>
          </a:p>
        </p:txBody>
      </p:sp>
      <p:sp>
        <p:nvSpPr>
          <p:cNvPr id="47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SHARE, LOW PATENTS</a:t>
            </a:r>
          </a:p>
        </p:txBody>
      </p:sp>
      <p:sp>
        <p:nvSpPr>
          <p:cNvPr id="47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LOW SHARE, HIGH PATENTS</a:t>
            </a:r>
          </a:p>
        </p:txBody>
      </p:sp>
      <p:sp>
        <p:nvSpPr>
          <p:cNvPr id="4712" name="Bubble1"/>
          <p:cNvSpPr/>
          <p:nvPr/>
        </p:nvSpPr>
        <p:spPr>
          <a:xfrm>
            <a:off x="638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Cargill</a:t>
            </a:r>
          </a:p>
        </p:txBody>
      </p:sp>
      <p:sp>
        <p:nvSpPr>
          <p:cNvPr id="4713" name="Bubble2"/>
          <p:cNvSpPr/>
          <p:nvPr/>
        </p:nvSpPr>
        <p:spPr>
          <a:xfrm>
            <a:off x="5808000" y="178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Skretting/Nutreco</a:t>
            </a:r>
          </a:p>
        </p:txBody>
      </p:sp>
      <p:sp>
        <p:nvSpPr>
          <p:cNvPr id="4714" name="Bubble3"/>
          <p:cNvSpPr/>
          <p:nvPr/>
        </p:nvSpPr>
        <p:spPr>
          <a:xfrm>
            <a:off x="5128000" y="262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BioMar</a:t>
            </a:r>
          </a:p>
        </p:txBody>
      </p:sp>
      <p:sp>
        <p:nvSpPr>
          <p:cNvPr id="4715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MARKET SHARE →</a:t>
            </a:r>
          </a:p>
        </p:txBody>
      </p:sp>
      <p:sp>
        <p:nvSpPr>
          <p:cNvPr id="4716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PATENT ACTIVITY ↑</a:t>
            </a:r>
          </a:p>
        </p:txBody>
      </p:sp>
      <p:sp>
        <p:nvSpPr>
          <p:cNvPr id="10004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Brief, 2025</a:t>
            </a:r>
          </a:p>
        </p:txBody>
      </p:sp>
      <p:sp>
        <p:nvSpPr>
          <p:cNvPr id="10004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Competitive advantage lies in securing feed-mill partnerships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EFSA opinions on nano-minerals pending by 2027-2028</a:t>
            </a:r>
          </a:p>
        </p:txBody>
      </p:sp>
      <p:sp>
        <p:nvSpPr>
          <p:cNvPr id="4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48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EFSA OPINIONS PENDING</a:t>
            </a:r>
          </a:p>
        </p:txBody>
      </p:sp>
      <p:sp>
        <p:nvSpPr>
          <p:cNvPr id="48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FDA GRAS/FEED-ADDITIVE</a:t>
            </a:r>
          </a:p>
        </p:txBody>
      </p:sp>
      <p:sp>
        <p:nvSpPr>
          <p:cNvPr id="48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REGULATORY APPROVALS</a:t>
            </a:r>
          </a:p>
        </p:txBody>
      </p:sp>
      <p:sp>
        <p:nvSpPr>
          <p:cNvPr id="48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Timeline</a:t>
            </a:r>
          </a:p>
        </p:txBody>
      </p:sp>
      <p:sp>
        <p:nvSpPr>
          <p:cNvPr id="48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48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8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8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Regulatory risk</a:t>
            </a:r>
          </a:p>
        </p:txBody>
      </p:sp>
      <p:sp>
        <p:nvSpPr>
          <p:cNvPr id="48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8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◕</a:t>
            </a:r>
          </a:p>
        </p:txBody>
      </p:sp>
      <p:sp>
        <p:nvSpPr>
          <p:cNvPr id="48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004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EFSA, FDA</a:t>
            </a:r>
          </a:p>
        </p:txBody>
      </p:sp>
      <p:sp>
        <p:nvSpPr>
          <p:cNvPr id="10004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Regulatory approvals must be secured before commercialization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Base-case NPV of $41.9M with 19.6% IRR</a:t>
            </a:r>
          </a:p>
        </p:txBody>
      </p:sp>
      <p:sp>
        <p:nvSpPr>
          <p:cNvPr id="49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9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FFEB3B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Moderate</a:t>
            </a:r>
          </a:p>
        </p:txBody>
      </p:sp>
      <p:sp>
        <p:nvSpPr>
          <p:cNvPr id="49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2E7D32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Minor</a:t>
            </a:r>
          </a:p>
        </p:txBody>
      </p:sp>
      <p:sp>
        <p:nvSpPr>
          <p:cNvPr id="49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9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9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9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9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49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49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49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10004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Brief, 2025</a:t>
            </a:r>
          </a:p>
        </p:txBody>
      </p:sp>
      <p:sp>
        <p:nvSpPr>
          <p:cNvPr id="10004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Financial model supports investment but requires risk mitigation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Secure organic chelate IP and feed-mill offtake agreements by Q3 2026</a:t>
            </a:r>
          </a:p>
        </p:txBody>
      </p:sp>
      <p:sp>
        <p:nvSpPr>
          <p:cNvPr id="5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IP Protection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 Patents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+3 files</a:t>
            </a:r>
          </a:p>
        </p:txBody>
      </p:sp>
      <p:sp>
        <p:nvSpPr>
          <p:cNvPr id="5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Feed Mill Deals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5 Agreements</a:t>
            </a:r>
          </a:p>
        </p:txBody>
      </p:sp>
      <p:sp>
        <p:nvSpPr>
          <p:cNvPr id="50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Vietnamese Mills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Top 5</a:t>
            </a:r>
          </a:p>
        </p:txBody>
      </p:sp>
      <p:sp>
        <p:nvSpPr>
          <p:cNvPr id="50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Exclusivity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Locked</a:t>
            </a:r>
          </a:p>
        </p:txBody>
      </p:sp>
      <p:sp>
        <p:nvSpPr>
          <p:cNvPr id="50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Regulatory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FDA/NOSB</a:t>
            </a:r>
          </a:p>
        </p:txBody>
      </p:sp>
      <p:sp>
        <p:nvSpPr>
          <p:cNvPr id="5009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Organic Listing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Q1 2027</a:t>
            </a:r>
          </a:p>
        </p:txBody>
      </p:sp>
      <p:cxnSp>
        <p:nvCxnSpPr>
          <p:cNvPr id="5005" name="BranchRoot_1"/>
          <p:cNvCxnSpPr>
            <a:stCxn id="5001" idx="1"/>
            <a:endCxn id="5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006" name="BranchL2_1_1"/>
          <p:cNvCxnSpPr>
            <a:stCxn id="5002" idx="1"/>
            <a:endCxn id="50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007" name="BranchL2_1_2"/>
          <p:cNvCxnSpPr>
            <a:stCxn id="5002" idx="1"/>
            <a:endCxn id="50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010" name="BranchRoot_2"/>
          <p:cNvCxnSpPr>
            <a:stCxn id="5001" idx="1"/>
            <a:endCxn id="50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011" name="BranchL2_2_1"/>
          <p:cNvCxnSpPr>
            <a:stCxn id="5008" idx="1"/>
            <a:endCxn id="5009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5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Brief, 2025</a:t>
            </a:r>
          </a:p>
        </p:txBody>
      </p:sp>
      <p:sp>
        <p:nvSpPr>
          <p:cNvPr id="10005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IP protection and feed-mill partnerships are critical for early success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Anchor commercial launch with ≥3 anchor accounts and ≥42% gross margin</a:t>
            </a:r>
          </a:p>
        </p:txBody>
      </p:sp>
      <p:sp>
        <p:nvSpPr>
          <p:cNvPr id="5101" name="QHead1"/>
          <p:cNvSpPr txBox="1"/>
          <p:nvPr/>
        </p:nvSpPr>
        <p:spPr>
          <a:xfrm>
            <a:off x="220000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5102" name="QHead2"/>
          <p:cNvSpPr txBox="1"/>
          <p:nvPr/>
        </p:nvSpPr>
        <p:spPr>
          <a:xfrm>
            <a:off x="274166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sp>
        <p:nvSpPr>
          <p:cNvPr id="5103" name="QHead3"/>
          <p:cNvSpPr txBox="1"/>
          <p:nvPr/>
        </p:nvSpPr>
        <p:spPr>
          <a:xfrm>
            <a:off x="328333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Q1'27</a:t>
            </a:r>
          </a:p>
        </p:txBody>
      </p:sp>
      <p:sp>
        <p:nvSpPr>
          <p:cNvPr id="5104" name="QHead4"/>
          <p:cNvSpPr txBox="1"/>
          <p:nvPr/>
        </p:nvSpPr>
        <p:spPr>
          <a:xfrm>
            <a:off x="382499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Q2'27</a:t>
            </a:r>
          </a:p>
        </p:txBody>
      </p:sp>
      <p:sp>
        <p:nvSpPr>
          <p:cNvPr id="5105" name="QHead5"/>
          <p:cNvSpPr txBox="1"/>
          <p:nvPr/>
        </p:nvSpPr>
        <p:spPr>
          <a:xfrm>
            <a:off x="436666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Q3'27</a:t>
            </a:r>
          </a:p>
        </p:txBody>
      </p:sp>
      <p:sp>
        <p:nvSpPr>
          <p:cNvPr id="5106" name="QHead6"/>
          <p:cNvSpPr txBox="1"/>
          <p:nvPr/>
        </p:nvSpPr>
        <p:spPr>
          <a:xfrm>
            <a:off x="490833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Q4'27</a:t>
            </a:r>
          </a:p>
        </p:txBody>
      </p:sp>
      <p:sp>
        <p:nvSpPr>
          <p:cNvPr id="5107" name="QHead7"/>
          <p:cNvSpPr txBox="1"/>
          <p:nvPr/>
        </p:nvSpPr>
        <p:spPr>
          <a:xfrm>
            <a:off x="544999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Q1'28</a:t>
            </a:r>
          </a:p>
        </p:txBody>
      </p:sp>
      <p:sp>
        <p:nvSpPr>
          <p:cNvPr id="5108" name="QHead8"/>
          <p:cNvSpPr txBox="1"/>
          <p:nvPr/>
        </p:nvSpPr>
        <p:spPr>
          <a:xfrm>
            <a:off x="599166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Q2'28</a:t>
            </a:r>
          </a:p>
        </p:txBody>
      </p:sp>
      <p:sp>
        <p:nvSpPr>
          <p:cNvPr id="5109" name="QHead9"/>
          <p:cNvSpPr txBox="1"/>
          <p:nvPr/>
        </p:nvSpPr>
        <p:spPr>
          <a:xfrm>
            <a:off x="653332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Q3'28</a:t>
            </a:r>
          </a:p>
        </p:txBody>
      </p:sp>
      <p:sp>
        <p:nvSpPr>
          <p:cNvPr id="5110" name="QHead10"/>
          <p:cNvSpPr txBox="1"/>
          <p:nvPr/>
        </p:nvSpPr>
        <p:spPr>
          <a:xfrm>
            <a:off x="707499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Q4'28</a:t>
            </a:r>
          </a:p>
        </p:txBody>
      </p:sp>
      <p:sp>
        <p:nvSpPr>
          <p:cNvPr id="5111" name="QHead11"/>
          <p:cNvSpPr txBox="1"/>
          <p:nvPr/>
        </p:nvSpPr>
        <p:spPr>
          <a:xfrm>
            <a:off x="761666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Q1'29</a:t>
            </a:r>
          </a:p>
        </p:txBody>
      </p:sp>
      <p:sp>
        <p:nvSpPr>
          <p:cNvPr id="5112" name="QHead12"/>
          <p:cNvSpPr txBox="1"/>
          <p:nvPr/>
        </p:nvSpPr>
        <p:spPr>
          <a:xfrm>
            <a:off x="815832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Q2'29</a:t>
            </a:r>
          </a:p>
        </p:txBody>
      </p:sp>
      <p:cxnSp>
        <p:nvCxnSpPr>
          <p:cNvPr id="5113" name="QGrid1"/>
          <p:cNvCxnSpPr>
    </p:cNvCxnSpPr>
          <p:nvPr/>
        </p:nvCxnSpPr>
        <p:spPr>
          <a:xfrm>
            <a:off x="274166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4" name="QGrid2"/>
          <p:cNvCxnSpPr>
    </p:cNvCxnSpPr>
          <p:nvPr/>
        </p:nvCxnSpPr>
        <p:spPr>
          <a:xfrm>
            <a:off x="3283332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5" name="QGrid3"/>
          <p:cNvCxnSpPr>
    </p:cNvCxnSpPr>
          <p:nvPr/>
        </p:nvCxnSpPr>
        <p:spPr>
          <a:xfrm>
            <a:off x="3824998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6" name="QGrid4"/>
          <p:cNvCxnSpPr>
    </p:cNvCxnSpPr>
          <p:nvPr/>
        </p:nvCxnSpPr>
        <p:spPr>
          <a:xfrm>
            <a:off x="4366664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7" name="QGrid5"/>
          <p:cNvCxnSpPr>
    </p:cNvCxnSpPr>
          <p:nvPr/>
        </p:nvCxnSpPr>
        <p:spPr>
          <a:xfrm>
            <a:off x="490833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8" name="QGrid6"/>
          <p:cNvCxnSpPr>
    </p:cNvCxnSpPr>
          <p:nvPr/>
        </p:nvCxnSpPr>
        <p:spPr>
          <a:xfrm>
            <a:off x="544999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19" name="QGrid7"/>
          <p:cNvCxnSpPr>
    </p:cNvCxnSpPr>
          <p:nvPr/>
        </p:nvCxnSpPr>
        <p:spPr>
          <a:xfrm>
            <a:off x="5991662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20" name="QGrid8"/>
          <p:cNvCxnSpPr>
    </p:cNvCxnSpPr>
          <p:nvPr/>
        </p:nvCxnSpPr>
        <p:spPr>
          <a:xfrm>
            <a:off x="6533328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21" name="QGrid9"/>
          <p:cNvCxnSpPr>
    </p:cNvCxnSpPr>
          <p:nvPr/>
        </p:nvCxnSpPr>
        <p:spPr>
          <a:xfrm>
            <a:off x="7074994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22" name="QGrid10"/>
          <p:cNvCxnSpPr>
    </p:cNvCxnSpPr>
          <p:nvPr/>
        </p:nvCxnSpPr>
        <p:spPr>
          <a:xfrm>
            <a:off x="761666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5123" name="QGrid11"/>
          <p:cNvCxnSpPr>
    </p:cNvCxnSpPr>
          <p:nvPr/>
        </p:nvCxnSpPr>
        <p:spPr>
          <a:xfrm>
            <a:off x="815832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5124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Foundation phase</a:t>
            </a:r>
          </a:p>
        </p:txBody>
      </p:sp>
      <p:sp>
        <p:nvSpPr>
          <p:cNvPr id="5125" name="WsBar1_1"/>
          <p:cNvSpPr/>
          <p:nvPr/>
        </p:nvSpPr>
        <p:spPr>
          <a:xfrm>
            <a:off x="2245720" y="2344000"/>
            <a:ext cx="3158556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Site selection, tech lock</a:t>
            </a:r>
          </a:p>
        </p:txBody>
      </p:sp>
      <p:sp>
        <p:nvSpPr>
          <p:cNvPr id="5126" name="Ms1_1"/>
          <p:cNvSpPr/>
          <p:nvPr/>
        </p:nvSpPr>
        <p:spPr>
          <a:xfrm>
            <a:off x="478233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27" name="MsLbl1_1"/>
          <p:cNvSpPr txBox="1"/>
          <p:nvPr/>
        </p:nvSpPr>
        <p:spPr>
          <a:xfrm>
            <a:off x="454113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Regulatory pr…</a:t>
            </a:r>
          </a:p>
        </p:txBody>
      </p:sp>
      <p:sp>
        <p:nvSpPr>
          <p:cNvPr id="5128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Piloting phase</a:t>
            </a:r>
          </a:p>
        </p:txBody>
      </p:sp>
      <p:sp>
        <p:nvSpPr>
          <p:cNvPr id="5129" name="WsBar2_1"/>
          <p:cNvSpPr/>
          <p:nvPr/>
        </p:nvSpPr>
        <p:spPr>
          <a:xfrm>
            <a:off x="5495716" y="3144000"/>
            <a:ext cx="3158556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First commercial sale</a:t>
            </a:r>
          </a:p>
        </p:txBody>
      </p:sp>
      <p:sp>
        <p:nvSpPr>
          <p:cNvPr id="5130" name="Ms2_1"/>
          <p:cNvSpPr/>
          <p:nvPr/>
        </p:nvSpPr>
        <p:spPr>
          <a:xfrm>
            <a:off x="8032326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31" name="MsLbl2_1"/>
          <p:cNvSpPr txBox="1"/>
          <p:nvPr/>
        </p:nvSpPr>
        <p:spPr>
          <a:xfrm>
            <a:off x="7791126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Operating cas…</a:t>
            </a:r>
          </a:p>
        </p:txBody>
      </p:sp>
      <p:cxnSp>
        <p:nvCxnSpPr>
          <p:cNvPr id="5132" name="TodayLine"/>
          <p:cNvCxnSpPr>
    </p:cNvCxnSpPr>
          <p:nvPr/>
        </p:nvCxnSpPr>
        <p:spPr>
          <a:xfrm>
            <a:off x="2200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5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Brief, 2025</a:t>
            </a:r>
          </a:p>
        </p:txBody>
      </p:sp>
      <p:sp>
        <p:nvSpPr>
          <p:cNvPr id="10005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Phased approach ensures sustainable growth and profitability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The conditional 'Go' decision is justified by probability-weighted NPV of…</a:t>
            </a:r>
          </a:p>
        </p:txBody>
      </p:sp>
      <p:sp>
        <p:nvSpPr>
          <p:cNvPr id="5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5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5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209" name="RadarTarget"/>
          <p:cNvSpPr/>
          <p:nvPr/>
        </p:nvSpPr>
        <p:spPr>
          <a:xfrm>
            <a:off x="2664693" y="1920000"/>
            <a:ext cx="2182384" cy="2520000"/>
          </a:xfrm>
          <a:custGeom>
            <a:avLst/>
            <a:gdLst/>
            <a:ahLst/>
            <a:cxnLst/>
            <a:rect l="0" t="0" r="2182384" b="2520000"/>
            <a:pathLst>
              <a:path w="2182384" h="2520000">
                <a:moveTo>
                  <a:pt x="935307" y="0"/>
                </a:moveTo>
                <a:lnTo>
                  <a:pt x="2182384" y="2520000"/>
                </a:lnTo>
                <a:lnTo>
                  <a:pt x="0" y="234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0" name="RadarCurrent"/>
          <p:cNvSpPr/>
          <p:nvPr/>
        </p:nvSpPr>
        <p:spPr>
          <a:xfrm>
            <a:off x="3288231" y="2640000"/>
            <a:ext cx="935307" cy="1440000"/>
          </a:xfrm>
          <a:custGeom>
            <a:avLst/>
            <a:gdLst/>
            <a:ahLst/>
            <a:cxnLst/>
            <a:rect l="0" t="0" r="935307" b="1440000"/>
            <a:pathLst>
              <a:path w="935307" h="1440000">
                <a:moveTo>
                  <a:pt x="311769" y="0"/>
                </a:moveTo>
                <a:lnTo>
                  <a:pt x="935307" y="144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NPV justification</a:t>
            </a:r>
          </a:p>
        </p:txBody>
      </p:sp>
      <p:sp>
        <p:nvSpPr>
          <p:cNvPr id="5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Risk mitigation</a:t>
            </a:r>
          </a:p>
        </p:txBody>
      </p:sp>
      <p:sp>
        <p:nvSpPr>
          <p:cNvPr id="5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Strategic milestones</a:t>
            </a:r>
          </a:p>
        </p:txBody>
      </p:sp>
      <p:sp>
        <p:nvSpPr>
          <p:cNvPr id="5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5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5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Conditional 'Go' based on $28.6M NPV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Secure IP and feed-mill by Q3 2026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Anchor nano-mineral platform by Q4 2026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Pilot functional-feed integration 2027-2028</a:t>
            </a:r>
          </a:p>
        </p:txBody>
      </p:sp>
      <p:sp>
        <p:nvSpPr>
          <p:cNvPr id="10005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Brief, 2025</a:t>
            </a:r>
          </a:p>
        </p:txBody>
      </p:sp>
      <p:sp>
        <p:nvSpPr>
          <p:cNvPr id="10005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Investment requires strategic execution and risk management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