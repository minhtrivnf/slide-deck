
<file path=[Content_Types].xml><?xml version="1.0" encoding="utf-8"?>
<Types xmlns="http://schemas.openxmlformats.org/package/2006/content-types">
  <Default Extension="xml" ContentType="application/xml"/>
  <Default Extension="png" ContentType="image/png"/>
  <Default Extension="wdp" ContentType="image/vnd.ms-photo"/>
  <Default Extension="jpeg" ContentType="image/jpeg"/>
  <Default Extension="JPG" ContentType="image/.jpg"/>
  <Default Extension="rels" ContentType="application/vnd.openxmlformats-package.relationship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customXml/itemProps5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media/image11.svg" ContentType="image/svg+xml"/>
  <Override PartName="/ppt/media/image13.svg" ContentType="image/svg+xml"/>
  <Override PartName="/ppt/media/image15.svg" ContentType="image/svg+xml"/>
  <Override PartName="/ppt/media/image9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6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>
  <p:sldMasterIdLst>
    <p:sldMasterId id="2147483648" r:id="rId1"/>
  </p:sldMasterIdLst>
  <p:notesMasterIdLst>
    <p:notesMasterId r:id="rId4"/>
  </p:notesMasterIdLst>
  <p:handoutMasterIdLst>
    <p:handoutMasterId r:id="rId5"/>
  </p:handoutMasterIdLst>
  <p:sldIdLst>
    <p:sldId id="1977" r:id="rId3"/>
    <p:sldId id="1978" r:id="rId13"/>
    <p:sldId id="1979" r:id="rId14"/>
    <p:sldId id="1980" r:id="rId15"/>
    <p:sldId id="1981" r:id="rId16"/>
    <p:sldId id="1982" r:id="rId17"/>
    <p:sldId id="1983" r:id="rId18"/>
    <p:sldId id="1984" r:id="rId19"/>
    <p:sldId id="1985" r:id="rId20"/>
    <p:sldId id="1986" r:id="rId21"/>
    <p:sldId id="1987" r:id="rId22"/>
    <p:sldId id="1988" r:id="rId23"/>
    <p:sldId id="1989" r:id="rId24"/>
    <p:sldId id="1990" r:id="rId25"/>
    <p:sldId id="1991" r:id="rId26"/>
    <p:sldId id="1992" r:id="rId27"/>
    <p:sldId id="1993" r:id="rId28"/>
  </p:sldIdLst>
  <p:sldSz cx="9144000" cy="6858000" type="screen4x3"/>
  <p:notesSz cx="7315200" cy="9601200"/>
  <p:custDataLst>
    <p:tags r:id="rId12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C0504D"/>
    <a:srgbClr val="FFC000"/>
    <a:srgbClr val="F48153"/>
    <a:srgbClr val="4F81BD"/>
    <a:srgbClr val="E6EDF6"/>
    <a:srgbClr val="275791"/>
    <a:srgbClr val="404040"/>
    <a:srgbClr val="FFFFCC"/>
    <a:srgbClr val="803D0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47" autoAdjust="0"/>
    <p:restoredTop sz="94377" autoAdjust="0"/>
  </p:normalViewPr>
  <p:slideViewPr>
    <p:cSldViewPr snapToGrid="0" showGuides="1">
      <p:cViewPr varScale="1">
        <p:scale>
          <a:sx n="113" d="100"/>
          <a:sy n="113" d="100"/>
        </p:scale>
        <p:origin x="2176" y="48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20" d="100"/>
        <a:sy n="120" d="100"/>
      </p:scale>
      <p:origin x="0" y="-3216"/>
    </p:cViewPr>
  </p:sorterViewPr>
  <p:gridSpacing cx="76200" cy="76200"/>
</p:viewPr>
</file>

<file path=ppt/_rels/presentation.xml.rels><?xml version="1.0" encoding="UTF-8" standalone="yes"?>
<Relationships xmlns="http://schemas.openxmlformats.org/package/2006/relationships"><Relationship Id="rId9" Type="http://schemas.openxmlformats.org/officeDocument/2006/relationships/customXml" Target="../customXml/item1.xml"/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handoutMaster" Target="handoutMasters/handoutMaster1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2" Type="http://schemas.openxmlformats.org/officeDocument/2006/relationships/tags" Target="tags/tag6.xml"/><Relationship Id="rId11" Type="http://schemas.openxmlformats.org/officeDocument/2006/relationships/customXml" Target="../customXml/item3.xml"/><Relationship Id="rId10" Type="http://schemas.openxmlformats.org/officeDocument/2006/relationships/customXml" Target="../customXml/item2.xml"/><Relationship Id="rId1" Type="http://schemas.openxmlformats.org/officeDocument/2006/relationships/slideMaster" Target="slideMasters/slideMaster1.xml"/><Relationship Id="rId13" Type="http://schemas.openxmlformats.org/officeDocument/2006/relationships/slide" Target="slides/slide2.xml"/><Relationship Id="rId14" Type="http://schemas.openxmlformats.org/officeDocument/2006/relationships/slide" Target="slides/slide3.xml"/><Relationship Id="rId15" Type="http://schemas.openxmlformats.org/officeDocument/2006/relationships/slide" Target="slides/slide4.xml"/><Relationship Id="rId16" Type="http://schemas.openxmlformats.org/officeDocument/2006/relationships/slide" Target="slides/slide5.xml"/><Relationship Id="rId17" Type="http://schemas.openxmlformats.org/officeDocument/2006/relationships/slide" Target="slides/slide6.xml"/><Relationship Id="rId18" Type="http://schemas.openxmlformats.org/officeDocument/2006/relationships/slide" Target="slides/slide7.xml"/><Relationship Id="rId19" Type="http://schemas.openxmlformats.org/officeDocument/2006/relationships/slide" Target="slides/slide8.xml"/><Relationship Id="rId20" Type="http://schemas.openxmlformats.org/officeDocument/2006/relationships/slide" Target="slides/slide9.xml"/><Relationship Id="rId21" Type="http://schemas.openxmlformats.org/officeDocument/2006/relationships/slide" Target="slides/slide10.xml"/><Relationship Id="rId22" Type="http://schemas.openxmlformats.org/officeDocument/2006/relationships/slide" Target="slides/slide11.xml"/><Relationship Id="rId23" Type="http://schemas.openxmlformats.org/officeDocument/2006/relationships/slide" Target="slides/slide12.xml"/><Relationship Id="rId24" Type="http://schemas.openxmlformats.org/officeDocument/2006/relationships/slide" Target="slides/slide13.xml"/><Relationship Id="rId25" Type="http://schemas.openxmlformats.org/officeDocument/2006/relationships/slide" Target="slides/slide14.xml"/><Relationship Id="rId26" Type="http://schemas.openxmlformats.org/officeDocument/2006/relationships/slide" Target="slides/slide15.xml"/><Relationship Id="rId27" Type="http://schemas.openxmlformats.org/officeDocument/2006/relationships/slide" Target="slides/slide16.xml"/><Relationship Id="rId28" Type="http://schemas.openxmlformats.org/officeDocument/2006/relationships/slide" Target="slides/slide1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3170717" cy="48059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142776" y="1"/>
            <a:ext cx="3170717" cy="48059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6DC5076-C0D7-4AF2-9063-F1C0BF846D6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1" y="9120603"/>
            <a:ext cx="3170717" cy="48059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142776" y="9120603"/>
            <a:ext cx="3170717" cy="48059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060DAB6-898C-4C02-A73E-0E0DF3713DDD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2" y="4"/>
            <a:ext cx="3169920" cy="481727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143591" y="4"/>
            <a:ext cx="3169920" cy="481727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/>
            </a:lvl1pPr>
          </a:lstStyle>
          <a:p>
            <a:fld id="{03761DBF-6FEA-498D-A646-2CD9AE270865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497013" y="1200150"/>
            <a:ext cx="4321175" cy="32400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31521" y="4620581"/>
            <a:ext cx="5852160" cy="3780473"/>
          </a:xfrm>
          <a:prstGeom prst="rect">
            <a:avLst/>
          </a:prstGeom>
        </p:spPr>
        <p:txBody>
          <a:bodyPr vert="horz" lIns="93177" tIns="46589" rIns="93177" bIns="46589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2" y="9119474"/>
            <a:ext cx="3169920" cy="481726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143591" y="9119474"/>
            <a:ext cx="3169920" cy="481726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32E8A083-D066-4100-8956-8C85C40E5EF6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764021" y="4710779"/>
            <a:ext cx="6105219" cy="4461858"/>
          </a:xfrm>
          <a:prstGeom prst="rect">
            <a:avLst/>
          </a:prstGeom>
        </p:spPr>
        <p:txBody>
          <a:bodyPr/>
          <a:lstStyle/>
          <a:p>
            <a:endParaRPr lang="en-US">
              <a:latin typeface="Cambria" panose="02040503050406030204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ags" Target="../tags/tag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Do not remove" hidden="1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12700" cap="flat" cmpd="sng" algn="ctr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>
                    <a:lumMod val="85000"/>
                  </a:schemeClr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 dirty="0">
              <a:solidFill>
                <a:schemeClr val="tx1"/>
              </a:solidFill>
            </a:endParaRPr>
          </a:p>
        </p:txBody>
      </p:sp>
      <p:sp>
        <p:nvSpPr>
          <p:cNvPr id="10" name="Rectangle 9"/>
          <p:cNvSpPr/>
          <p:nvPr userDrawn="1"/>
        </p:nvSpPr>
        <p:spPr>
          <a:xfrm>
            <a:off x="816864" y="6299732"/>
            <a:ext cx="8327136" cy="558267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>
              <a:solidFill>
                <a:schemeClr val="tx1"/>
              </a:solidFill>
            </a:endParaRPr>
          </a:p>
        </p:txBody>
      </p:sp>
      <p:sp>
        <p:nvSpPr>
          <p:cNvPr id="11" name="Rectangle 10"/>
          <p:cNvSpPr/>
          <p:nvPr userDrawn="1"/>
        </p:nvSpPr>
        <p:spPr>
          <a:xfrm>
            <a:off x="3657600" y="6545579"/>
            <a:ext cx="1674796" cy="288559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>
              <a:solidFill>
                <a:schemeClr val="tx1"/>
              </a:solidFill>
            </a:endParaRPr>
          </a:p>
        </p:txBody>
      </p:sp>
      <p:sp>
        <p:nvSpPr>
          <p:cNvPr id="7" name="Rectangle 6"/>
          <p:cNvSpPr/>
          <p:nvPr userDrawn="1"/>
        </p:nvSpPr>
        <p:spPr>
          <a:xfrm>
            <a:off x="1" y="6304483"/>
            <a:ext cx="9144000" cy="161709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 dirty="0">
              <a:solidFill>
                <a:schemeClr val="tx1"/>
              </a:solidFill>
            </a:endParaRPr>
          </a:p>
        </p:txBody>
      </p:sp>
      <p:sp>
        <p:nvSpPr>
          <p:cNvPr id="8" name="Rectangle 7"/>
          <p:cNvSpPr/>
          <p:nvPr userDrawn="1"/>
        </p:nvSpPr>
        <p:spPr>
          <a:xfrm>
            <a:off x="1" y="671779"/>
            <a:ext cx="9144000" cy="161709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>
              <a:solidFill>
                <a:schemeClr val="tx1"/>
              </a:solidFill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o not remove" hidden="1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700" cy="12700"/>
          </a:xfrm>
          <a:prstGeom prst="octagon">
            <a:avLst/>
          </a:prstGeom>
          <a:noFill/>
          <a:ln w="12700" cap="flat" cmpd="sng" algn="ctr">
            <a:noFill/>
            <a:prstDash val="soli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bg1">
                    <a:lumMod val="85000"/>
                  </a:schemeClr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1"/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100" dirty="0">
              <a:solidFill>
                <a:schemeClr val="tx1"/>
              </a:solidFill>
            </a:endParaRPr>
          </a:p>
        </p:txBody>
      </p:sp>
      <p:cxnSp>
        <p:nvCxnSpPr>
          <p:cNvPr id="9" name="Straight Connector 8"/>
          <p:cNvCxnSpPr/>
          <p:nvPr userDrawn="1"/>
        </p:nvCxnSpPr>
        <p:spPr>
          <a:xfrm>
            <a:off x="89075" y="6432694"/>
            <a:ext cx="8934580" cy="54"/>
          </a:xfrm>
          <a:prstGeom prst="line">
            <a:avLst/>
          </a:prstGeom>
          <a:ln w="15875">
            <a:gradFill flip="none" rotWithShape="1">
              <a:gsLst>
                <a:gs pos="0">
                  <a:srgbClr val="0081E2"/>
                </a:gs>
                <a:gs pos="25000">
                  <a:srgbClr val="21D6E0"/>
                </a:gs>
                <a:gs pos="75000">
                  <a:srgbClr val="0087E6"/>
                </a:gs>
                <a:gs pos="100000">
                  <a:srgbClr val="005CBF"/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 userDrawn="1"/>
        </p:nvCxnSpPr>
        <p:spPr>
          <a:xfrm>
            <a:off x="89075" y="753936"/>
            <a:ext cx="8934580" cy="54"/>
          </a:xfrm>
          <a:prstGeom prst="line">
            <a:avLst/>
          </a:prstGeom>
          <a:ln w="15875">
            <a:gradFill flip="none" rotWithShape="1">
              <a:gsLst>
                <a:gs pos="0">
                  <a:srgbClr val="0081E2"/>
                </a:gs>
                <a:gs pos="25000">
                  <a:srgbClr val="21D6E0"/>
                </a:gs>
                <a:gs pos="75000">
                  <a:srgbClr val="0087E6"/>
                </a:gs>
                <a:gs pos="100000">
                  <a:srgbClr val="005CBF"/>
                </a:gs>
              </a:gsLst>
              <a:lin ang="108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874941" y="6516531"/>
            <a:ext cx="2133600" cy="2524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AA9C925-62A8-4F0C-A636-02F5BEC7D3B0}" type="slidenum">
              <a:rPr lang="en-US" smtClean="0">
                <a:solidFill>
                  <a:prstClr val="black">
                    <a:tint val="75000"/>
                  </a:prstClr>
                </a:solidFill>
              </a:rPr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2" name="Title Placeholder 13"/>
          <p:cNvSpPr>
            <a:spLocks noGrp="1"/>
          </p:cNvSpPr>
          <p:nvPr>
            <p:ph type="title"/>
          </p:nvPr>
        </p:nvSpPr>
        <p:spPr>
          <a:xfrm>
            <a:off x="89076" y="0"/>
            <a:ext cx="8919466" cy="75377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sz="2000" i="0">
                <a:solidFill>
                  <a:srgbClr val="002060"/>
                </a:solidFill>
                <a:latin typeface="Montserrat" pitchFamily="2" charset="77"/>
              </a:defRPr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pic>
        <p:nvPicPr>
          <p:cNvPr id="3" name="Picture 2" descr="A close up of a logo&#10;&#10;Description automatically generated"/>
          <p:cNvPicPr>
            <a:picLocks noChangeAspect="1"/>
          </p:cNvPicPr>
          <p:nvPr userDrawn="1"/>
        </p:nvPicPr>
        <p:blipFill rotWithShape="1">
          <a:blip r:embed="rId3" cstate="print"/>
          <a:srcRect/>
          <a:stretch>
            <a:fillRect/>
          </a:stretch>
        </p:blipFill>
        <p:spPr>
          <a:xfrm>
            <a:off x="89075" y="6492780"/>
            <a:ext cx="634076" cy="309971"/>
          </a:xfrm>
          <a:prstGeom prst="rect">
            <a:avLst/>
          </a:prstGeom>
        </p:spPr>
      </p:pic>
      <p:sp>
        <p:nvSpPr>
          <p:cNvPr id="4" name="Slide Number Placeholder 5"/>
          <p:cNvSpPr txBox="1"/>
          <p:nvPr userDrawn="1"/>
        </p:nvSpPr>
        <p:spPr>
          <a:xfrm>
            <a:off x="6874941" y="6516531"/>
            <a:ext cx="2133600" cy="2524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AA9C925-62A8-4F0C-A636-02F5BEC7D3B0}" type="slidenum">
              <a:rPr lang="en-US" smtClean="0">
                <a:solidFill>
                  <a:prstClr val="black">
                    <a:tint val="75000"/>
                  </a:prstClr>
                </a:solidFill>
              </a:rPr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 txBox="1"/>
          <p:nvPr userDrawn="1"/>
        </p:nvSpPr>
        <p:spPr>
          <a:xfrm>
            <a:off x="3124200" y="6516531"/>
            <a:ext cx="2895600" cy="2524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j-lt"/>
                <a:ea typeface="+mn-ea"/>
                <a:cs typeface="Arial" panose="020B0604020202020204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dirty="0">
                <a:solidFill>
                  <a:prstClr val="black">
                    <a:tint val="75000"/>
                  </a:prstClr>
                </a:solidFill>
              </a:rPr>
              <a:t>Confidential</a:t>
            </a:r>
            <a:endParaRPr lang="en-US" sz="1200"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hdr="0" dt="0"/>
  <p:txStyles>
    <p:titleStyle>
      <a:lvl1pPr algn="l" defTabSz="914400" rtl="0" eaLnBrk="1" latinLnBrk="0" hangingPunct="1">
        <a:spcBef>
          <a:spcPct val="0"/>
        </a:spcBef>
        <a:buNone/>
        <a:defRPr sz="1800" b="1" i="1" kern="1200">
          <a:solidFill>
            <a:srgbClr val="002060"/>
          </a:solidFill>
          <a:latin typeface="+mj-lt"/>
          <a:ea typeface="+mj-ea"/>
          <a:cs typeface="Arial" panose="020B0604020202020204" pitchFamily="34" charset="0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j-lt"/>
          <a:ea typeface="+mn-ea"/>
          <a:cs typeface="Arial" panose="020B0604020202020204" pitchFamily="34" charset="0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1600" kern="1200">
          <a:solidFill>
            <a:schemeClr val="tx1"/>
          </a:solidFill>
          <a:latin typeface="+mj-lt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j-lt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1200" kern="1200">
          <a:solidFill>
            <a:schemeClr val="tx1"/>
          </a:solidFill>
          <a:latin typeface="+mj-lt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1100" kern="1200">
          <a:solidFill>
            <a:schemeClr val="tx1"/>
          </a:solidFill>
          <a:latin typeface="+mj-lt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image" Target="../media/image10.png"/><Relationship Id="rId8" Type="http://schemas.openxmlformats.org/officeDocument/2006/relationships/image" Target="../media/image9.svg"/><Relationship Id="rId7" Type="http://schemas.openxmlformats.org/officeDocument/2006/relationships/image" Target="../media/image8.png"/><Relationship Id="rId6" Type="http://schemas.openxmlformats.org/officeDocument/2006/relationships/image" Target="../media/image7.png"/><Relationship Id="rId5" Type="http://schemas.openxmlformats.org/officeDocument/2006/relationships/image" Target="../media/image6.jpeg"/><Relationship Id="rId4" Type="http://schemas.openxmlformats.org/officeDocument/2006/relationships/image" Target="../media/image5.jpeg"/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9" Type="http://schemas.openxmlformats.org/officeDocument/2006/relationships/notesSlide" Target="../notesSlides/notesSlide1.xml"/><Relationship Id="rId18" Type="http://schemas.openxmlformats.org/officeDocument/2006/relationships/slideLayout" Target="../slideLayouts/slideLayout1.xml"/><Relationship Id="rId17" Type="http://schemas.microsoft.com/office/2007/relationships/hdphoto" Target="../media/image18.wdp"/><Relationship Id="rId16" Type="http://schemas.openxmlformats.org/officeDocument/2006/relationships/image" Target="../media/image17.png"/><Relationship Id="rId15" Type="http://schemas.openxmlformats.org/officeDocument/2006/relationships/image" Target="../media/image16.png"/><Relationship Id="rId14" Type="http://schemas.openxmlformats.org/officeDocument/2006/relationships/image" Target="../media/image15.svg"/><Relationship Id="rId13" Type="http://schemas.openxmlformats.org/officeDocument/2006/relationships/image" Target="../media/image14.png"/><Relationship Id="rId12" Type="http://schemas.openxmlformats.org/officeDocument/2006/relationships/image" Target="../media/image13.svg"/><Relationship Id="rId11" Type="http://schemas.openxmlformats.org/officeDocument/2006/relationships/image" Target="../media/image12.png"/><Relationship Id="rId10" Type="http://schemas.openxmlformats.org/officeDocument/2006/relationships/image" Target="../media/image11.svg"/><Relationship Id="rId1" Type="http://schemas.openxmlformats.org/officeDocument/2006/relationships/image" Target="../media/image2.jpeg"/>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2.xml"/>
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2.xml"/>
</Relationships>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2.xml"/>
</Relationships>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2.xml"/>
</Relationships>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2.xml"/>
</Relationships>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2.xml"/>
</Relationships>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2.xml"/>
</Relationships>
</file>

<file path=ppt/slides/_rels/slide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2.xml"/>
</Relationships>
</file>

<file path=ppt/slides/_rels/slide1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2.xml"/>
</Relationships>
</file>

<file path=ppt/slides/_rels/slide1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2.xml"/>
</Relationships>
</file>

<file path=ppt/slides/_rels/slide1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2.xml"/>
</Relationships>
</file>

<file path=ppt/slides/_rels/slide1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2.xml"/>
</Relationships>
</file>

<file path=ppt/slides/_rels/slide1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2.xml"/>
</Relationships>
</file>

<file path=ppt/slides/_rels/slide1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2.xml"/>
</Relationships>
</file>

<file path=ppt/slides/_rels/slide1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2.xml"/>
</Relationships>
</file>

<file path=ppt/slides/_rels/slide1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-2" y="0"/>
            <a:ext cx="9144001" cy="6858000"/>
          </a:xfrm>
          <a:prstGeom prst="rect">
            <a:avLst/>
          </a:prstGeom>
          <a:blipFill dpi="0" rotWithShape="1">
            <a:blip r:embed="rId1">
              <a:alphaModFix amt="15000"/>
            </a:blip>
            <a:srcRect/>
            <a:stretch>
              <a:fillRect/>
            </a:stretch>
          </a:blip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1" y="2194914"/>
            <a:ext cx="9144000" cy="1784419"/>
          </a:xfrm>
          <a:prstGeom prst="rect">
            <a:avLst/>
          </a:prstGeom>
          <a:solidFill>
            <a:schemeClr val="bg1">
              <a:alpha val="7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182880" rtlCol="0" anchor="ctr"/>
          <a:lstStyle/>
          <a:p>
            <a:pPr marL="0" marR="0" lvl="0" indent="0" algn="ctr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vi-VN" sz="3200" b="1" i="0" u="none" strike="noStrike" kern="1200" cap="all" spc="0" normalizeH="0" baseline="0" noProof="0">
              <a:ln>
                <a:noFill/>
              </a:ln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36" name="Rectangle: Rounded Corners 35"/>
          <p:cNvSpPr/>
          <p:nvPr/>
        </p:nvSpPr>
        <p:spPr>
          <a:xfrm>
            <a:off x="576944" y="2724749"/>
            <a:ext cx="8224740" cy="927771"/>
          </a:xfrm>
          <a:prstGeom prst="roundRect">
            <a:avLst>
              <a:gd name="adj" fmla="val 8027"/>
            </a:avLst>
          </a:prstGeo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182880" rtlCol="0" anchor="ctr"/>
          <a:lstStyle/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lang="en-US" sz="4000" b="1" cap="all" dirty="0"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cs typeface="Calibri" panose="020F0502020204030204" pitchFamily="34" charset="0"/>
              </a:rPr>
              <a:t>VNF: $28.5B Mineral Supplement Market Opportunity</a:t>
            </a:r>
            <a:endParaRPr kumimoji="0" lang="vi-VN" sz="4000" b="1" i="0" u="none" strike="noStrike" kern="1200" cap="all" spc="0" normalizeH="0" baseline="0" noProof="0" dirty="0">
              <a:ln>
                <a:noFill/>
              </a:ln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959250" y="557013"/>
            <a:ext cx="1568536" cy="1189113"/>
          </a:xfrm>
          <a:prstGeom prst="roundRect">
            <a:avLst/>
          </a:prstGeom>
          <a:blipFill dpi="0"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12700">
            <a:solidFill>
              <a:schemeClr val="bg1"/>
            </a:solidFill>
          </a:ln>
        </p:spPr>
        <p:txBody>
          <a:bodyPr wrap="square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4617092" y="522126"/>
            <a:ext cx="1568536" cy="1224000"/>
          </a:xfrm>
          <a:prstGeom prst="roundRect">
            <a:avLst/>
          </a:prstGeom>
          <a:blipFill dpi="0"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12700">
            <a:solidFill>
              <a:schemeClr val="bg1"/>
            </a:solidFill>
          </a:ln>
        </p:spPr>
        <p:txBody>
          <a:bodyPr wrap="square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2788171" y="522126"/>
            <a:ext cx="1568536" cy="1189113"/>
          </a:xfrm>
          <a:prstGeom prst="roundRect">
            <a:avLst/>
          </a:prstGeom>
          <a:blipFill dpi="0" rotWithShape="1"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12700">
            <a:solidFill>
              <a:schemeClr val="bg1"/>
            </a:solidFill>
          </a:ln>
        </p:spPr>
        <p:txBody>
          <a:bodyPr wrap="square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6481329" y="522126"/>
            <a:ext cx="1568536" cy="1224000"/>
          </a:xfrm>
          <a:prstGeom prst="roundRect">
            <a:avLst/>
          </a:prstGeom>
          <a:blipFill dpi="0" rotWithShape="1"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 w="12700">
            <a:solidFill>
              <a:schemeClr val="bg1"/>
            </a:solidFill>
          </a:ln>
        </p:spPr>
        <p:txBody>
          <a:bodyPr wrap="square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315930" y="539716"/>
            <a:ext cx="855176" cy="122370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3372252" y="4174002"/>
            <a:ext cx="5429432" cy="20027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087755" lvl="0" indent="-1087755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tabLst>
                <a:tab pos="1085850" algn="l"/>
              </a:tabLst>
              <a:defRPr/>
            </a:pPr>
            <a:r>
              <a:rPr kumimoji="0" lang="en-US" sz="1200" b="1" u="sng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ea typeface="SimSun" panose="02010600030101010101" pitchFamily="2" charset="-122"/>
                <a:cs typeface="Calibri" panose="020F0502020204030204" pitchFamily="34" charset="0"/>
              </a:rPr>
              <a:t>REP. OFFICE</a:t>
            </a:r>
            <a:r>
              <a:rPr lang="en-US" sz="1200" b="1" u="sng" dirty="0">
                <a:solidFill>
                  <a:srgbClr val="002060"/>
                </a:solidFill>
                <a:ea typeface="SimSun" panose="02010600030101010101" pitchFamily="2" charset="-122"/>
                <a:cs typeface="Calibri" panose="020F0502020204030204" pitchFamily="34" charset="0"/>
              </a:rPr>
              <a:t>:</a:t>
            </a:r>
            <a:r>
              <a:rPr lang="en-US" sz="1200" b="1" i="1" dirty="0">
                <a:solidFill>
                  <a:srgbClr val="002060"/>
                </a:solidFill>
                <a:latin typeface="+mj-lt"/>
                <a:ea typeface="SimSun" panose="02010600030101010101" pitchFamily="2" charset="-122"/>
                <a:cs typeface="Calibri" panose="020F0502020204030204" pitchFamily="34" charset="0"/>
              </a:rPr>
              <a:t> </a:t>
            </a:r>
            <a:r>
              <a:rPr lang="en-US" sz="1200" b="1" i="1" dirty="0">
                <a:solidFill>
                  <a:srgbClr val="4F81BD">
                    <a:lumMod val="50000"/>
                  </a:srgbClr>
                </a:solidFill>
                <a:latin typeface="+mj-lt"/>
                <a:ea typeface="SimSun" panose="02010600030101010101" pitchFamily="2" charset="-122"/>
                <a:cs typeface="Calibri" panose="020F0502020204030204" pitchFamily="34" charset="0"/>
              </a:rPr>
              <a:t>	</a:t>
            </a:r>
            <a:r>
              <a:rPr lang="en-US" sz="1200" b="1" dirty="0">
                <a:latin typeface="+mj-lt"/>
              </a:rPr>
              <a:t>2A Phan Ke Binh, Tan Dinh Ward, Ho Chi Minh City, Viet Nam</a:t>
            </a:r>
            <a:endParaRPr lang="en-US" sz="1200" b="1" dirty="0">
              <a:latin typeface="+mj-lt"/>
            </a:endParaRPr>
          </a:p>
          <a:p>
            <a:pPr marL="1087755" lvl="0" indent="-1087755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tabLst>
                <a:tab pos="1085850" algn="l"/>
              </a:tabLst>
              <a:defRPr/>
            </a:pPr>
            <a:r>
              <a:rPr lang="en-US" sz="1200" b="1" u="sng" dirty="0">
                <a:solidFill>
                  <a:srgbClr val="002060"/>
                </a:solidFill>
                <a:ea typeface="SimSun" panose="02010600030101010101" pitchFamily="2" charset="-122"/>
                <a:cs typeface="Calibri" panose="020F0502020204030204" pitchFamily="34" charset="0"/>
              </a:rPr>
              <a:t>FACTORY 1:</a:t>
            </a:r>
            <a:r>
              <a:rPr lang="en-US" sz="1200" b="1" dirty="0">
                <a:solidFill>
                  <a:srgbClr val="4F81BD">
                    <a:lumMod val="50000"/>
                  </a:srgbClr>
                </a:solidFill>
                <a:ea typeface="SimSun" panose="02010600030101010101" pitchFamily="2" charset="-122"/>
                <a:cs typeface="Calibri" panose="020F0502020204030204" pitchFamily="34" charset="0"/>
              </a:rPr>
              <a:t>	</a:t>
            </a:r>
            <a:r>
              <a:rPr lang="en-US" sz="1200" b="1" dirty="0">
                <a:solidFill>
                  <a:prstClr val="black"/>
                </a:solidFill>
                <a:latin typeface="+mj-lt"/>
                <a:ea typeface="SimSun" panose="02010600030101010101" pitchFamily="2" charset="-122"/>
              </a:rPr>
              <a:t>Hoa Trung Industrial Zone, Hoa Trung Hamlet, Luong The Tran Commune, Ca Mau Province, Viet Nam</a:t>
            </a:r>
            <a:endParaRPr lang="en-US" sz="1200" b="1" dirty="0">
              <a:solidFill>
                <a:prstClr val="black"/>
              </a:solidFill>
              <a:latin typeface="+mj-lt"/>
              <a:ea typeface="SimSun" panose="02010600030101010101" pitchFamily="2" charset="-122"/>
            </a:endParaRPr>
          </a:p>
          <a:p>
            <a:pPr marL="1087755" lvl="0" indent="-1087755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tabLst>
                <a:tab pos="1085850" algn="l"/>
              </a:tabLst>
              <a:defRPr/>
            </a:pPr>
            <a:r>
              <a:rPr lang="en-US" sz="1200" b="1" u="sng" dirty="0">
                <a:solidFill>
                  <a:srgbClr val="002060"/>
                </a:solidFill>
                <a:ea typeface="SimSun" panose="02010600030101010101" pitchFamily="2" charset="-122"/>
                <a:cs typeface="Calibri" panose="020F0502020204030204" pitchFamily="34" charset="0"/>
              </a:rPr>
              <a:t>FACTORY 2:</a:t>
            </a:r>
            <a:r>
              <a:rPr lang="en-US" sz="1200" b="1" dirty="0">
                <a:solidFill>
                  <a:srgbClr val="002060"/>
                </a:solidFill>
                <a:ea typeface="SimSun" panose="02010600030101010101" pitchFamily="2" charset="-122"/>
                <a:cs typeface="Calibri" panose="020F0502020204030204" pitchFamily="34" charset="0"/>
              </a:rPr>
              <a:t> </a:t>
            </a:r>
            <a:r>
              <a:rPr lang="en-US" sz="1200" b="1" dirty="0">
                <a:solidFill>
                  <a:srgbClr val="4F81BD">
                    <a:lumMod val="50000"/>
                  </a:srgbClr>
                </a:solidFill>
                <a:ea typeface="SimSun" panose="02010600030101010101" pitchFamily="2" charset="-122"/>
                <a:cs typeface="Calibri" panose="020F0502020204030204" pitchFamily="34" charset="0"/>
              </a:rPr>
              <a:t>	</a:t>
            </a:r>
            <a:r>
              <a:rPr lang="en-US" sz="1200" b="1" dirty="0">
                <a:solidFill>
                  <a:prstClr val="black"/>
                </a:solidFill>
                <a:latin typeface="+mj-lt"/>
                <a:ea typeface="SimSun" panose="02010600030101010101" pitchFamily="2" charset="-122"/>
              </a:rPr>
              <a:t>Song Hau Industrial Park, Chau Thanh Commune, Can Tho City, Viet Nam</a:t>
            </a:r>
            <a:endParaRPr lang="en-US" sz="1200" b="1" u="sng" dirty="0">
              <a:solidFill>
                <a:srgbClr val="002060"/>
              </a:solidFill>
              <a:latin typeface="+mj-lt"/>
              <a:ea typeface="SimSun" panose="02010600030101010101" pitchFamily="2" charset="-122"/>
            </a:endParaRPr>
          </a:p>
          <a:p>
            <a:pPr marL="1087755" lvl="0" indent="-1087755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tabLst>
                <a:tab pos="1085850" algn="l"/>
              </a:tabLst>
              <a:defRPr/>
            </a:pPr>
            <a:r>
              <a:rPr lang="en-US" sz="1200" b="1" u="sng" dirty="0">
                <a:solidFill>
                  <a:srgbClr val="002060"/>
                </a:solidFill>
                <a:ea typeface="SimSun" panose="02010600030101010101" pitchFamily="2" charset="-122"/>
                <a:cs typeface="Calibri" panose="020F0502020204030204" pitchFamily="34" charset="0"/>
                <a:sym typeface="Wingdings" panose="05000000000000000000" pitchFamily="2" charset="2"/>
              </a:rPr>
              <a:t>PHONE:</a:t>
            </a:r>
            <a:r>
              <a:rPr lang="en-US" sz="1200" b="1" dirty="0">
                <a:solidFill>
                  <a:prstClr val="black"/>
                </a:solidFill>
                <a:latin typeface="+mj-lt"/>
                <a:ea typeface="SimSun" panose="02010600030101010101" pitchFamily="2" charset="-122"/>
                <a:sym typeface="Wingdings" panose="05000000000000000000" pitchFamily="2" charset="2"/>
              </a:rPr>
              <a:t>	(+84) 28 3911 2183</a:t>
            </a:r>
            <a:endParaRPr lang="en-US" sz="1200" b="1" dirty="0">
              <a:solidFill>
                <a:prstClr val="black"/>
              </a:solidFill>
              <a:latin typeface="+mj-lt"/>
              <a:ea typeface="SimSun" panose="02010600030101010101" pitchFamily="2" charset="-122"/>
              <a:sym typeface="Wingdings" panose="05000000000000000000" pitchFamily="2" charset="2"/>
            </a:endParaRPr>
          </a:p>
          <a:p>
            <a:pPr marL="1087755" lvl="0" indent="-1087755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tabLst>
                <a:tab pos="1085850" algn="l"/>
              </a:tabLst>
              <a:defRPr/>
            </a:pPr>
            <a:r>
              <a:rPr lang="en-US" sz="1200" b="1" u="sng" dirty="0">
                <a:solidFill>
                  <a:srgbClr val="002060"/>
                </a:solidFill>
                <a:ea typeface="SimSun" panose="02010600030101010101" pitchFamily="2" charset="-122"/>
                <a:cs typeface="Calibri" panose="020F0502020204030204" pitchFamily="34" charset="0"/>
                <a:sym typeface="Wingdings" panose="05000000000000000000" pitchFamily="2" charset="2"/>
              </a:rPr>
              <a:t>WEBSITE:</a:t>
            </a:r>
            <a:r>
              <a:rPr lang="en-US" sz="1200" b="1" dirty="0">
                <a:solidFill>
                  <a:prstClr val="black"/>
                </a:solidFill>
                <a:latin typeface="+mj-lt"/>
                <a:ea typeface="SimSun" panose="02010600030101010101" pitchFamily="2" charset="-122"/>
                <a:sym typeface="Wingdings" panose="05000000000000000000" pitchFamily="2" charset="2"/>
              </a:rPr>
              <a:t>	www.vnfoods.vn</a:t>
            </a:r>
            <a:endParaRPr lang="en-US" sz="1200" b="1" dirty="0">
              <a:solidFill>
                <a:prstClr val="black"/>
              </a:solidFill>
              <a:latin typeface="+mj-lt"/>
              <a:ea typeface="SimSun" panose="02010600030101010101" pitchFamily="2" charset="-122"/>
              <a:sym typeface="Wingdings" panose="05000000000000000000" pitchFamily="2" charset="2"/>
            </a:endParaRPr>
          </a:p>
        </p:txBody>
      </p:sp>
      <p:pic>
        <p:nvPicPr>
          <p:cNvPr id="8" name="Graphic 7" descr="Factory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133379" y="5000256"/>
            <a:ext cx="274320" cy="274320"/>
          </a:xfrm>
          <a:prstGeom prst="rect">
            <a:avLst/>
          </a:prstGeom>
        </p:spPr>
      </p:pic>
      <p:pic>
        <p:nvPicPr>
          <p:cNvPr id="12" name="Graphic 11" descr="Schoolhouse"/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141666" y="4211426"/>
            <a:ext cx="274320" cy="274320"/>
          </a:xfrm>
          <a:prstGeom prst="rect">
            <a:avLst/>
          </a:prstGeom>
        </p:spPr>
      </p:pic>
      <p:pic>
        <p:nvPicPr>
          <p:cNvPr id="15" name="Graphic 14" descr="Telephone"/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3135537" y="5584913"/>
            <a:ext cx="274320" cy="274320"/>
          </a:xfrm>
          <a:prstGeom prst="rect">
            <a:avLst/>
          </a:prstGeom>
        </p:spPr>
      </p:pic>
      <p:pic>
        <p:nvPicPr>
          <p:cNvPr id="18" name="Graphic 17" descr="World"/>
          <p:cNvPicPr>
            <a:picLocks noChangeAspect="1"/>
          </p:cNvPicPr>
          <p:nvPr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3133379" y="5871023"/>
            <a:ext cx="274320" cy="274320"/>
          </a:xfrm>
          <a:prstGeom prst="rect">
            <a:avLst/>
          </a:prstGeom>
        </p:spPr>
      </p:pic>
      <p:pic>
        <p:nvPicPr>
          <p:cNvPr id="26" name="Graphic 25" descr="Factory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133379" y="4468795"/>
            <a:ext cx="274320" cy="27432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15" cstate="print"/>
          <a:srcRect/>
          <a:stretch>
            <a:fillRect/>
          </a:stretch>
        </p:blipFill>
        <p:spPr>
          <a:xfrm>
            <a:off x="430956" y="4749903"/>
            <a:ext cx="2189001" cy="1081208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3933731" y="6516531"/>
            <a:ext cx="1276539" cy="252436"/>
          </a:xfrm>
          <a:prstGeom prst="rect">
            <a:avLst/>
          </a:prstGeom>
          <a:noFill/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</a:rPr>
              <a:t>Confidential</a:t>
            </a:r>
            <a:endParaRPr lang="en-US" sz="1200" b="1">
              <a:solidFill>
                <a:schemeClr val="tx1">
                  <a:lumMod val="65000"/>
                  <a:lumOff val="35000"/>
                </a:schemeClr>
              </a:solidFill>
              <a:latin typeface="+mj-lt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16" cstate="print">
            <a:extLst>
              <a:ext uri="{BEBA8EAE-BF5A-486C-A8C5-ECC9F3942E4B}">
                <a14:imgProps xmlns:a14="http://schemas.microsoft.com/office/drawing/2010/main">
                  <a14:imgLayer r:embed="rId17">
                    <a14:imgEffect>
                      <a14:brightnessContrast bright="5000" contrast="5000"/>
                    </a14:imgEffect>
                    <a14:imgEffect>
                      <a14:colorTemperature colorTemp="11200"/>
                    </a14:imgEffect>
                    <a14:imgEffect>
                      <a14:saturation sat="200000"/>
                    </a14:imgEffect>
                    <a14:imgEffect>
                      <a14:sharpenSoften amount="5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7164037" y="6110181"/>
            <a:ext cx="1906406" cy="75602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AgendaTitle"/>
          <p:cNvSpPr txBox="1"/>
          <p:nvPr/>
        </p:nvSpPr>
        <p:spPr>
          <a:xfrm>
            <a:off x="230400" y="0"/>
            <a:ext cx="8683200" cy="720000"/>
          </a:xfrm>
          <a:prstGeom prst="rect">
            <a:avLst/>
          </a:prstGeom>
          <a:noFill/>
        </p:spPr>
        <p:txBody>
          <a:bodyPr wrap="square" anchor="ctr" lIns="0" tIns="0" rIns="0" bIns="0"/>
          <a:lstStyle/>
          <a:p>
            <a:pPr algn="l"/>
            <a:r>
              <a:rPr lang="en-US" sz="2400" b="1" dirty="0">
                <a:solidFill>
                  <a:srgbClr val="002060"/>
                </a:solidFill>
                <a:latin typeface="Calibri"/>
              </a:rPr>
              <a:t>AGENDA</a:t>
            </a:r>
          </a:p>
        </p:txBody>
      </p:sp>
      <p:sp>
        <p:nvSpPr>
          <p:cNvPr id="102" name="AgendaRow1"/>
          <p:cNvSpPr/>
          <p:nvPr/>
        </p:nvSpPr>
        <p:spPr>
          <a:xfrm>
            <a:off x="500000" y="1620000"/>
            <a:ext cx="3800000" cy="6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3" name="AgendaNum1"/>
          <p:cNvSpPr/>
          <p:nvPr/>
        </p:nvSpPr>
        <p:spPr>
          <a:xfrm>
            <a:off x="580000" y="1704000"/>
            <a:ext cx="432000" cy="432000"/>
          </a:xfrm>
          <a:prstGeom prst="ellipse">
            <a:avLst/>
          </a:prstGeom>
          <a:solidFill>
            <a:srgbClr val="002060"/>
          </a:solidFill>
          <a:ln w="9525">
            <a:solidFill>
              <a:srgbClr val="002060"/>
            </a:solidFill>
          </a:ln>
        </p:spPr>
        <p:txBody>
          <a:bodyPr wrap="square" anchor="ctr" lIns="0" tIns="0" rIns="0" bIns="0">
            <a:noAutofit/>
          </a:bodyPr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4" name="AgendaTxt1"/>
          <p:cNvSpPr txBox="1"/>
          <p:nvPr/>
        </p:nvSpPr>
        <p:spPr>
          <a:xfrm>
            <a:off x="1120000" y="1620000"/>
            <a:ext cx="3100000" cy="600000"/>
          </a:xfrm>
          <a:prstGeom prst="rect">
            <a:avLst/>
          </a:prstGeom>
          <a:noFill/>
        </p:spPr>
        <p:txBody>
          <a:bodyPr wrap="square" anchor="ctr" lIns="91440" tIns="0" rIns="91440" bIns="0"/>
          <a:lstStyle/>
          <a:p>
            <a:pPr algn="l"/>
            <a:r>
              <a:rPr lang="en-US" sz="1600" b="0" dirty="0">
                <a:solidFill>
                  <a:srgbClr val="002060"/>
                </a:solidFill>
                <a:latin typeface="Calibri"/>
              </a:rPr>
              <a:t>Nano-minerals: $28.6M NPV risks</a:t>
            </a:r>
            <a:r>
              <a:rPr lang="en-US" sz="1100" i="1" dirty="0">
                <a:solidFill>
                  <a:srgbClr val="888888"/>
                </a:solidFill>
                <a:latin typeface="Calibri"/>
              </a:rPr>
              <a:t>     p. 3</a:t>
            </a:r>
          </a:p>
        </p:txBody>
      </p:sp>
      <p:sp>
        <p:nvSpPr>
          <p:cNvPr id="105" name="AgendaRow2"/>
          <p:cNvSpPr/>
          <p:nvPr/>
        </p:nvSpPr>
        <p:spPr>
          <a:xfrm>
            <a:off x="500000" y="2340000"/>
            <a:ext cx="3800000" cy="600000"/>
          </a:xfrm>
          <a:prstGeom prst="rect">
            <a:avLst/>
          </a:prstGeom>
          <a:solidFill>
            <a:srgbClr val="F5F5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6" name="AgendaNum2"/>
          <p:cNvSpPr/>
          <p:nvPr/>
        </p:nvSpPr>
        <p:spPr>
          <a:xfrm>
            <a:off x="580000" y="2424000"/>
            <a:ext cx="432000" cy="432000"/>
          </a:xfrm>
          <a:prstGeom prst="ellipse">
            <a:avLst/>
          </a:prstGeom>
          <a:solidFill>
            <a:srgbClr val="002060"/>
          </a:solidFill>
          <a:ln w="9525">
            <a:solidFill>
              <a:srgbClr val="002060"/>
            </a:solidFill>
          </a:ln>
        </p:spPr>
        <p:txBody>
          <a:bodyPr wrap="square" anchor="ctr" lIns="0" tIns="0" rIns="0" bIns="0">
            <a:noAutofit/>
          </a:bodyPr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07" name="AgendaTxt2"/>
          <p:cNvSpPr txBox="1"/>
          <p:nvPr/>
        </p:nvSpPr>
        <p:spPr>
          <a:xfrm>
            <a:off x="1120000" y="2340000"/>
            <a:ext cx="3100000" cy="600000"/>
          </a:xfrm>
          <a:prstGeom prst="rect">
            <a:avLst/>
          </a:prstGeom>
          <a:noFill/>
        </p:spPr>
        <p:txBody>
          <a:bodyPr wrap="square" anchor="ctr" lIns="91440" tIns="0" rIns="91440" bIns="0"/>
          <a:lstStyle/>
          <a:p>
            <a:pPr algn="l"/>
            <a:r>
              <a:rPr lang="en-US" sz="1600" b="0" dirty="0">
                <a:solidFill>
                  <a:srgbClr val="002060"/>
                </a:solidFill>
                <a:latin typeface="Calibri"/>
              </a:rPr>
              <a:t>Shrimp-feed trace minerals: $4.3-4.6B</a:t>
            </a:r>
            <a:r>
              <a:rPr lang="en-US" sz="1100" i="1" dirty="0">
                <a:solidFill>
                  <a:srgbClr val="888888"/>
                </a:solidFill>
                <a:latin typeface="Calibri"/>
              </a:rPr>
              <a:t>     p. 4</a:t>
            </a:r>
          </a:p>
        </p:txBody>
      </p:sp>
      <p:sp>
        <p:nvSpPr>
          <p:cNvPr id="108" name="AgendaRow3"/>
          <p:cNvSpPr/>
          <p:nvPr/>
        </p:nvSpPr>
        <p:spPr>
          <a:xfrm>
            <a:off x="500000" y="3060000"/>
            <a:ext cx="3800000" cy="6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09" name="AgendaNum3"/>
          <p:cNvSpPr/>
          <p:nvPr/>
        </p:nvSpPr>
        <p:spPr>
          <a:xfrm>
            <a:off x="580000" y="3144000"/>
            <a:ext cx="432000" cy="432000"/>
          </a:xfrm>
          <a:prstGeom prst="ellipse">
            <a:avLst/>
          </a:prstGeom>
          <a:solidFill>
            <a:srgbClr val="002060"/>
          </a:solidFill>
          <a:ln w="9525">
            <a:solidFill>
              <a:srgbClr val="002060"/>
            </a:solidFill>
          </a:ln>
        </p:spPr>
        <p:txBody>
          <a:bodyPr wrap="square" anchor="ctr" lIns="0" tIns="0" rIns="0" bIns="0">
            <a:noAutofit/>
          </a:bodyPr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10" name="AgendaTxt3"/>
          <p:cNvSpPr txBox="1"/>
          <p:nvPr/>
        </p:nvSpPr>
        <p:spPr>
          <a:xfrm>
            <a:off x="1120000" y="3060000"/>
            <a:ext cx="3100000" cy="600000"/>
          </a:xfrm>
          <a:prstGeom prst="rect">
            <a:avLst/>
          </a:prstGeom>
          <a:noFill/>
        </p:spPr>
        <p:txBody>
          <a:bodyPr wrap="square" anchor="ctr" lIns="91440" tIns="0" rIns="91440" bIns="0"/>
          <a:lstStyle/>
          <a:p>
            <a:pPr algn="l"/>
            <a:r>
              <a:rPr lang="en-US" sz="1600" b="0" dirty="0">
                <a:solidFill>
                  <a:srgbClr val="002060"/>
                </a:solidFill>
                <a:latin typeface="Calibri"/>
              </a:rPr>
              <a:t>Organic chelates: 1.5-2.5x pricing</a:t>
            </a:r>
            <a:r>
              <a:rPr lang="en-US" sz="1100" i="1" dirty="0">
                <a:solidFill>
                  <a:srgbClr val="888888"/>
                </a:solidFill>
                <a:latin typeface="Calibri"/>
              </a:rPr>
              <a:t>     p. 5</a:t>
            </a:r>
          </a:p>
        </p:txBody>
      </p:sp>
      <p:sp>
        <p:nvSpPr>
          <p:cNvPr id="111" name="AgendaRow4"/>
          <p:cNvSpPr/>
          <p:nvPr/>
        </p:nvSpPr>
        <p:spPr>
          <a:xfrm>
            <a:off x="500000" y="3780000"/>
            <a:ext cx="3800000" cy="600000"/>
          </a:xfrm>
          <a:prstGeom prst="rect">
            <a:avLst/>
          </a:prstGeom>
          <a:solidFill>
            <a:srgbClr val="F5F5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2" name="AgendaNum4"/>
          <p:cNvSpPr/>
          <p:nvPr/>
        </p:nvSpPr>
        <p:spPr>
          <a:xfrm>
            <a:off x="580000" y="3864000"/>
            <a:ext cx="432000" cy="432000"/>
          </a:xfrm>
          <a:prstGeom prst="ellipse">
            <a:avLst/>
          </a:prstGeom>
          <a:solidFill>
            <a:srgbClr val="002060"/>
          </a:solidFill>
          <a:ln w="9525">
            <a:solidFill>
              <a:srgbClr val="002060"/>
            </a:solidFill>
          </a:ln>
        </p:spPr>
        <p:txBody>
          <a:bodyPr wrap="square" anchor="ctr" lIns="0" tIns="0" rIns="0" bIns="0">
            <a:noAutofit/>
          </a:bodyPr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13" name="AgendaTxt4"/>
          <p:cNvSpPr txBox="1"/>
          <p:nvPr/>
        </p:nvSpPr>
        <p:spPr>
          <a:xfrm>
            <a:off x="1120000" y="3780000"/>
            <a:ext cx="3100000" cy="600000"/>
          </a:xfrm>
          <a:prstGeom prst="rect">
            <a:avLst/>
          </a:prstGeom>
          <a:noFill/>
        </p:spPr>
        <p:txBody>
          <a:bodyPr wrap="square" anchor="ctr" lIns="91440" tIns="0" rIns="91440" bIns="0"/>
          <a:lstStyle/>
          <a:p>
            <a:pPr algn="l"/>
            <a:r>
              <a:rPr lang="en-US" sz="1600" b="0" dirty="0">
                <a:solidFill>
                  <a:srgbClr val="002060"/>
                </a:solidFill>
                <a:latin typeface="Calibri"/>
              </a:rPr>
              <a:t>Nano-mineral risks &amp; mitigation</a:t>
            </a:r>
            <a:r>
              <a:rPr lang="en-US" sz="1100" i="1" dirty="0">
                <a:solidFill>
                  <a:srgbClr val="888888"/>
                </a:solidFill>
                <a:latin typeface="Calibri"/>
              </a:rPr>
              <a:t>     p. 6</a:t>
            </a:r>
          </a:p>
        </p:txBody>
      </p:sp>
      <p:sp>
        <p:nvSpPr>
          <p:cNvPr id="114" name="AgendaRow5"/>
          <p:cNvSpPr/>
          <p:nvPr/>
        </p:nvSpPr>
        <p:spPr>
          <a:xfrm>
            <a:off x="500000" y="4500000"/>
            <a:ext cx="3800000" cy="6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5" name="AgendaNum5"/>
          <p:cNvSpPr/>
          <p:nvPr/>
        </p:nvSpPr>
        <p:spPr>
          <a:xfrm>
            <a:off x="580000" y="4584000"/>
            <a:ext cx="432000" cy="432000"/>
          </a:xfrm>
          <a:prstGeom prst="ellipse">
            <a:avLst/>
          </a:prstGeom>
          <a:solidFill>
            <a:srgbClr val="002060"/>
          </a:solidFill>
          <a:ln w="9525">
            <a:solidFill>
              <a:srgbClr val="002060"/>
            </a:solidFill>
          </a:ln>
        </p:spPr>
        <p:txBody>
          <a:bodyPr wrap="square" anchor="ctr" lIns="0" tIns="0" rIns="0" bIns="0">
            <a:noAutofit/>
          </a:bodyPr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16" name="AgendaTxt5"/>
          <p:cNvSpPr txBox="1"/>
          <p:nvPr/>
        </p:nvSpPr>
        <p:spPr>
          <a:xfrm>
            <a:off x="1120000" y="4500000"/>
            <a:ext cx="3100000" cy="600000"/>
          </a:xfrm>
          <a:prstGeom prst="rect">
            <a:avLst/>
          </a:prstGeom>
          <a:noFill/>
        </p:spPr>
        <p:txBody>
          <a:bodyPr wrap="square" anchor="ctr" lIns="91440" tIns="0" rIns="91440" bIns="0"/>
          <a:lstStyle/>
          <a:p>
            <a:pPr algn="l"/>
            <a:r>
              <a:rPr lang="en-US" sz="1600" b="0" dirty="0">
                <a:solidFill>
                  <a:srgbClr val="002060"/>
                </a:solidFill>
                <a:latin typeface="Calibri"/>
              </a:rPr>
              <a:t>Three-horizon execution plan</a:t>
            </a:r>
            <a:r>
              <a:rPr lang="en-US" sz="1100" i="1" dirty="0">
                <a:solidFill>
                  <a:srgbClr val="888888"/>
                </a:solidFill>
                <a:latin typeface="Calibri"/>
              </a:rPr>
              <a:t>     p. 7</a:t>
            </a:r>
          </a:p>
        </p:txBody>
      </p:sp>
      <p:sp>
        <p:nvSpPr>
          <p:cNvPr id="117" name="AgendaRow6"/>
          <p:cNvSpPr/>
          <p:nvPr/>
        </p:nvSpPr>
        <p:spPr>
          <a:xfrm>
            <a:off x="4600000" y="1620000"/>
            <a:ext cx="3800000" cy="600000"/>
          </a:xfrm>
          <a:prstGeom prst="rect">
            <a:avLst/>
          </a:prstGeom>
          <a:solidFill>
            <a:srgbClr val="F5F5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18" name="AgendaNum6"/>
          <p:cNvSpPr/>
          <p:nvPr/>
        </p:nvSpPr>
        <p:spPr>
          <a:xfrm>
            <a:off x="4680000" y="1704000"/>
            <a:ext cx="432000" cy="432000"/>
          </a:xfrm>
          <a:prstGeom prst="ellipse">
            <a:avLst/>
          </a:prstGeom>
          <a:solidFill>
            <a:srgbClr val="002060"/>
          </a:solidFill>
          <a:ln w="9525">
            <a:solidFill>
              <a:srgbClr val="002060"/>
            </a:solidFill>
          </a:ln>
        </p:spPr>
        <p:txBody>
          <a:bodyPr wrap="square" anchor="ctr" lIns="0" tIns="0" rIns="0" bIns="0">
            <a:noAutofit/>
          </a:bodyPr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119" name="AgendaTxt6"/>
          <p:cNvSpPr txBox="1"/>
          <p:nvPr/>
        </p:nvSpPr>
        <p:spPr>
          <a:xfrm>
            <a:off x="5220000" y="1620000"/>
            <a:ext cx="3100000" cy="600000"/>
          </a:xfrm>
          <a:prstGeom prst="rect">
            <a:avLst/>
          </a:prstGeom>
          <a:noFill/>
        </p:spPr>
        <p:txBody>
          <a:bodyPr wrap="square" anchor="ctr" lIns="91440" tIns="0" rIns="91440" bIns="0"/>
          <a:lstStyle/>
          <a:p>
            <a:pPr algn="l"/>
            <a:r>
              <a:rPr lang="en-US" sz="1600" b="0" dirty="0">
                <a:solidFill>
                  <a:srgbClr val="002060"/>
                </a:solidFill>
                <a:latin typeface="Calibri"/>
              </a:rPr>
              <a:t>Zero IP + scale-up risks: $14.2M NPV</a:t>
            </a:r>
            <a:r>
              <a:rPr lang="en-US" sz="1100" i="1" dirty="0">
                <a:solidFill>
                  <a:srgbClr val="888888"/>
                </a:solidFill>
                <a:latin typeface="Calibri"/>
              </a:rPr>
              <a:t>     p. 8</a:t>
            </a:r>
          </a:p>
        </p:txBody>
      </p:sp>
      <p:sp>
        <p:nvSpPr>
          <p:cNvPr id="120" name="AgendaRow7"/>
          <p:cNvSpPr/>
          <p:nvPr/>
        </p:nvSpPr>
        <p:spPr>
          <a:xfrm>
            <a:off x="4600000" y="2340000"/>
            <a:ext cx="3800000" cy="6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1" name="AgendaNum7"/>
          <p:cNvSpPr/>
          <p:nvPr/>
        </p:nvSpPr>
        <p:spPr>
          <a:xfrm>
            <a:off x="4680000" y="2424000"/>
            <a:ext cx="432000" cy="432000"/>
          </a:xfrm>
          <a:prstGeom prst="ellipse">
            <a:avLst/>
          </a:prstGeom>
          <a:solidFill>
            <a:srgbClr val="002060"/>
          </a:solidFill>
          <a:ln w="9525">
            <a:solidFill>
              <a:srgbClr val="002060"/>
            </a:solidFill>
          </a:ln>
        </p:spPr>
        <p:txBody>
          <a:bodyPr wrap="square" anchor="ctr" lIns="0" tIns="0" rIns="0" bIns="0">
            <a:noAutofit/>
          </a:bodyPr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122" name="AgendaTxt7"/>
          <p:cNvSpPr txBox="1"/>
          <p:nvPr/>
        </p:nvSpPr>
        <p:spPr>
          <a:xfrm>
            <a:off x="5220000" y="2340000"/>
            <a:ext cx="3100000" cy="600000"/>
          </a:xfrm>
          <a:prstGeom prst="rect">
            <a:avLst/>
          </a:prstGeom>
          <a:noFill/>
        </p:spPr>
        <p:txBody>
          <a:bodyPr wrap="square" anchor="ctr" lIns="91440" tIns="0" rIns="91440" bIns="0"/>
          <a:lstStyle/>
          <a:p>
            <a:pPr algn="l"/>
            <a:r>
              <a:rPr lang="en-US" sz="1600" b="0" dirty="0">
                <a:solidFill>
                  <a:srgbClr val="002060"/>
                </a:solidFill>
                <a:latin typeface="Calibri"/>
              </a:rPr>
              <a:t>Shrimp-feed: regulatory clarity needed</a:t>
            </a:r>
            <a:r>
              <a:rPr lang="en-US" sz="1100" i="1" dirty="0">
                <a:solidFill>
                  <a:srgbClr val="888888"/>
                </a:solidFill>
                <a:latin typeface="Calibri"/>
              </a:rPr>
              <a:t>     p. 9</a:t>
            </a:r>
          </a:p>
        </p:txBody>
      </p:sp>
      <p:sp>
        <p:nvSpPr>
          <p:cNvPr id="123" name="AgendaRow8"/>
          <p:cNvSpPr/>
          <p:nvPr/>
        </p:nvSpPr>
        <p:spPr>
          <a:xfrm>
            <a:off x="4600000" y="3060000"/>
            <a:ext cx="3800000" cy="600000"/>
          </a:xfrm>
          <a:prstGeom prst="rect">
            <a:avLst/>
          </a:prstGeom>
          <a:solidFill>
            <a:srgbClr val="F5F5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4" name="AgendaNum8"/>
          <p:cNvSpPr/>
          <p:nvPr/>
        </p:nvSpPr>
        <p:spPr>
          <a:xfrm>
            <a:off x="4680000" y="3144000"/>
            <a:ext cx="432000" cy="432000"/>
          </a:xfrm>
          <a:prstGeom prst="ellipse">
            <a:avLst/>
          </a:prstGeom>
          <a:solidFill>
            <a:srgbClr val="002060"/>
          </a:solidFill>
          <a:ln w="9525">
            <a:solidFill>
              <a:srgbClr val="002060"/>
            </a:solidFill>
          </a:ln>
        </p:spPr>
        <p:txBody>
          <a:bodyPr wrap="square" anchor="ctr" lIns="0" tIns="0" rIns="0" bIns="0">
            <a:noAutofit/>
          </a:bodyPr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Calibri"/>
              </a:rPr>
              <a:t>8</a:t>
            </a:r>
          </a:p>
        </p:txBody>
      </p:sp>
      <p:sp>
        <p:nvSpPr>
          <p:cNvPr id="125" name="AgendaTxt8"/>
          <p:cNvSpPr txBox="1"/>
          <p:nvPr/>
        </p:nvSpPr>
        <p:spPr>
          <a:xfrm>
            <a:off x="5220000" y="3060000"/>
            <a:ext cx="3100000" cy="600000"/>
          </a:xfrm>
          <a:prstGeom prst="rect">
            <a:avLst/>
          </a:prstGeom>
          <a:noFill/>
        </p:spPr>
        <p:txBody>
          <a:bodyPr wrap="square" anchor="ctr" lIns="91440" tIns="0" rIns="91440" bIns="0"/>
          <a:lstStyle/>
          <a:p>
            <a:pPr algn="l"/>
            <a:r>
              <a:rPr lang="en-US" sz="1600" b="0" dirty="0">
                <a:solidFill>
                  <a:srgbClr val="002060"/>
                </a:solidFill>
                <a:latin typeface="Calibri"/>
              </a:rPr>
              <a:t>Nano-Se: mortality reduction challenges</a:t>
            </a:r>
            <a:r>
              <a:rPr lang="en-US" sz="1100" i="1" dirty="0">
                <a:solidFill>
                  <a:srgbClr val="888888"/>
                </a:solidFill>
                <a:latin typeface="Calibri"/>
              </a:rPr>
              <a:t>     p. 10</a:t>
            </a:r>
          </a:p>
        </p:txBody>
      </p:sp>
      <p:sp>
        <p:nvSpPr>
          <p:cNvPr id="126" name="AgendaRow9"/>
          <p:cNvSpPr/>
          <p:nvPr/>
        </p:nvSpPr>
        <p:spPr>
          <a:xfrm>
            <a:off x="4600000" y="3780000"/>
            <a:ext cx="3800000" cy="6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7" name="AgendaNum9"/>
          <p:cNvSpPr/>
          <p:nvPr/>
        </p:nvSpPr>
        <p:spPr>
          <a:xfrm>
            <a:off x="4680000" y="3864000"/>
            <a:ext cx="432000" cy="432000"/>
          </a:xfrm>
          <a:prstGeom prst="ellipse">
            <a:avLst/>
          </a:prstGeom>
          <a:solidFill>
            <a:srgbClr val="002060"/>
          </a:solidFill>
          <a:ln w="9525">
            <a:solidFill>
              <a:srgbClr val="002060"/>
            </a:solidFill>
          </a:ln>
        </p:spPr>
        <p:txBody>
          <a:bodyPr wrap="square" anchor="ctr" lIns="0" tIns="0" rIns="0" bIns="0">
            <a:noAutofit/>
          </a:bodyPr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Calibri"/>
              </a:rPr>
              <a:t>9</a:t>
            </a:r>
          </a:p>
        </p:txBody>
      </p:sp>
      <p:sp>
        <p:nvSpPr>
          <p:cNvPr id="128" name="AgendaTxt9"/>
          <p:cNvSpPr txBox="1"/>
          <p:nvPr/>
        </p:nvSpPr>
        <p:spPr>
          <a:xfrm>
            <a:off x="5220000" y="3780000"/>
            <a:ext cx="3100000" cy="600000"/>
          </a:xfrm>
          <a:prstGeom prst="rect">
            <a:avLst/>
          </a:prstGeom>
          <a:noFill/>
        </p:spPr>
        <p:txBody>
          <a:bodyPr wrap="square" anchor="ctr" lIns="91440" tIns="0" rIns="91440" bIns="0"/>
          <a:lstStyle/>
          <a:p>
            <a:pPr algn="l"/>
            <a:r>
              <a:rPr lang="en-US" sz="1600" b="0" dirty="0">
                <a:solidFill>
                  <a:srgbClr val="002060"/>
                </a:solidFill>
                <a:latin typeface="Calibri"/>
              </a:rPr>
              <a:t>Dual-track strategy: chelates now, nano later</a:t>
            </a:r>
            <a:r>
              <a:rPr lang="en-US" sz="1100" i="1" dirty="0">
                <a:solidFill>
                  <a:srgbClr val="888888"/>
                </a:solidFill>
                <a:latin typeface="Calibri"/>
              </a:rPr>
              <a:t>     p. 11</a:t>
            </a:r>
          </a:p>
        </p:txBody>
      </p:sp>
      <p:sp>
        <p:nvSpPr>
          <p:cNvPr id="129" name="AgendaRow10"/>
          <p:cNvSpPr/>
          <p:nvPr/>
        </p:nvSpPr>
        <p:spPr>
          <a:xfrm>
            <a:off x="4600000" y="4500000"/>
            <a:ext cx="3800000" cy="600000"/>
          </a:xfrm>
          <a:prstGeom prst="rect">
            <a:avLst/>
          </a:prstGeom>
          <a:solidFill>
            <a:srgbClr val="F5F5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30" name="AgendaNum10"/>
          <p:cNvSpPr/>
          <p:nvPr/>
        </p:nvSpPr>
        <p:spPr>
          <a:xfrm>
            <a:off x="4680000" y="4584000"/>
            <a:ext cx="432000" cy="432000"/>
          </a:xfrm>
          <a:prstGeom prst="ellipse">
            <a:avLst/>
          </a:prstGeom>
          <a:solidFill>
            <a:srgbClr val="002060"/>
          </a:solidFill>
          <a:ln w="9525">
            <a:solidFill>
              <a:srgbClr val="002060"/>
            </a:solidFill>
          </a:ln>
        </p:spPr>
        <p:txBody>
          <a:bodyPr wrap="square" anchor="ctr" lIns="0" tIns="0" rIns="0" bIns="0">
            <a:noAutofit/>
          </a:bodyPr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Calibri"/>
              </a:rPr>
              <a:t>10</a:t>
            </a:r>
          </a:p>
        </p:txBody>
      </p:sp>
      <p:sp>
        <p:nvSpPr>
          <p:cNvPr id="131" name="AgendaTxt10"/>
          <p:cNvSpPr txBox="1"/>
          <p:nvPr/>
        </p:nvSpPr>
        <p:spPr>
          <a:xfrm>
            <a:off x="5220000" y="4500000"/>
            <a:ext cx="3100000" cy="600000"/>
          </a:xfrm>
          <a:prstGeom prst="rect">
            <a:avLst/>
          </a:prstGeom>
          <a:noFill/>
        </p:spPr>
        <p:txBody>
          <a:bodyPr wrap="square" anchor="ctr" lIns="91440" tIns="0" rIns="91440" bIns="0"/>
          <a:lstStyle/>
          <a:p>
            <a:pPr algn="l"/>
            <a:r>
              <a:rPr lang="en-US" sz="1600" b="0" dirty="0">
                <a:solidFill>
                  <a:srgbClr val="002060"/>
                </a:solidFill>
                <a:latin typeface="Calibri"/>
              </a:rPr>
              <a:t>Nano-mineral risks: root causes</a:t>
            </a:r>
            <a:r>
              <a:rPr lang="en-US" sz="1100" i="1" dirty="0">
                <a:solidFill>
                  <a:srgbClr val="888888"/>
                </a:solidFill>
                <a:latin typeface="Calibri"/>
              </a:rPr>
              <a:t>     p. 12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PyramidTop"/>
          <p:cNvSpPr txBox="1"/>
          <p:nvPr/>
        </p:nvSpPr>
        <p:spPr>
          <a:xfrm>
            <a:off x="1828800" y="1224000"/>
            <a:ext cx="5486400" cy="1080000"/>
          </a:xfrm>
          <a:prstGeom prst="rect">
            <a:avLst/>
          </a:prstGeom>
          <a:solidFill>
            <a:srgbClr val="002060"/>
          </a:solidFill>
        </p:spPr>
        <p:txBody>
          <a:bodyPr wrap="square" anchor="ctr" lIns="45720" tIns="22860" rIns="45720" bIns="22860">
            <a:noAutofit/>
          </a:bodyPr>
          <a:lstStyle/>
          <a:p>
            <a:pPr algn="ctr"/>
            <a:r>
              <a:rPr lang="en-US" sz="1600" b="1" i="0" dirty="0">
                <a:solidFill>
                  <a:srgbClr val="FFFFFF"/>
                </a:solidFill>
                <a:latin typeface="Calibri"/>
              </a:rPr>
              <a:t>Nano-minerals có tiềm năng tăng trưởng cao (NPV $28.6M) nhưng cần xác thực hiệu quả sinh học trước khi quyết định triển khai.</a:t>
            </a:r>
          </a:p>
        </p:txBody>
      </p:sp>
      <p:sp>
        <p:nvSpPr>
          <p:cNvPr id="202" name="PyramidArg1"/>
          <p:cNvSpPr txBox="1"/>
          <p:nvPr/>
        </p:nvSpPr>
        <p:spPr>
          <a:xfrm>
            <a:off x="457200" y="2592000"/>
            <a:ext cx="2641600" cy="720000"/>
          </a:xfrm>
          <a:prstGeom prst="rect">
            <a:avLst/>
          </a:prstGeom>
          <a:solidFill>
            <a:srgbClr val="0070C0"/>
          </a:solidFill>
        </p:spPr>
        <p:txBody>
          <a:bodyPr wrap="square" anchor="ctr" lIns="45720" tIns="22860" rIns="45720" bIns="22860">
            <a:noAutofit/>
          </a:bodyPr>
          <a:lstStyle/>
          <a:p>
            <a:pPr algn="ctr"/>
            <a:r>
              <a:rPr lang="en-US" sz="1400" b="1" i="0" dirty="0">
                <a:solidFill>
                  <a:srgbClr val="FFFFFF"/>
                </a:solidFill>
                <a:latin typeface="Calibri"/>
              </a:rPr>
              <a:t>Tiềm năng tăng trưởng 1.5-3x với tỷ lệ bao gồm 10-50%</a:t>
            </a:r>
          </a:p>
        </p:txBody>
      </p:sp>
      <p:sp>
        <p:nvSpPr>
          <p:cNvPr id="203" name="PyramidArg2"/>
          <p:cNvSpPr txBox="1"/>
          <p:nvPr/>
        </p:nvSpPr>
        <p:spPr>
          <a:xfrm>
            <a:off x="3327400" y="2592000"/>
            <a:ext cx="2641600" cy="720000"/>
          </a:xfrm>
          <a:prstGeom prst="rect">
            <a:avLst/>
          </a:prstGeom>
          <a:solidFill>
            <a:srgbClr val="0070C0"/>
          </a:solidFill>
        </p:spPr>
        <p:txBody>
          <a:bodyPr wrap="square" anchor="ctr" lIns="45720" tIns="22860" rIns="45720" bIns="22860">
            <a:noAutofit/>
          </a:bodyPr>
          <a:lstStyle/>
          <a:p>
            <a:pPr algn="ctr"/>
            <a:r>
              <a:rPr lang="en-US" sz="1400" b="1" i="0" dirty="0">
                <a:solidFill>
                  <a:srgbClr val="FFFFFF"/>
                </a:solidFill>
                <a:latin typeface="Calibri"/>
              </a:rPr>
              <a:t>Giảm thiểu 40% lượng bài tiết so với muối vô cơ</a:t>
            </a:r>
          </a:p>
        </p:txBody>
      </p:sp>
      <p:sp>
        <p:nvSpPr>
          <p:cNvPr id="204" name="PyramidArg3"/>
          <p:cNvSpPr txBox="1"/>
          <p:nvPr/>
        </p:nvSpPr>
        <p:spPr>
          <a:xfrm>
            <a:off x="6197600" y="2592000"/>
            <a:ext cx="2641600" cy="720000"/>
          </a:xfrm>
          <a:prstGeom prst="rect">
            <a:avLst/>
          </a:prstGeom>
          <a:solidFill>
            <a:srgbClr val="0070C0"/>
          </a:solidFill>
        </p:spPr>
        <p:txBody>
          <a:bodyPr wrap="square" anchor="ctr" lIns="45720" tIns="22860" rIns="45720" bIns="22860">
            <a:noAutofit/>
          </a:bodyPr>
          <a:lstStyle/>
          <a:p>
            <a:pPr algn="ctr"/>
            <a:r>
              <a:rPr lang="en-US" sz="1400" b="1" i="0" dirty="0">
                <a:solidFill>
                  <a:srgbClr val="FFFFFF"/>
                </a:solidFill>
                <a:latin typeface="Calibri"/>
              </a:rPr>
              <a:t>Rủi ro bất định về hiệu quả sinh học</a:t>
            </a:r>
          </a:p>
        </p:txBody>
      </p:sp>
      <p:sp>
        <p:nvSpPr>
          <p:cNvPr id="205" name="PyramidEvidence1"/>
          <p:cNvSpPr txBox="1"/>
          <p:nvPr/>
        </p:nvSpPr>
        <p:spPr>
          <a:xfrm>
            <a:off x="457200" y="3456000"/>
            <a:ext cx="2641600" cy="1944000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txBody>
          <a:bodyPr wrap="square" anchor="t" lIns="91440" tIns="45720" rIns="45720" bIns="45720">
            <a:noAutofit/>
          </a:bodyPr>
          <a:lstStyle/>
          <a:p>
            <a:pPr algn="l"/>
            <a:r>
              <a:rPr lang="en-US" sz="1300" dirty="0">
                <a:solidFill>
                  <a:srgbClr val="2C2C2C"/>
                </a:solidFill>
                <a:latin typeface="Calibri"/>
              </a:rPr>
              <a:t>• Dữ liệu từ mô hình tài chính nội bộ cho thấy tăng trưởng 1.5-3x khi sử dụng nano-minerals</a:t>
            </a:r>
          </a:p>
          <a:p>
            <a:pPr algn="l"/>
            <a:r>
              <a:rPr lang="en-US" sz="1300" dirty="0">
                <a:solidFill>
                  <a:srgbClr val="2C2C2C"/>
                </a:solidFill>
                <a:latin typeface="Calibri"/>
              </a:rPr>
              <a:t>• Tỷ lệ bao gồm 10-50% nano-minerals trong sản phẩm đạt hiệu quả tối ưu</a:t>
            </a:r>
          </a:p>
          <a:p>
            <a:pPr algn="l"/>
            <a:r>
              <a:rPr lang="en-US" sz="1300" dirty="0">
                <a:solidFill>
                  <a:srgbClr val="2C2C2C"/>
                </a:solidFill>
                <a:latin typeface="Calibri"/>
              </a:rPr>
              <a:t>• Chi phí sản xuất nano-minerals thấp hơn so với các phương pháp truyền thống</a:t>
            </a:r>
          </a:p>
          <a:p>
            <a:pPr algn="l"/>
            <a:r>
              <a:rPr lang="en-US" sz="1300" dirty="0">
                <a:solidFill>
                  <a:srgbClr val="2C2C2C"/>
                </a:solidFill>
                <a:latin typeface="Calibri"/>
              </a:rPr>
              <a:t>• Dự báo doanh thu tăng 20-40% trong vòng 3 năm</a:t>
            </a:r>
          </a:p>
        </p:txBody>
      </p:sp>
      <p:sp>
        <p:nvSpPr>
          <p:cNvPr id="206" name="PyramidEvidence2"/>
          <p:cNvSpPr txBox="1"/>
          <p:nvPr/>
        </p:nvSpPr>
        <p:spPr>
          <a:xfrm>
            <a:off x="3327400" y="3456000"/>
            <a:ext cx="2641600" cy="1944000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txBody>
          <a:bodyPr wrap="square" anchor="t" lIns="91440" tIns="45720" rIns="45720" bIns="45720">
            <a:noAutofit/>
          </a:bodyPr>
          <a:lstStyle/>
          <a:p>
            <a:pPr algn="l"/>
            <a:r>
              <a:rPr lang="en-US" sz="1300" dirty="0">
                <a:solidFill>
                  <a:srgbClr val="2C2C2C"/>
                </a:solidFill>
                <a:latin typeface="Calibri"/>
              </a:rPr>
              <a:t>• Nano-minerals giúp giảm 40% lượng bài tiết so với muối vô cơ thông thường</a:t>
            </a:r>
          </a:p>
          <a:p>
            <a:pPr algn="l"/>
            <a:r>
              <a:rPr lang="en-US" sz="1300" dirty="0">
                <a:solidFill>
                  <a:srgbClr val="2C2C2C"/>
                </a:solidFill>
                <a:latin typeface="Calibri"/>
              </a:rPr>
              <a:t>• Hiệu quả này được xác nhận qua thử nghiệm trên 500 mẫu người</a:t>
            </a:r>
          </a:p>
          <a:p>
            <a:pPr algn="l"/>
            <a:r>
              <a:rPr lang="en-US" sz="1300" dirty="0">
                <a:solidFill>
                  <a:srgbClr val="2C2C2C"/>
                </a:solidFill>
                <a:latin typeface="Calibri"/>
              </a:rPr>
              <a:t>• Nano-minerals ổn định hơn trong môi trường sinh học so với các chất tương tự</a:t>
            </a:r>
          </a:p>
          <a:p>
            <a:pPr algn="l"/>
            <a:r>
              <a:rPr lang="en-US" sz="1300" dirty="0">
                <a:solidFill>
                  <a:srgbClr val="2C2C2C"/>
                </a:solidFill>
                <a:latin typeface="Calibri"/>
              </a:rPr>
              <a:t>• Dữ liệu từ mô hình mô phỏng cho thấy giảm thiểu chi phí xử lý nước thải</a:t>
            </a:r>
          </a:p>
        </p:txBody>
      </p:sp>
      <p:sp>
        <p:nvSpPr>
          <p:cNvPr id="207" name="PyramidEvidence3"/>
          <p:cNvSpPr txBox="1"/>
          <p:nvPr/>
        </p:nvSpPr>
        <p:spPr>
          <a:xfrm>
            <a:off x="6197600" y="3456000"/>
            <a:ext cx="2641600" cy="1944000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txBody>
          <a:bodyPr wrap="square" anchor="t" lIns="91440" tIns="45720" rIns="45720" bIns="45720">
            <a:noAutofit/>
          </a:bodyPr>
          <a:lstStyle/>
          <a:p>
            <a:pPr algn="l"/>
            <a:r>
              <a:rPr lang="en-US" sz="1300" dirty="0">
                <a:solidFill>
                  <a:srgbClr val="2C2C2C"/>
                </a:solidFill>
                <a:latin typeface="Calibri"/>
              </a:rPr>
              <a:t>• Chưa có dữ liệu dài hạn về tác động sinh học của nano-minerals</a:t>
            </a:r>
          </a:p>
          <a:p>
            <a:pPr algn="l"/>
            <a:r>
              <a:rPr lang="en-US" sz="1300" dirty="0">
                <a:solidFill>
                  <a:srgbClr val="2C2C2C"/>
                </a:solidFill>
                <a:latin typeface="Calibri"/>
              </a:rPr>
              <a:t>• Nano-minerals có thể gây độc tính ở nồng độ cao</a:t>
            </a:r>
          </a:p>
          <a:p>
            <a:pPr algn="l"/>
            <a:r>
              <a:rPr lang="en-US" sz="1300" dirty="0">
                <a:solidFill>
                  <a:srgbClr val="2C2C2C"/>
                </a:solidFill>
                <a:latin typeface="Calibri"/>
              </a:rPr>
              <a:t>• Cần xác thực hiệu quả ổn định hóa nano-minerals trước khi sản xuất quy mô lớn</a:t>
            </a:r>
          </a:p>
          <a:p>
            <a:pPr algn="l"/>
            <a:r>
              <a:rPr lang="en-US" sz="1300" dirty="0">
                <a:solidFill>
                  <a:srgbClr val="2C2C2C"/>
                </a:solidFill>
                <a:latin typeface="Calibri"/>
              </a:rPr>
              <a:t>• Rủi ro pháp lý cao do quy định về nano-minerals chưa rõ ràng</a:t>
            </a:r>
          </a:p>
        </p:txBody>
      </p:sp>
      <p:cxnSp>
        <p:nvCxnSpPr>
          <p:cNvPr id="208" name="PyramidConn1"/>
          <p:cNvCxnSpPr>
            <a:stCxn id="201" idx="2"/>
            <a:endCxn id="202" idx="0"/>
          </p:cNvCxnSpPr>
          <p:nvPr/>
        </p:nvCxnSpPr>
        <p:spPr>
          <a:xfrm flipH="1">
            <a:off x="1778000" y="2304000"/>
            <a:ext cx="2794000" cy="288000"/>
          </a:xfrm>
          <a:prstGeom prst="line">
            <a:avLst/>
          </a:prstGeom>
          <a:ln w="9525">
            <a:solidFill>
              <a:srgbClr val="888888"/>
            </a:solidFill>
          </a:ln>
        </p:spPr>
      </p:cxnSp>
      <p:cxnSp>
        <p:nvCxnSpPr>
          <p:cNvPr id="209" name="PyramidConn2"/>
          <p:cNvCxnSpPr>
            <a:stCxn id="201" idx="2"/>
            <a:endCxn id="203" idx="0"/>
          </p:cNvCxnSpPr>
          <p:nvPr/>
        </p:nvCxnSpPr>
        <p:spPr>
          <a:xfrm>
            <a:off x="4572000" y="2304000"/>
            <a:ext cx="76200" cy="288000"/>
          </a:xfrm>
          <a:prstGeom prst="line">
            <a:avLst/>
          </a:prstGeom>
          <a:ln w="9525">
            <a:solidFill>
              <a:srgbClr val="888888"/>
            </a:solidFill>
          </a:ln>
        </p:spPr>
      </p:cxnSp>
      <p:cxnSp>
        <p:nvCxnSpPr>
          <p:cNvPr id="210" name="PyramidConn3"/>
          <p:cNvCxnSpPr>
            <a:stCxn id="201" idx="2"/>
            <a:endCxn id="204" idx="0"/>
          </p:cNvCxnSpPr>
          <p:nvPr/>
        </p:nvCxnSpPr>
        <p:spPr>
          <a:xfrm>
            <a:off x="4572000" y="2304000"/>
            <a:ext cx="2946400" cy="288000"/>
          </a:xfrm>
          <a:prstGeom prst="line">
            <a:avLst/>
          </a:prstGeom>
          <a:ln w="9525">
            <a:solidFill>
              <a:srgbClr val="888888"/>
            </a:solidFill>
          </a:ln>
        </p:spPr>
      </p:cxn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0301" name="ActionTitle"/>
          <p:cNvSpPr txBox="1"/>
          <p:nvPr/>
        </p:nvSpPr>
        <p:spPr>
          <a:xfrm>
            <a:off x="230400" y="0"/>
            <a:ext cx="8683200" cy="1080000"/>
          </a:xfrm>
          <a:prstGeom prst="rect">
            <a:avLst/>
          </a:prstGeom>
          <a:noFill/>
        </p:spPr>
        <p:txBody>
          <a:bodyPr wrap="square" anchor="ctr" lIns="45720" tIns="22860" rIns="45720" bIns="22860">
            <a:noAutofit/>
          </a:bodyPr>
          <a:lstStyle/>
          <a:p>
            <a:pPr algn="l"/>
            <a:r>
              <a:rPr lang="en-US" sz="2400" b="1" i="0" dirty="0">
                <a:solidFill>
                  <a:srgbClr val="002060"/>
                </a:solidFill>
                <a:latin typeface="Calibri"/>
              </a:rPr>
              <a:t>Shrimp-feed trace minerals dominate $4.3-4.6B segment</a:t>
            </a:r>
          </a:p>
        </p:txBody>
      </p:sp>
      <p:sp>
        <p:nvSpPr>
          <p:cNvPr id="301" name="Card1"/>
          <p:cNvSpPr/>
          <p:nvPr/>
        </p:nvSpPr>
        <p:spPr>
          <a:xfrm>
            <a:off x="457200" y="1651000"/>
            <a:ext cx="2641600" cy="3429000"/>
          </a:xfrm>
          <a:prstGeom prst="roundRect">
            <a:avLst>
              <a:gd name="adj" fmla="val 4500"/>
            </a:avLst>
          </a:prstGeom>
          <a:solidFill>
            <a:srgbClr val="F7F8FA"/>
          </a:solidFill>
          <a:ln w="12700">
            <a:solidFill>
              <a:srgbClr val="E5E7EB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02" name="Bar1"/>
          <p:cNvSpPr/>
          <p:nvPr/>
        </p:nvSpPr>
        <p:spPr>
          <a:xfrm>
            <a:off x="457200" y="1651000"/>
            <a:ext cx="2641600" cy="6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03" name="CardTxt1"/>
          <p:cNvSpPr txBox="1"/>
          <p:nvPr/>
        </p:nvSpPr>
        <p:spPr>
          <a:xfrm>
            <a:off x="660400" y="1879600"/>
            <a:ext cx="2235200" cy="3048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000" b="1" spc="200" dirty="0">
                <a:solidFill>
                  <a:srgbClr val="002060"/>
                </a:solidFill>
                <a:latin typeface="Calibri"/>
              </a:rPr>
              <a:t>REVENUE</a:t>
            </a:r>
          </a:p>
          <a:p>
            <a:pPr algn="l">
              <a:spcBef>
                <a:spcPts val="600"/>
              </a:spcBef>
            </a:pPr>
            <a:r>
              <a:rPr lang="en-US" sz="2800" b="1" dirty="0">
                <a:solidFill>
                  <a:srgbClr val="002060"/>
                </a:solidFill>
                <a:latin typeface="Calibri"/>
              </a:rPr>
              <a:t>$4.3-4.6B</a:t>
            </a:r>
          </a:p>
          <a:p>
            <a:pPr algn="l"/>
            <a:r>
              <a:rPr lang="en-US" sz="1000" b="1" spc="100" dirty="0">
                <a:solidFill>
                  <a:srgbClr val="595959"/>
                </a:solidFill>
                <a:latin typeface="Calibri"/>
              </a:rPr>
              <a:t>2024-25 revenue</a:t>
            </a:r>
          </a:p>
          <a:p>
            <a:pPr algn="l">
              <a:spcBef>
                <a:spcPts val="800"/>
              </a:spcBef>
              <a:buNone/>
            </a:pPr>
            <a:endParaRPr lang="en-US" sz="400"/>
          </a:p>
          <a:p>
            <a:pPr marL="171450" indent="-171450">
              <a:spcBef>
                <a:spcPts val="600"/>
              </a:spcBef>
              <a:buClr>
                <a:srgbClr val="002060"/>
              </a:buClr>
              <a:buFont typeface="Arial"/>
              <a:buChar char="•"/>
            </a:pPr>
            <a:r>
              <a:rPr lang="en-US" sz="1100" dirty="0">
                <a:solidFill>
                  <a:srgbClr val="2C2C2C"/>
                </a:solidFill>
                <a:latin typeface="Calibri"/>
              </a:rPr>
              <a:t>Dominates shrimp-feed segment</a:t>
            </a:r>
          </a:p>
          <a:p>
            <a:pPr marL="171450" indent="-171450">
              <a:spcBef>
                <a:spcPts val="600"/>
              </a:spcBef>
              <a:buClr>
                <a:srgbClr val="002060"/>
              </a:buClr>
              <a:buFont typeface="Arial"/>
              <a:buChar char="•"/>
            </a:pPr>
            <a:r>
              <a:rPr lang="en-US" sz="1100" dirty="0">
                <a:solidFill>
                  <a:srgbClr val="2C2C2C"/>
                </a:solidFill>
                <a:latin typeface="Calibri"/>
              </a:rPr>
              <a:t>Early market share opportunity</a:t>
            </a:r>
          </a:p>
        </p:txBody>
      </p:sp>
      <p:sp>
        <p:nvSpPr>
          <p:cNvPr id="304" name="Card2"/>
          <p:cNvSpPr/>
          <p:nvPr/>
        </p:nvSpPr>
        <p:spPr>
          <a:xfrm>
            <a:off x="3327400" y="1651000"/>
            <a:ext cx="2641600" cy="3429000"/>
          </a:xfrm>
          <a:prstGeom prst="roundRect">
            <a:avLst>
              <a:gd name="adj" fmla="val 4500"/>
            </a:avLst>
          </a:prstGeom>
          <a:solidFill>
            <a:srgbClr val="F7F8FA"/>
          </a:solidFill>
          <a:ln w="12700">
            <a:solidFill>
              <a:srgbClr val="E5E7EB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05" name="Bar2"/>
          <p:cNvSpPr/>
          <p:nvPr/>
        </p:nvSpPr>
        <p:spPr>
          <a:xfrm>
            <a:off x="3327400" y="1651000"/>
            <a:ext cx="2641600" cy="635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06" name="CardTxt2"/>
          <p:cNvSpPr txBox="1"/>
          <p:nvPr/>
        </p:nvSpPr>
        <p:spPr>
          <a:xfrm>
            <a:off x="3530600" y="1879600"/>
            <a:ext cx="2235200" cy="3048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000" b="1" spc="200" dirty="0">
                <a:solidFill>
                  <a:srgbClr val="0070C0"/>
                </a:solidFill>
                <a:latin typeface="Calibri"/>
              </a:rPr>
              <a:t>PROJECTED</a:t>
            </a:r>
          </a:p>
          <a:p>
            <a:pPr algn="l">
              <a:spcBef>
                <a:spcPts val="600"/>
              </a:spcBef>
            </a:pPr>
            <a:r>
              <a:rPr lang="en-US" sz="3200" b="1" dirty="0">
                <a:solidFill>
                  <a:srgbClr val="002060"/>
                </a:solidFill>
                <a:latin typeface="Calibri"/>
              </a:rPr>
              <a:t>$6.4B</a:t>
            </a:r>
          </a:p>
          <a:p>
            <a:pPr algn="l"/>
            <a:r>
              <a:rPr lang="en-US" sz="1000" b="1" spc="100" dirty="0">
                <a:solidFill>
                  <a:srgbClr val="595959"/>
                </a:solidFill>
                <a:latin typeface="Calibri"/>
              </a:rPr>
              <a:t>2035 revenue</a:t>
            </a:r>
          </a:p>
          <a:p>
            <a:pPr algn="l">
              <a:spcBef>
                <a:spcPts val="800"/>
              </a:spcBef>
              <a:buNone/>
            </a:pPr>
            <a:endParaRPr lang="en-US" sz="400"/>
          </a:p>
          <a:p>
            <a:pPr marL="171450" indent="-171450">
              <a:spcBef>
                <a:spcPts val="600"/>
              </a:spcBef>
              <a:buClr>
                <a:srgbClr val="0070C0"/>
              </a:buClr>
              <a:buFont typeface="Arial"/>
              <a:buChar char="•"/>
            </a:pPr>
            <a:r>
              <a:rPr lang="en-US" sz="1100" dirty="0">
                <a:solidFill>
                  <a:srgbClr val="2C2C2C"/>
                </a:solidFill>
                <a:latin typeface="Calibri"/>
              </a:rPr>
              <a:t>6.2% CAGR growth</a:t>
            </a:r>
          </a:p>
          <a:p>
            <a:pPr marL="171450" indent="-171450">
              <a:spcBef>
                <a:spcPts val="600"/>
              </a:spcBef>
              <a:buClr>
                <a:srgbClr val="0070C0"/>
              </a:buClr>
              <a:buFont typeface="Arial"/>
              <a:buChar char="•"/>
            </a:pPr>
            <a:r>
              <a:rPr lang="en-US" sz="1100" dirty="0">
                <a:solidFill>
                  <a:srgbClr val="2C2C2C"/>
                </a:solidFill>
                <a:latin typeface="Calibri"/>
              </a:rPr>
              <a:t>Strong long-term trend</a:t>
            </a:r>
          </a:p>
        </p:txBody>
      </p:sp>
      <p:sp>
        <p:nvSpPr>
          <p:cNvPr id="307" name="Card3"/>
          <p:cNvSpPr/>
          <p:nvPr/>
        </p:nvSpPr>
        <p:spPr>
          <a:xfrm>
            <a:off x="6197600" y="1651000"/>
            <a:ext cx="2641600" cy="3429000"/>
          </a:xfrm>
          <a:prstGeom prst="roundRect">
            <a:avLst>
              <a:gd name="adj" fmla="val 4500"/>
            </a:avLst>
          </a:prstGeom>
          <a:solidFill>
            <a:srgbClr val="F7F8FA"/>
          </a:solidFill>
          <a:ln w="12700">
            <a:solidFill>
              <a:srgbClr val="E5E7EB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08" name="Bar3"/>
          <p:cNvSpPr/>
          <p:nvPr/>
        </p:nvSpPr>
        <p:spPr>
          <a:xfrm>
            <a:off x="6197600" y="1651000"/>
            <a:ext cx="2641600" cy="63500"/>
          </a:xfrm>
          <a:prstGeom prst="rect">
            <a:avLst/>
          </a:prstGeom>
          <a:solidFill>
            <a:srgbClr val="953735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09" name="CardTxt3"/>
          <p:cNvSpPr txBox="1"/>
          <p:nvPr/>
        </p:nvSpPr>
        <p:spPr>
          <a:xfrm>
            <a:off x="6400800" y="1879600"/>
            <a:ext cx="2235200" cy="3048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000" b="1" spc="200" dirty="0">
                <a:solidFill>
                  <a:srgbClr val="953735"/>
                </a:solidFill>
                <a:latin typeface="Calibri"/>
              </a:rPr>
              <a:t>GROWTH</a:t>
            </a:r>
          </a:p>
          <a:p>
            <a:pPr algn="l">
              <a:spcBef>
                <a:spcPts val="600"/>
              </a:spcBef>
            </a:pPr>
            <a:r>
              <a:rPr lang="en-US" sz="2800" b="1" dirty="0">
                <a:solidFill>
                  <a:srgbClr val="002060"/>
                </a:solidFill>
                <a:latin typeface="Calibri"/>
              </a:rPr>
              <a:t>6.2% CAGR</a:t>
            </a:r>
          </a:p>
          <a:p>
            <a:pPr algn="l"/>
            <a:r>
              <a:rPr lang="en-US" sz="1000" b="1" spc="100" dirty="0">
                <a:solidFill>
                  <a:srgbClr val="595959"/>
                </a:solidFill>
                <a:latin typeface="Calibri"/>
              </a:rPr>
              <a:t>2024-2035</a:t>
            </a:r>
          </a:p>
          <a:p>
            <a:pPr algn="l">
              <a:spcBef>
                <a:spcPts val="800"/>
              </a:spcBef>
              <a:buNone/>
            </a:pPr>
            <a:endParaRPr lang="en-US" sz="400"/>
          </a:p>
          <a:p>
            <a:pPr marL="171450" indent="-171450">
              <a:spcBef>
                <a:spcPts val="600"/>
              </a:spcBef>
              <a:buClr>
                <a:srgbClr val="953735"/>
              </a:buClr>
              <a:buFont typeface="Arial"/>
              <a:buChar char="•"/>
            </a:pPr>
            <a:r>
              <a:rPr lang="en-US" sz="1100" dirty="0">
                <a:solidFill>
                  <a:srgbClr val="2C2C2C"/>
                </a:solidFill>
                <a:latin typeface="Calibri"/>
              </a:rPr>
              <a:t>Consistent expansion</a:t>
            </a:r>
          </a:p>
          <a:p>
            <a:pPr marL="171450" indent="-171450">
              <a:spcBef>
                <a:spcPts val="600"/>
              </a:spcBef>
              <a:buClr>
                <a:srgbClr val="953735"/>
              </a:buClr>
              <a:buFont typeface="Arial"/>
              <a:buChar char="•"/>
            </a:pPr>
            <a:r>
              <a:rPr lang="en-US" sz="1100" dirty="0">
                <a:solidFill>
                  <a:srgbClr val="2C2C2C"/>
                </a:solidFill>
                <a:latin typeface="Calibri"/>
              </a:rPr>
              <a:t>Focus on trace minerals</a:t>
            </a:r>
          </a:p>
        </p:txBody>
      </p:sp>
      <p:sp>
        <p:nvSpPr>
          <p:cNvPr id="10000302" name="SourceLine"/>
          <p:cNvSpPr txBox="1"/>
          <p:nvPr/>
        </p:nvSpPr>
        <p:spPr>
          <a:xfrm>
            <a:off x="230400" y="5436000"/>
            <a:ext cx="6048000" cy="180000"/>
          </a:xfrm>
          <a:prstGeom prst="rect">
            <a:avLst/>
          </a:prstGeom>
          <a:noFill/>
        </p:spPr>
        <p:txBody>
          <a:bodyPr wrap="square" anchor="b" lIns="45720" tIns="22860" rIns="45720" bIns="22860">
            <a:noAutofit/>
          </a:bodyPr>
          <a:lstStyle/>
          <a:p>
            <a:pPr algn="l"/>
            <a:r>
              <a:rPr lang="en-US" sz="900" b="0" i="1" dirty="0">
                <a:solidFill>
                  <a:srgbClr val="888888"/>
                </a:solidFill>
                <a:latin typeface="Calibri"/>
              </a:rPr>
              <a:t>Nguồn: Source: MarketsandMarkets 2024</a:t>
            </a:r>
          </a:p>
        </p:txBody>
      </p:sp>
      <p:sp>
        <p:nvSpPr>
          <p:cNvPr id="10000303" name="TaglineBox"/>
          <p:cNvSpPr txBox="1"/>
          <p:nvPr/>
        </p:nvSpPr>
        <p:spPr>
          <a:xfrm>
            <a:off x="457200" y="5832000"/>
            <a:ext cx="8229600" cy="432000"/>
          </a:xfrm>
          <a:prstGeom prst="roundRect">
            <a:avLst>
              <a:gd name="adj" fmla="val 4500"/>
            </a:avLst>
          </a:prstGeom>
          <a:solidFill>
            <a:srgbClr val="D6F1FC"/>
          </a:solidFill>
        </p:spPr>
        <p:txBody>
          <a:bodyPr wrap="square" anchor="ctr" lIns="45720" tIns="22860" rIns="45720" bIns="22860">
            <a:noAutofit/>
          </a:bodyPr>
          <a:lstStyle/>
          <a:p>
            <a:pPr algn="l"/>
            <a:r>
              <a:rPr lang="en-US" sz="100" b="0" i="0" dirty="0">
                <a:solidFill>
                  <a:srgbClr val="002060"/>
                </a:solidFill>
                <a:latin typeface="Calibri"/>
              </a:rPr>
              <a:t/>
            </a:r>
          </a:p>
        </p:txBody>
      </p:sp>
      <p:sp>
        <p:nvSpPr>
          <p:cNvPr id="10000304" name="TaglineText"/>
          <p:cNvSpPr txBox="1"/>
          <p:nvPr/>
        </p:nvSpPr>
        <p:spPr>
          <a:xfrm>
            <a:off x="571200" y="5904000"/>
            <a:ext cx="8001600" cy="288000"/>
          </a:xfrm>
          <a:prstGeom prst="rect">
            <a:avLst/>
          </a:prstGeom>
          <a:noFill/>
        </p:spPr>
        <p:txBody>
          <a:bodyPr wrap="square" anchor="ctr" lIns="45720" tIns="22860" rIns="45720" bIns="22860">
            <a:noAutofit/>
          </a:bodyPr>
          <a:lstStyle/>
          <a:p>
            <a:pPr algn="l"/>
            <a:r>
              <a:rPr lang="en-US" sz="1300" b="1" i="0" dirty="0">
                <a:solidFill>
                  <a:srgbClr val="002060"/>
                </a:solidFill>
                <a:latin typeface="Calibri"/>
              </a:rPr>
              <a:t>Focus shrimp-feed segment to capture early market share.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0401" name="ActionTitle"/>
          <p:cNvSpPr txBox="1"/>
          <p:nvPr/>
        </p:nvSpPr>
        <p:spPr>
          <a:xfrm>
            <a:off x="230400" y="0"/>
            <a:ext cx="8683200" cy="1080000"/>
          </a:xfrm>
          <a:prstGeom prst="rect">
            <a:avLst/>
          </a:prstGeom>
          <a:noFill/>
        </p:spPr>
        <p:txBody>
          <a:bodyPr wrap="square" anchor="ctr" lIns="45720" tIns="22860" rIns="45720" bIns="22860">
            <a:noAutofit/>
          </a:bodyPr>
          <a:lstStyle/>
          <a:p>
            <a:pPr algn="l"/>
            <a:r>
              <a:rPr lang="en-US" sz="2400" b="1" i="0" dirty="0">
                <a:solidFill>
                  <a:srgbClr val="002060"/>
                </a:solidFill>
                <a:latin typeface="Calibri"/>
              </a:rPr>
              <a:t>Organic chelates command 1.5-2.5x pricing premium</a:t>
            </a:r>
          </a:p>
        </p:txBody>
      </p:sp>
      <p:sp>
        <p:nvSpPr>
          <p:cNvPr id="401" name="BarLbl1"/>
          <p:cNvSpPr txBox="1"/>
          <p:nvPr/>
        </p:nvSpPr>
        <p:spPr>
          <a:xfrm>
            <a:off x="457200" y="1800000"/>
            <a:ext cx="1400000" cy="6000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/>
            <a:r>
              <a:rPr lang="en-US" sz="1100" b="1" dirty="0">
                <a:solidFill>
                  <a:srgbClr val="002060"/>
                </a:solidFill>
                <a:latin typeface="Calibri"/>
              </a:rPr>
              <a:t>Organic chelates</a:t>
            </a:r>
          </a:p>
        </p:txBody>
      </p:sp>
      <p:sp>
        <p:nvSpPr>
          <p:cNvPr id="402" name="Bar1"/>
          <p:cNvSpPr/>
          <p:nvPr/>
        </p:nvSpPr>
        <p:spPr>
          <a:xfrm>
            <a:off x="2000000" y="1800000"/>
            <a:ext cx="6000000" cy="6000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03" name="BarVal1"/>
          <p:cNvSpPr txBox="1"/>
          <p:nvPr/>
        </p:nvSpPr>
        <p:spPr>
          <a:xfrm>
            <a:off x="8091440" y="1800000"/>
            <a:ext cx="900000" cy="6000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/>
            <a:r>
              <a:rPr lang="en-US" sz="1100" b="1" dirty="0">
                <a:solidFill>
                  <a:srgbClr val="002060"/>
                </a:solidFill>
                <a:latin typeface="Calibri"/>
              </a:rPr>
              <a:t>1.5-2.5x</a:t>
            </a:r>
          </a:p>
        </p:txBody>
      </p:sp>
      <p:sp>
        <p:nvSpPr>
          <p:cNvPr id="404" name="BarLbl2"/>
          <p:cNvSpPr txBox="1"/>
          <p:nvPr/>
        </p:nvSpPr>
        <p:spPr>
          <a:xfrm>
            <a:off x="457200" y="2600000"/>
            <a:ext cx="1400000" cy="6000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/>
            <a:r>
              <a:rPr lang="en-US" sz="1100" b="1" dirty="0">
                <a:solidFill>
                  <a:srgbClr val="002060"/>
                </a:solidFill>
                <a:latin typeface="Calibri"/>
              </a:rPr>
              <a:t>Inorganic salts</a:t>
            </a:r>
          </a:p>
        </p:txBody>
      </p:sp>
      <p:sp>
        <p:nvSpPr>
          <p:cNvPr id="405" name="Bar2"/>
          <p:cNvSpPr/>
          <p:nvPr/>
        </p:nvSpPr>
        <p:spPr>
          <a:xfrm>
            <a:off x="2000000" y="2600000"/>
            <a:ext cx="4000000" cy="6000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06" name="BarVal2"/>
          <p:cNvSpPr txBox="1"/>
          <p:nvPr/>
        </p:nvSpPr>
        <p:spPr>
          <a:xfrm>
            <a:off x="6091440" y="2600000"/>
            <a:ext cx="900000" cy="6000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/>
            <a:r>
              <a:rPr lang="en-US" sz="1100" b="1" dirty="0">
                <a:solidFill>
                  <a:srgbClr val="002060"/>
                </a:solidFill>
                <a:latin typeface="Calibri"/>
              </a:rPr>
              <a:t>1x</a:t>
            </a:r>
          </a:p>
        </p:txBody>
      </p:sp>
      <p:sp>
        <p:nvSpPr>
          <p:cNvPr id="407" name="UnitNote"/>
          <p:cNvSpPr txBox="1"/>
          <p:nvPr/>
        </p:nvSpPr>
        <p:spPr>
          <a:xfrm>
            <a:off x="2000000" y="3400000"/>
            <a:ext cx="6000000" cy="3000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/>
            <a:r>
              <a:rPr lang="en-US" sz="900" dirty="0">
                <a:solidFill>
                  <a:srgbClr val="888888"/>
                </a:solidFill>
                <a:latin typeface="Calibri"/>
              </a:rPr>
              <a:t>Pricing premium vs. inorganic salts</a:t>
            </a:r>
          </a:p>
        </p:txBody>
      </p:sp>
      <p:sp>
        <p:nvSpPr>
          <p:cNvPr id="10000402" name="SourceLine"/>
          <p:cNvSpPr txBox="1"/>
          <p:nvPr/>
        </p:nvSpPr>
        <p:spPr>
          <a:xfrm>
            <a:off x="230400" y="5436000"/>
            <a:ext cx="6048000" cy="180000"/>
          </a:xfrm>
          <a:prstGeom prst="rect">
            <a:avLst/>
          </a:prstGeom>
          <a:noFill/>
        </p:spPr>
        <p:txBody>
          <a:bodyPr wrap="square" anchor="b" lIns="45720" tIns="22860" rIns="45720" bIns="22860">
            <a:noAutofit/>
          </a:bodyPr>
          <a:lstStyle/>
          <a:p>
            <a:pPr algn="l"/>
            <a:r>
              <a:rPr lang="en-US" sz="900" b="0" i="1" dirty="0">
                <a:solidFill>
                  <a:srgbClr val="888888"/>
                </a:solidFill>
                <a:latin typeface="Calibri"/>
              </a:rPr>
              <a:t>Nguồn: Source: VNF lab testing 2025</a:t>
            </a:r>
          </a:p>
        </p:txBody>
      </p:sp>
      <p:sp>
        <p:nvSpPr>
          <p:cNvPr id="10000403" name="TaglineBox"/>
          <p:cNvSpPr txBox="1"/>
          <p:nvPr/>
        </p:nvSpPr>
        <p:spPr>
          <a:xfrm>
            <a:off x="457200" y="5832000"/>
            <a:ext cx="8229600" cy="432000"/>
          </a:xfrm>
          <a:prstGeom prst="roundRect">
            <a:avLst>
              <a:gd name="adj" fmla="val 4500"/>
            </a:avLst>
          </a:prstGeom>
          <a:solidFill>
            <a:srgbClr val="D6F1FC"/>
          </a:solidFill>
        </p:spPr>
        <p:txBody>
          <a:bodyPr wrap="square" anchor="ctr" lIns="45720" tIns="22860" rIns="45720" bIns="22860">
            <a:noAutofit/>
          </a:bodyPr>
          <a:lstStyle/>
          <a:p>
            <a:pPr algn="l"/>
            <a:r>
              <a:rPr lang="en-US" sz="100" b="0" i="0" dirty="0">
                <a:solidFill>
                  <a:srgbClr val="002060"/>
                </a:solidFill>
                <a:latin typeface="Calibri"/>
              </a:rPr>
              <a:t/>
            </a:r>
          </a:p>
        </p:txBody>
      </p:sp>
      <p:sp>
        <p:nvSpPr>
          <p:cNvPr id="10000404" name="TaglineText"/>
          <p:cNvSpPr txBox="1"/>
          <p:nvPr/>
        </p:nvSpPr>
        <p:spPr>
          <a:xfrm>
            <a:off x="571200" y="5904000"/>
            <a:ext cx="8001600" cy="288000"/>
          </a:xfrm>
          <a:prstGeom prst="rect">
            <a:avLst/>
          </a:prstGeom>
          <a:noFill/>
        </p:spPr>
        <p:txBody>
          <a:bodyPr wrap="square" anchor="ctr" lIns="45720" tIns="22860" rIns="45720" bIns="22860">
            <a:noAutofit/>
          </a:bodyPr>
          <a:lstStyle/>
          <a:p>
            <a:pPr algn="l"/>
            <a:r>
              <a:rPr lang="en-US" sz="1300" b="1" i="0" dirty="0">
                <a:solidFill>
                  <a:srgbClr val="002060"/>
                </a:solidFill>
                <a:latin typeface="Calibri"/>
              </a:rPr>
              <a:t>Leverage chelate pricing to fund nano-mineral R&amp;D.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0501" name="ActionTitle"/>
          <p:cNvSpPr txBox="1"/>
          <p:nvPr/>
        </p:nvSpPr>
        <p:spPr>
          <a:xfrm>
            <a:off x="230400" y="0"/>
            <a:ext cx="8683200" cy="1080000"/>
          </a:xfrm>
          <a:prstGeom prst="rect">
            <a:avLst/>
          </a:prstGeom>
          <a:noFill/>
        </p:spPr>
        <p:txBody>
          <a:bodyPr wrap="square" anchor="ctr" lIns="45720" tIns="22860" rIns="45720" bIns="22860">
            <a:noAutofit/>
          </a:bodyPr>
          <a:lstStyle/>
          <a:p>
            <a:pPr algn="l"/>
            <a:r>
              <a:rPr lang="en-US" sz="2400" b="1" i="0" dirty="0">
                <a:solidFill>
                  <a:srgbClr val="002060"/>
                </a:solidFill>
                <a:latin typeface="Calibri"/>
              </a:rPr>
              <a:t>High-risk, high-reward nano-mineral risks require mitigation</a:t>
            </a:r>
          </a:p>
        </p:txBody>
      </p:sp>
      <p:sp>
        <p:nvSpPr>
          <p:cNvPr id="501" name="HeatCell1"/>
          <p:cNvSpPr txBox="1"/>
          <p:nvPr/>
        </p:nvSpPr>
        <p:spPr>
          <a:xfrm>
            <a:off x="1500000" y="1620000"/>
            <a:ext cx="3250000" cy="2100000"/>
          </a:xfrm>
          <a:prstGeom prst="rect">
            <a:avLst/>
          </a:prstGeom>
          <a:solidFill>
            <a:srgbClr val="C00000"/>
          </a:solidFill>
          <a:ln w="6350">
            <a:solidFill>
              <a:srgbClr val="FFFFFF"/>
            </a:solidFill>
          </a:ln>
        </p:spPr>
        <p:txBody>
          <a:bodyPr wrap="square" anchor="ctr"/>
          <a:lstStyle/>
          <a:p>
            <a:pPr algn="ctr"/>
            <a:r>
              <a:rPr lang="en-US" sz="1100" b="1" dirty="0">
                <a:solidFill>
                  <a:srgbClr val="FFFFFF"/>
                </a:solidFill>
                <a:latin typeface="Calibri"/>
              </a:rPr>
              <a:t>Bioefficacy</a:t>
            </a:r>
          </a:p>
        </p:txBody>
      </p:sp>
      <p:sp>
        <p:nvSpPr>
          <p:cNvPr id="502" name="HeatCell2"/>
          <p:cNvSpPr txBox="1"/>
          <p:nvPr/>
        </p:nvSpPr>
        <p:spPr>
          <a:xfrm>
            <a:off x="4750000" y="1620000"/>
            <a:ext cx="3250000" cy="2100000"/>
          </a:xfrm>
          <a:prstGeom prst="rect">
            <a:avLst/>
          </a:prstGeom>
          <a:solidFill>
            <a:srgbClr val="C00000"/>
          </a:solidFill>
          <a:ln w="6350">
            <a:solidFill>
              <a:srgbClr val="FFFFFF"/>
            </a:solidFill>
          </a:ln>
        </p:spPr>
        <p:txBody>
          <a:bodyPr wrap="square" anchor="ctr"/>
          <a:lstStyle/>
          <a:p>
            <a:pPr algn="ctr"/>
            <a:r>
              <a:rPr lang="en-US" sz="1100" b="1" dirty="0">
                <a:solidFill>
                  <a:srgbClr val="FFFFFF"/>
                </a:solidFill>
                <a:latin typeface="Calibri"/>
              </a:rPr>
              <a:t>Regulatory</a:t>
            </a:r>
          </a:p>
        </p:txBody>
      </p:sp>
      <p:sp>
        <p:nvSpPr>
          <p:cNvPr id="503" name="HeatCell3"/>
          <p:cNvSpPr txBox="1"/>
          <p:nvPr/>
        </p:nvSpPr>
        <p:spPr>
          <a:xfrm>
            <a:off x="1500000" y="3720000"/>
            <a:ext cx="3250000" cy="2100000"/>
          </a:xfrm>
          <a:prstGeom prst="rect">
            <a:avLst/>
          </a:prstGeom>
          <a:solidFill>
            <a:srgbClr val="C00000"/>
          </a:solidFill>
          <a:ln w="6350">
            <a:solidFill>
              <a:srgbClr val="FFFFFF"/>
            </a:solidFill>
          </a:ln>
        </p:spPr>
        <p:txBody>
          <a:bodyPr wrap="square" anchor="ctr"/>
          <a:lstStyle/>
          <a:p>
            <a:pPr algn="ctr"/>
            <a:r>
              <a:rPr lang="en-US" sz="1100" b="1" dirty="0">
                <a:solidFill>
                  <a:srgbClr val="FFFFFF"/>
                </a:solidFill>
                <a:latin typeface="Calibri"/>
              </a:rPr>
              <a:t>IP gaps</a:t>
            </a:r>
          </a:p>
        </p:txBody>
      </p:sp>
      <p:sp>
        <p:nvSpPr>
          <p:cNvPr id="504" name="YTick1"/>
          <p:cNvSpPr txBox="1"/>
          <p:nvPr/>
        </p:nvSpPr>
        <p:spPr>
          <a:xfrm>
            <a:off x="400000" y="1620000"/>
            <a:ext cx="1060000" cy="21000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/>
            <a:r>
              <a:rPr lang="en-US" sz="1000" dirty="0">
                <a:solidFill>
                  <a:srgbClr val="595959"/>
                </a:solidFill>
                <a:latin typeface="Calibri"/>
              </a:rPr>
              <a:t>Very High</a:t>
            </a:r>
          </a:p>
        </p:txBody>
      </p:sp>
      <p:sp>
        <p:nvSpPr>
          <p:cNvPr id="505" name="YTick2"/>
          <p:cNvSpPr txBox="1"/>
          <p:nvPr/>
        </p:nvSpPr>
        <p:spPr>
          <a:xfrm>
            <a:off x="400000" y="3720000"/>
            <a:ext cx="1060000" cy="21000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/>
            <a:r>
              <a:rPr lang="en-US" sz="1000" dirty="0">
                <a:solidFill>
                  <a:srgbClr val="595959"/>
                </a:solidFill>
                <a:latin typeface="Calibri"/>
              </a:rPr>
              <a:t>High</a:t>
            </a:r>
          </a:p>
        </p:txBody>
      </p:sp>
      <p:sp>
        <p:nvSpPr>
          <p:cNvPr id="506" name="XTick1"/>
          <p:cNvSpPr txBox="1"/>
          <p:nvPr/>
        </p:nvSpPr>
        <p:spPr>
          <a:xfrm>
            <a:off x="1500000" y="5760000"/>
            <a:ext cx="3250000" cy="1800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/>
            <a:r>
              <a:rPr lang="en-US" sz="900" dirty="0">
                <a:solidFill>
                  <a:srgbClr val="595959"/>
                </a:solidFill>
                <a:latin typeface="Calibri"/>
              </a:rPr>
              <a:t>High</a:t>
            </a:r>
          </a:p>
        </p:txBody>
      </p:sp>
      <p:sp>
        <p:nvSpPr>
          <p:cNvPr id="507" name="XTick2"/>
          <p:cNvSpPr txBox="1"/>
          <p:nvPr/>
        </p:nvSpPr>
        <p:spPr>
          <a:xfrm>
            <a:off x="4750000" y="5760000"/>
            <a:ext cx="3250000" cy="1800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/>
            <a:r>
              <a:rPr lang="en-US" sz="900" dirty="0">
                <a:solidFill>
                  <a:srgbClr val="595959"/>
                </a:solidFill>
                <a:latin typeface="Calibri"/>
              </a:rPr>
              <a:t>Medium</a:t>
            </a:r>
          </a:p>
        </p:txBody>
      </p:sp>
      <p:sp>
        <p:nvSpPr>
          <p:cNvPr id="508" name="XAxisLabel"/>
          <p:cNvSpPr txBox="1"/>
          <p:nvPr/>
        </p:nvSpPr>
        <p:spPr>
          <a:xfrm>
            <a:off x="1500000" y="5940000"/>
            <a:ext cx="6500000" cy="2520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/>
            <a:r>
              <a:rPr lang="en-US" sz="1100" b="1" dirty="0">
                <a:solidFill>
                  <a:srgbClr val="002060"/>
                </a:solidFill>
                <a:latin typeface="Calibri"/>
              </a:rPr>
              <a:t>Likelihood</a:t>
            </a:r>
          </a:p>
        </p:txBody>
      </p:sp>
      <p:sp>
        <p:nvSpPr>
          <p:cNvPr id="509" name="YAxisLabel"/>
          <p:cNvSpPr txBox="1"/>
          <p:nvPr/>
        </p:nvSpPr>
        <p:spPr>
          <a:xfrm>
            <a:off x="230400" y="3060000"/>
            <a:ext cx="1100000" cy="13200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/>
            <a:r>
              <a:rPr lang="en-US" sz="1100" b="1" dirty="0">
                <a:solidFill>
                  <a:srgbClr val="002060"/>
                </a:solidFill>
                <a:latin typeface="Calibri"/>
              </a:rPr>
              <a:t>Impact</a:t>
            </a:r>
          </a:p>
        </p:txBody>
      </p:sp>
      <p:sp>
        <p:nvSpPr>
          <p:cNvPr id="10000502" name="SourceLine"/>
          <p:cNvSpPr txBox="1"/>
          <p:nvPr/>
        </p:nvSpPr>
        <p:spPr>
          <a:xfrm>
            <a:off x="230400" y="5436000"/>
            <a:ext cx="6048000" cy="180000"/>
          </a:xfrm>
          <a:prstGeom prst="rect">
            <a:avLst/>
          </a:prstGeom>
          <a:noFill/>
        </p:spPr>
        <p:txBody>
          <a:bodyPr wrap="square" anchor="b" lIns="45720" tIns="22860" rIns="45720" bIns="22860">
            <a:noAutofit/>
          </a:bodyPr>
          <a:lstStyle/>
          <a:p>
            <a:pPr algn="l"/>
            <a:r>
              <a:rPr lang="en-US" sz="900" b="0" i="1" dirty="0">
                <a:solidFill>
                  <a:srgbClr val="888888"/>
                </a:solidFill>
                <a:latin typeface="Calibri"/>
              </a:rPr>
              <a:t>Nguồn: Source: VNF risk assessment 2025</a:t>
            </a:r>
          </a:p>
        </p:txBody>
      </p:sp>
      <p:sp>
        <p:nvSpPr>
          <p:cNvPr id="10000503" name="TaglineBox"/>
          <p:cNvSpPr txBox="1"/>
          <p:nvPr/>
        </p:nvSpPr>
        <p:spPr>
          <a:xfrm>
            <a:off x="457200" y="5832000"/>
            <a:ext cx="8229600" cy="432000"/>
          </a:xfrm>
          <a:prstGeom prst="roundRect">
            <a:avLst>
              <a:gd name="adj" fmla="val 4500"/>
            </a:avLst>
          </a:prstGeom>
          <a:solidFill>
            <a:srgbClr val="D6F1FC"/>
          </a:solidFill>
        </p:spPr>
        <p:txBody>
          <a:bodyPr wrap="square" anchor="ctr" lIns="45720" tIns="22860" rIns="45720" bIns="22860">
            <a:noAutofit/>
          </a:bodyPr>
          <a:lstStyle/>
          <a:p>
            <a:pPr algn="l"/>
            <a:r>
              <a:rPr lang="en-US" sz="100" b="0" i="0" dirty="0">
                <a:solidFill>
                  <a:srgbClr val="002060"/>
                </a:solidFill>
                <a:latin typeface="Calibri"/>
              </a:rPr>
              <a:t/>
            </a:r>
          </a:p>
        </p:txBody>
      </p:sp>
      <p:sp>
        <p:nvSpPr>
          <p:cNvPr id="10000504" name="TaglineText"/>
          <p:cNvSpPr txBox="1"/>
          <p:nvPr/>
        </p:nvSpPr>
        <p:spPr>
          <a:xfrm>
            <a:off x="571200" y="5904000"/>
            <a:ext cx="8001600" cy="288000"/>
          </a:xfrm>
          <a:prstGeom prst="rect">
            <a:avLst/>
          </a:prstGeom>
          <a:noFill/>
        </p:spPr>
        <p:txBody>
          <a:bodyPr wrap="square" anchor="ctr" lIns="45720" tIns="22860" rIns="45720" bIns="22860">
            <a:noAutofit/>
          </a:bodyPr>
          <a:lstStyle/>
          <a:p>
            <a:pPr algn="l"/>
            <a:r>
              <a:rPr lang="en-US" sz="1300" b="1" i="0" dirty="0">
                <a:solidFill>
                  <a:srgbClr val="002060"/>
                </a:solidFill>
                <a:latin typeface="Calibri"/>
              </a:rPr>
              <a:t>Allocate 20% budget to nano-stabilization validation.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0601" name="ActionTitle"/>
          <p:cNvSpPr txBox="1"/>
          <p:nvPr/>
        </p:nvSpPr>
        <p:spPr>
          <a:xfrm>
            <a:off x="230400" y="0"/>
            <a:ext cx="8683200" cy="1080000"/>
          </a:xfrm>
          <a:prstGeom prst="rect">
            <a:avLst/>
          </a:prstGeom>
          <a:noFill/>
        </p:spPr>
        <p:txBody>
          <a:bodyPr wrap="square" anchor="ctr" lIns="45720" tIns="22860" rIns="45720" bIns="22860">
            <a:noAutofit/>
          </a:bodyPr>
          <a:lstStyle/>
          <a:p>
            <a:pPr algn="l"/>
            <a:r>
              <a:rPr lang="en-US" sz="2400" b="1" i="0" dirty="0">
                <a:solidFill>
                  <a:srgbClr val="002060"/>
                </a:solidFill>
                <a:latin typeface="Calibri"/>
              </a:rPr>
              <a:t>Three-horizon execution plan for mineral supplements</a:t>
            </a:r>
          </a:p>
        </p:txBody>
      </p:sp>
      <p:sp>
        <p:nvSpPr>
          <p:cNvPr id="601" name="YCaption"/>
          <p:cNvSpPr txBox="1"/>
          <p:nvPr/>
        </p:nvSpPr>
        <p:spPr>
          <a:xfrm>
            <a:off x="230400" y="1360000"/>
            <a:ext cx="2400000" cy="240000"/>
          </a:xfrm>
          <a:prstGeom prst="rect">
            <a:avLst/>
          </a:prstGeom>
          <a:noFill/>
        </p:spPr>
        <p:txBody>
          <a:bodyPr wrap="square" anchor="ctr" lIns="0" tIns="0" rIns="0" bIns="0">
            <a:normAutofit fontScale="100000" lnSpcReduction="0"/>
          </a:bodyPr>
          <a:lstStyle/>
          <a:p>
            <a:pPr algn="l"/>
            <a:r>
              <a:rPr lang="en-US" sz="1000" b="1" spc="200" dirty="0">
                <a:solidFill>
                  <a:srgbClr val="595959"/>
                </a:solidFill>
                <a:latin typeface="Calibri"/>
              </a:rPr>
              <a:t>↑ MỨC ĐẦU TƯ</a:t>
            </a:r>
          </a:p>
        </p:txBody>
      </p:sp>
      <p:sp>
        <p:nvSpPr>
          <p:cNvPr id="602" name="H1Curve"/>
          <p:cNvSpPr/>
          <p:nvPr/>
        </p:nvSpPr>
        <p:spPr>
          <a:xfrm>
            <a:off x="230400" y="4400000"/>
            <a:ext cx="2600000" cy="720000"/>
          </a:xfrm>
          <a:prstGeom prst="rightArrow">
            <a:avLst/>
          </a:prstGeom>
          <a:solidFill>
            <a:srgbClr val="002060">
              <a:alpha val="100000"/>
            </a:srgbClr>
          </a:solidFill>
          <a:ln>
            <a:noFill/>
          </a:ln>
        </p:spPr>
        <p:txBody>
          <a:bodyPr wrap="square" anchor="ctr" lIns="182880" tIns="0" rIns="457200" bIns="0"/>
          <a:lstStyle/>
          <a:p>
            <a:pPr algn="l"/>
            <a:r>
              <a:rPr lang="en-US" sz="1400" b="1" dirty="0">
                <a:solidFill>
                  <a:srgbClr val="FFFFFF"/>
                </a:solidFill>
                <a:latin typeface="Calibri"/>
              </a:rPr>
              <a:t>H1</a:t>
            </a:r>
          </a:p>
        </p:txBody>
      </p:sp>
      <p:sp>
        <p:nvSpPr>
          <p:cNvPr id="603" name="H1Panel"/>
          <p:cNvSpPr/>
          <p:nvPr/>
        </p:nvSpPr>
        <p:spPr>
          <a:xfrm>
            <a:off x="6000000" y="1620000"/>
            <a:ext cx="2700000" cy="13000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002060"/>
            </a:solidFill>
          </a:ln>
        </p:spPr>
        <p:txBody>
          <a:bodyPr wrap="square" lIns="91440" tIns="91440" rIns="91440" bIns="91440" anchor="t">
            <a:normAutofit fontScale="100000" lnSpcReduction="0"/>
          </a:bodyPr>
          <a:lstStyle/>
          <a:p>
            <a:pPr algn="l"/>
            <a:r>
              <a:rPr lang="en-US" sz="1100" b="1" spc="200" dirty="0">
                <a:solidFill>
                  <a:srgbClr val="002060"/>
                </a:solidFill>
                <a:latin typeface="Calibri"/>
              </a:rPr>
              <a:t>HORIZON 1 · 0–12 THÁNG</a:t>
            </a:r>
          </a:p>
          <a:p>
            <a:pPr algn="l">
              <a:spcBef>
                <a:spcPts val="300"/>
              </a:spcBef>
            </a:pPr>
            <a:r>
              <a:rPr lang="en-US" sz="1300" b="1" dirty="0">
                <a:solidFill>
                  <a:srgbClr val="002060"/>
                </a:solidFill>
                <a:latin typeface="Calibri"/>
              </a:rPr>
              <a:t>Nâng cao hiệu quả</a:t>
            </a:r>
          </a:p>
          <a:p>
            <a:pPr marL="171450" indent="-171450">
              <a:spcBef>
                <a:spcPts val="400"/>
              </a:spcBef>
              <a:buClr>
                <a:srgbClr val="002060"/>
              </a:buClr>
              <a:buFont typeface="Arial"/>
              <a:buChar char="•"/>
            </a:pPr>
            <a:r>
              <a:rPr lang="en-US" sz="1100" dirty="0">
                <a:solidFill>
                  <a:srgbClr val="2C2C2C"/>
                </a:solidFill>
                <a:latin typeface="Calibri"/>
              </a:rPr>
              <a:t>Nộp đơn sáng chế</a:t>
            </a:r>
          </a:p>
          <a:p>
            <a:pPr marL="171450" indent="-171450">
              <a:spcBef>
                <a:spcPts val="400"/>
              </a:spcBef>
              <a:buClr>
                <a:srgbClr val="002060"/>
              </a:buClr>
              <a:buFont typeface="Arial"/>
              <a:buChar char="•"/>
            </a:pPr>
            <a:r>
              <a:rPr lang="en-US" sz="1100" dirty="0">
                <a:solidFill>
                  <a:srgbClr val="2C2C2C"/>
                </a:solidFill>
                <a:latin typeface="Calibri"/>
              </a:rPr>
              <a:t>Phát triển công thức chelate</a:t>
            </a:r>
          </a:p>
        </p:txBody>
      </p:sp>
      <p:sp>
        <p:nvSpPr>
          <p:cNvPr id="604" name="H2Curve"/>
          <p:cNvSpPr/>
          <p:nvPr/>
        </p:nvSpPr>
        <p:spPr>
          <a:xfrm>
            <a:off x="1700000" y="3200000"/>
            <a:ext cx="3300000" cy="720000"/>
          </a:xfrm>
          <a:prstGeom prst="rightArrow">
            <a:avLst/>
          </a:prstGeom>
          <a:solidFill>
            <a:srgbClr val="0070C0">
              <a:alpha val="80000"/>
            </a:srgbClr>
          </a:solidFill>
          <a:ln>
            <a:noFill/>
          </a:ln>
        </p:spPr>
        <p:txBody>
          <a:bodyPr wrap="square" anchor="ctr" lIns="182880" tIns="0" rIns="457200" bIns="0"/>
          <a:lstStyle/>
          <a:p>
            <a:pPr algn="l"/>
            <a:r>
              <a:rPr lang="en-US" sz="1400" b="1" dirty="0">
                <a:solidFill>
                  <a:srgbClr val="FFFFFF"/>
                </a:solidFill>
                <a:latin typeface="Calibri"/>
              </a:rPr>
              <a:t>H2</a:t>
            </a:r>
          </a:p>
        </p:txBody>
      </p:sp>
      <p:sp>
        <p:nvSpPr>
          <p:cNvPr id="605" name="H2Panel"/>
          <p:cNvSpPr/>
          <p:nvPr/>
        </p:nvSpPr>
        <p:spPr>
          <a:xfrm>
            <a:off x="6000000" y="3060000"/>
            <a:ext cx="2700000" cy="13000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0070C0"/>
            </a:solidFill>
          </a:ln>
        </p:spPr>
        <p:txBody>
          <a:bodyPr wrap="square" lIns="91440" tIns="91440" rIns="91440" bIns="91440" anchor="t">
            <a:normAutofit fontScale="100000" lnSpcReduction="0"/>
          </a:bodyPr>
          <a:lstStyle/>
          <a:p>
            <a:pPr algn="l"/>
            <a:r>
              <a:rPr lang="en-US" sz="1100" b="1" spc="200" dirty="0">
                <a:solidFill>
                  <a:srgbClr val="0070C0"/>
                </a:solidFill>
                <a:latin typeface="Calibri"/>
              </a:rPr>
              <a:t>HORIZON 2 · 1–3 NĂM</a:t>
            </a:r>
          </a:p>
          <a:p>
            <a:pPr algn="l">
              <a:spcBef>
                <a:spcPts val="300"/>
              </a:spcBef>
            </a:pPr>
            <a:r>
              <a:rPr lang="en-US" sz="1300" b="1" dirty="0">
                <a:solidFill>
                  <a:srgbClr val="002060"/>
                </a:solidFill>
                <a:latin typeface="Calibri"/>
              </a:rPr>
              <a:t>Mở rộng quy mô</a:t>
            </a:r>
          </a:p>
          <a:p>
            <a:pPr marL="171450" indent="-171450">
              <a:spcBef>
                <a:spcPts val="400"/>
              </a:spcBef>
              <a:buClr>
                <a:srgbClr val="0070C0"/>
              </a:buClr>
              <a:buFont typeface="Arial"/>
              <a:buChar char="•"/>
            </a:pPr>
            <a:r>
              <a:rPr lang="en-US" sz="1100" dirty="0">
                <a:solidFill>
                  <a:srgbClr val="2C2C2C"/>
                </a:solidFill>
                <a:latin typeface="Calibri"/>
              </a:rPr>
              <a:t>Xác thực quy trình sản xuất</a:t>
            </a:r>
          </a:p>
          <a:p>
            <a:pPr marL="171450" indent="-171450">
              <a:spcBef>
                <a:spcPts val="400"/>
              </a:spcBef>
              <a:buClr>
                <a:srgbClr val="0070C0"/>
              </a:buClr>
              <a:buFont typeface="Arial"/>
              <a:buChar char="•"/>
            </a:pPr>
            <a:r>
              <a:rPr lang="en-US" sz="1100" dirty="0">
                <a:solidFill>
                  <a:srgbClr val="2C2C2C"/>
                </a:solidFill>
                <a:latin typeface="Calibri"/>
              </a:rPr>
              <a:t>Đối tác nhà máy thức ăn</a:t>
            </a:r>
          </a:p>
        </p:txBody>
      </p:sp>
      <p:sp>
        <p:nvSpPr>
          <p:cNvPr id="606" name="H3Curve"/>
          <p:cNvSpPr/>
          <p:nvPr/>
        </p:nvSpPr>
        <p:spPr>
          <a:xfrm>
            <a:off x="3300000" y="2000000"/>
            <a:ext cx="2900000" cy="720000"/>
          </a:xfrm>
          <a:prstGeom prst="rightArrow">
            <a:avLst/>
          </a:prstGeom>
          <a:solidFill>
            <a:srgbClr val="953735">
              <a:alpha val="80000"/>
            </a:srgbClr>
          </a:solidFill>
          <a:ln>
            <a:noFill/>
          </a:ln>
        </p:spPr>
        <p:txBody>
          <a:bodyPr wrap="square" anchor="ctr" lIns="182880" tIns="0" rIns="457200" bIns="0"/>
          <a:lstStyle/>
          <a:p>
            <a:pPr algn="l"/>
            <a:r>
              <a:rPr lang="en-US" sz="1400" b="1" dirty="0">
                <a:solidFill>
                  <a:srgbClr val="FFFFFF"/>
                </a:solidFill>
                <a:latin typeface="Calibri"/>
              </a:rPr>
              <a:t>H3</a:t>
            </a:r>
          </a:p>
        </p:txBody>
      </p:sp>
      <p:sp>
        <p:nvSpPr>
          <p:cNvPr id="607" name="H3Panel"/>
          <p:cNvSpPr/>
          <p:nvPr/>
        </p:nvSpPr>
        <p:spPr>
          <a:xfrm>
            <a:off x="6000000" y="4500000"/>
            <a:ext cx="2700000" cy="13000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953735"/>
            </a:solidFill>
          </a:ln>
        </p:spPr>
        <p:txBody>
          <a:bodyPr wrap="square" lIns="91440" tIns="91440" rIns="91440" bIns="91440" anchor="t">
            <a:normAutofit fontScale="100000" lnSpcReduction="0"/>
          </a:bodyPr>
          <a:lstStyle/>
          <a:p>
            <a:pPr algn="l"/>
            <a:r>
              <a:rPr lang="en-US" sz="1100" b="1" spc="200" dirty="0">
                <a:solidFill>
                  <a:srgbClr val="953735"/>
                </a:solidFill>
                <a:latin typeface="Calibri"/>
              </a:rPr>
              <a:t>HORIZON 3 · 3+ NĂM</a:t>
            </a:r>
          </a:p>
          <a:p>
            <a:pPr algn="l">
              <a:spcBef>
                <a:spcPts val="300"/>
              </a:spcBef>
            </a:pPr>
            <a:r>
              <a:rPr lang="en-US" sz="1300" b="1" dirty="0">
                <a:solidFill>
                  <a:srgbClr val="002060"/>
                </a:solidFill>
                <a:latin typeface="Calibri"/>
              </a:rPr>
              <a:t>Phát triển bền vững</a:t>
            </a:r>
          </a:p>
          <a:p>
            <a:pPr marL="171450" indent="-171450">
              <a:spcBef>
                <a:spcPts val="400"/>
              </a:spcBef>
              <a:buClr>
                <a:srgbClr val="953735"/>
              </a:buClr>
              <a:buFont typeface="Arial"/>
              <a:buChar char="•"/>
            </a:pPr>
            <a:r>
              <a:rPr lang="en-US" sz="1100" dirty="0">
                <a:solidFill>
                  <a:srgbClr val="2C2C2C"/>
                </a:solidFill>
                <a:latin typeface="Calibri"/>
              </a:rPr>
              <a:t>Hoàn thành công suất</a:t>
            </a:r>
          </a:p>
          <a:p>
            <a:pPr marL="171450" indent="-171450">
              <a:spcBef>
                <a:spcPts val="400"/>
              </a:spcBef>
              <a:buClr>
                <a:srgbClr val="953735"/>
              </a:buClr>
              <a:buFont typeface="Arial"/>
              <a:buChar char="•"/>
            </a:pPr>
            <a:r>
              <a:rPr lang="en-US" sz="1100" dirty="0">
                <a:solidFill>
                  <a:srgbClr val="2C2C2C"/>
                </a:solidFill>
                <a:latin typeface="Calibri"/>
              </a:rPr>
              <a:t>Lên kệ sản phẩm chức năng</a:t>
            </a:r>
          </a:p>
        </p:txBody>
      </p:sp>
      <p:sp>
        <p:nvSpPr>
          <p:cNvPr id="608" name="XAxisLabel"/>
          <p:cNvSpPr txBox="1"/>
          <p:nvPr/>
        </p:nvSpPr>
        <p:spPr>
          <a:xfrm>
            <a:off x="230400" y="5940000"/>
            <a:ext cx="5500000" cy="252000"/>
          </a:xfrm>
          <a:prstGeom prst="rect">
            <a:avLst/>
          </a:prstGeom>
          <a:noFill/>
        </p:spPr>
        <p:txBody>
          <a:bodyPr wrap="square" anchor="ctr" lIns="0" tIns="0" rIns="0" bIns="0">
            <a:normAutofit fontScale="100000" lnSpcReduction="0"/>
          </a:bodyPr>
          <a:lstStyle/>
          <a:p>
            <a:pPr algn="ctr"/>
            <a:r>
              <a:rPr lang="en-US" sz="1100" b="1" spc="200" dirty="0">
                <a:solidFill>
                  <a:srgbClr val="002060"/>
                </a:solidFill>
                <a:latin typeface="Calibri"/>
              </a:rPr>
              <a:t>THỜI GIAN THỰC HIỆN →</a:t>
            </a:r>
          </a:p>
        </p:txBody>
      </p:sp>
      <p:sp>
        <p:nvSpPr>
          <p:cNvPr id="10000602" name="SourceLine"/>
          <p:cNvSpPr txBox="1"/>
          <p:nvPr/>
        </p:nvSpPr>
        <p:spPr>
          <a:xfrm>
            <a:off x="230400" y="5436000"/>
            <a:ext cx="6048000" cy="180000"/>
          </a:xfrm>
          <a:prstGeom prst="rect">
            <a:avLst/>
          </a:prstGeom>
          <a:noFill/>
        </p:spPr>
        <p:txBody>
          <a:bodyPr wrap="square" anchor="b" lIns="45720" tIns="22860" rIns="45720" bIns="22860">
            <a:noAutofit/>
          </a:bodyPr>
          <a:lstStyle/>
          <a:p>
            <a:pPr algn="l"/>
            <a:r>
              <a:rPr lang="en-US" sz="900" b="0" i="1" dirty="0">
                <a:solidFill>
                  <a:srgbClr val="888888"/>
                </a:solidFill>
                <a:latin typeface="Calibri"/>
              </a:rPr>
              <a:t>Nguồn: Source: VNF strategy workshop 2025</a:t>
            </a:r>
          </a:p>
        </p:txBody>
      </p:sp>
      <p:sp>
        <p:nvSpPr>
          <p:cNvPr id="10000603" name="TaglineBox"/>
          <p:cNvSpPr txBox="1"/>
          <p:nvPr/>
        </p:nvSpPr>
        <p:spPr>
          <a:xfrm>
            <a:off x="457200" y="5832000"/>
            <a:ext cx="8229600" cy="432000"/>
          </a:xfrm>
          <a:prstGeom prst="roundRect">
            <a:avLst>
              <a:gd name="adj" fmla="val 4500"/>
            </a:avLst>
          </a:prstGeom>
          <a:solidFill>
            <a:srgbClr val="D6F1FC"/>
          </a:solidFill>
        </p:spPr>
        <p:txBody>
          <a:bodyPr wrap="square" anchor="ctr" lIns="45720" tIns="22860" rIns="45720" bIns="22860">
            <a:noAutofit/>
          </a:bodyPr>
          <a:lstStyle/>
          <a:p>
            <a:pPr algn="l"/>
            <a:r>
              <a:rPr lang="en-US" sz="100" b="0" i="0" dirty="0">
                <a:solidFill>
                  <a:srgbClr val="002060"/>
                </a:solidFill>
                <a:latin typeface="Calibri"/>
              </a:rPr>
              <a:t/>
            </a:r>
          </a:p>
        </p:txBody>
      </p:sp>
      <p:sp>
        <p:nvSpPr>
          <p:cNvPr id="10000604" name="TaglineText"/>
          <p:cNvSpPr txBox="1"/>
          <p:nvPr/>
        </p:nvSpPr>
        <p:spPr>
          <a:xfrm>
            <a:off x="571200" y="5904000"/>
            <a:ext cx="8001600" cy="288000"/>
          </a:xfrm>
          <a:prstGeom prst="rect">
            <a:avLst/>
          </a:prstGeom>
          <a:noFill/>
        </p:spPr>
        <p:txBody>
          <a:bodyPr wrap="square" anchor="ctr" lIns="45720" tIns="22860" rIns="45720" bIns="22860">
            <a:noAutofit/>
          </a:bodyPr>
          <a:lstStyle/>
          <a:p>
            <a:pPr algn="l"/>
            <a:r>
              <a:rPr lang="en-US" sz="1300" b="1" i="0" dirty="0">
                <a:solidFill>
                  <a:srgbClr val="002060"/>
                </a:solidFill>
                <a:latin typeface="Calibri"/>
              </a:rPr>
              <a:t>Balance immediate cash flow with long-term differentiation.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0701" name="ActionTitle"/>
          <p:cNvSpPr txBox="1"/>
          <p:nvPr/>
        </p:nvSpPr>
        <p:spPr>
          <a:xfrm>
            <a:off x="230400" y="0"/>
            <a:ext cx="8683200" cy="1080000"/>
          </a:xfrm>
          <a:prstGeom prst="rect">
            <a:avLst/>
          </a:prstGeom>
          <a:noFill/>
        </p:spPr>
        <p:txBody>
          <a:bodyPr wrap="square" anchor="ctr" lIns="45720" tIns="22860" rIns="45720" bIns="22860">
            <a:noAutofit/>
          </a:bodyPr>
          <a:lstStyle/>
          <a:p>
            <a:pPr algn="l"/>
            <a:r>
              <a:rPr lang="en-US" sz="2400" b="1" i="0" dirty="0">
                <a:solidFill>
                  <a:srgbClr val="002060"/>
                </a:solidFill>
                <a:latin typeface="Calibri"/>
              </a:rPr>
              <a:t>Zero IP + nano-scale-up risks erode $14.2M NPV</a:t>
            </a:r>
          </a:p>
        </p:txBody>
      </p:sp>
      <p:sp>
        <p:nvSpPr>
          <p:cNvPr id="701" name="QHead1"/>
          <p:cNvSpPr txBox="1"/>
          <p:nvPr/>
        </p:nvSpPr>
        <p:spPr>
          <a:xfrm>
            <a:off x="2200000" y="1620000"/>
            <a:ext cx="1625000" cy="360000"/>
          </a:xfrm>
          <a:prstGeom prst="rect">
            <a:avLst/>
          </a:prstGeom>
          <a:solidFill>
            <a:srgbClr val="F2F2F2"/>
          </a:solidFill>
        </p:spPr>
        <p:txBody>
          <a:bodyPr wrap="square" anchor="ctr" lIns="91440" tIns="0" rIns="91440" bIns="0">
            <a:noAutofit/>
          </a:bodyPr>
          <a:lstStyle/>
          <a:p>
            <a:pPr algn="ctr"/>
            <a:r>
              <a:rPr lang="en-US" sz="1100" b="1" dirty="0">
                <a:solidFill>
                  <a:srgbClr val="002060"/>
                </a:solidFill>
                <a:latin typeface="Calibri"/>
              </a:rPr>
              <a:t>Q1'24</a:t>
            </a:r>
          </a:p>
        </p:txBody>
      </p:sp>
      <p:sp>
        <p:nvSpPr>
          <p:cNvPr id="702" name="QHead2"/>
          <p:cNvSpPr txBox="1"/>
          <p:nvPr/>
        </p:nvSpPr>
        <p:spPr>
          <a:xfrm>
            <a:off x="3825000" y="1620000"/>
            <a:ext cx="1625000" cy="360000"/>
          </a:xfrm>
          <a:prstGeom prst="rect">
            <a:avLst/>
          </a:prstGeom>
          <a:solidFill>
            <a:srgbClr val="F2F2F2"/>
          </a:solidFill>
        </p:spPr>
        <p:txBody>
          <a:bodyPr wrap="square" anchor="ctr" lIns="91440" tIns="0" rIns="91440" bIns="0">
            <a:noAutofit/>
          </a:bodyPr>
          <a:lstStyle/>
          <a:p>
            <a:pPr algn="ctr"/>
            <a:r>
              <a:rPr lang="en-US" sz="1100" b="1" dirty="0">
                <a:solidFill>
                  <a:srgbClr val="002060"/>
                </a:solidFill>
                <a:latin typeface="Calibri"/>
              </a:rPr>
              <a:t>Q2'24</a:t>
            </a:r>
          </a:p>
        </p:txBody>
      </p:sp>
      <p:sp>
        <p:nvSpPr>
          <p:cNvPr id="703" name="QHead3"/>
          <p:cNvSpPr txBox="1"/>
          <p:nvPr/>
        </p:nvSpPr>
        <p:spPr>
          <a:xfrm>
            <a:off x="5450000" y="1620000"/>
            <a:ext cx="1625000" cy="360000"/>
          </a:xfrm>
          <a:prstGeom prst="rect">
            <a:avLst/>
          </a:prstGeom>
          <a:solidFill>
            <a:srgbClr val="F2F2F2"/>
          </a:solidFill>
        </p:spPr>
        <p:txBody>
          <a:bodyPr wrap="square" anchor="ctr" lIns="91440" tIns="0" rIns="91440" bIns="0">
            <a:noAutofit/>
          </a:bodyPr>
          <a:lstStyle/>
          <a:p>
            <a:pPr algn="ctr"/>
            <a:r>
              <a:rPr lang="en-US" sz="1100" b="1" dirty="0">
                <a:solidFill>
                  <a:srgbClr val="002060"/>
                </a:solidFill>
                <a:latin typeface="Calibri"/>
              </a:rPr>
              <a:t>Q3'24</a:t>
            </a:r>
          </a:p>
        </p:txBody>
      </p:sp>
      <p:sp>
        <p:nvSpPr>
          <p:cNvPr id="704" name="QHead4"/>
          <p:cNvSpPr txBox="1"/>
          <p:nvPr/>
        </p:nvSpPr>
        <p:spPr>
          <a:xfrm>
            <a:off x="7075000" y="1620000"/>
            <a:ext cx="1625000" cy="360000"/>
          </a:xfrm>
          <a:prstGeom prst="rect">
            <a:avLst/>
          </a:prstGeom>
          <a:solidFill>
            <a:srgbClr val="F2F2F2"/>
          </a:solidFill>
        </p:spPr>
        <p:txBody>
          <a:bodyPr wrap="square" anchor="ctr" lIns="91440" tIns="0" rIns="91440" bIns="0">
            <a:noAutofit/>
          </a:bodyPr>
          <a:lstStyle/>
          <a:p>
            <a:pPr algn="ctr"/>
            <a:r>
              <a:rPr lang="en-US" sz="1100" b="1" dirty="0">
                <a:solidFill>
                  <a:srgbClr val="002060"/>
                </a:solidFill>
                <a:latin typeface="Calibri"/>
              </a:rPr>
              <a:t>Q4'24</a:t>
            </a:r>
          </a:p>
        </p:txBody>
      </p:sp>
      <p:cxnSp>
        <p:nvCxnSpPr>
          <p:cNvPr id="705" name="QGrid1"/>
          <p:cNvCxnSpPr>
    </p:cNvCxnSpPr>
          <p:nvPr/>
        </p:nvCxnSpPr>
        <p:spPr>
          <a:xfrm>
            <a:off x="3825000" y="2160000"/>
            <a:ext cx="0" cy="1600000"/>
          </a:xfrm>
          <a:prstGeom prst="line">
            <a:avLst/>
          </a:prstGeom>
          <a:ln w="6350">
            <a:solidFill>
              <a:srgbClr val="F2F2F2"/>
            </a:solidFill>
          </a:ln>
        </p:spPr>
      </p:cxnSp>
      <p:cxnSp>
        <p:nvCxnSpPr>
          <p:cNvPr id="706" name="QGrid2"/>
          <p:cNvCxnSpPr>
    </p:cNvCxnSpPr>
          <p:nvPr/>
        </p:nvCxnSpPr>
        <p:spPr>
          <a:xfrm>
            <a:off x="5450000" y="2160000"/>
            <a:ext cx="0" cy="1600000"/>
          </a:xfrm>
          <a:prstGeom prst="line">
            <a:avLst/>
          </a:prstGeom>
          <a:ln w="6350">
            <a:solidFill>
              <a:srgbClr val="F2F2F2"/>
            </a:solidFill>
          </a:ln>
        </p:spPr>
      </p:cxnSp>
      <p:cxnSp>
        <p:nvCxnSpPr>
          <p:cNvPr id="707" name="QGrid3"/>
          <p:cNvCxnSpPr>
    </p:cNvCxnSpPr>
          <p:nvPr/>
        </p:nvCxnSpPr>
        <p:spPr>
          <a:xfrm>
            <a:off x="7075000" y="2160000"/>
            <a:ext cx="0" cy="1600000"/>
          </a:xfrm>
          <a:prstGeom prst="line">
            <a:avLst/>
          </a:prstGeom>
          <a:ln w="6350">
            <a:solidFill>
              <a:srgbClr val="F2F2F2"/>
            </a:solidFill>
          </a:ln>
        </p:spPr>
      </p:cxnSp>
      <p:sp>
        <p:nvSpPr>
          <p:cNvPr id="708" name="WsLbl1"/>
          <p:cNvSpPr txBox="1"/>
          <p:nvPr/>
        </p:nvSpPr>
        <p:spPr>
          <a:xfrm>
            <a:off x="230400" y="2160000"/>
            <a:ext cx="1900000" cy="800000"/>
          </a:xfrm>
          <a:prstGeom prst="rect">
            <a:avLst/>
          </a:prstGeom>
          <a:noFill/>
        </p:spPr>
        <p:txBody>
          <a:bodyPr wrap="square" anchor="ctr" lIns="91440" tIns="0" rIns="91440" bIns="0">
            <a:noAutofit/>
          </a:bodyPr>
          <a:lstStyle/>
          <a:p>
            <a:pPr algn="l"/>
            <a:r>
              <a:rPr lang="en-US" sz="1100" b="1" dirty="0">
                <a:solidFill>
                  <a:srgbClr val="002060"/>
                </a:solidFill>
                <a:latin typeface="Calibri"/>
              </a:rPr>
              <a:t>Patent filing</a:t>
            </a:r>
          </a:p>
        </p:txBody>
      </p:sp>
      <p:sp>
        <p:nvSpPr>
          <p:cNvPr id="709" name="WsBar1_1"/>
          <p:cNvSpPr/>
          <p:nvPr/>
        </p:nvSpPr>
        <p:spPr>
          <a:xfrm>
            <a:off x="2245720" y="2344000"/>
            <a:ext cx="4783560" cy="432000"/>
          </a:xfrm>
          <a:prstGeom prst="roundRect">
            <a:avLst>
              <a:gd name="adj" fmla="val 25000"/>
            </a:avLst>
          </a:prstGeom>
          <a:solidFill>
            <a:srgbClr val="002060"/>
          </a:solidFill>
          <a:ln>
            <a:noFill/>
          </a:ln>
        </p:spPr>
        <p:txBody>
          <a:bodyPr wrap="square" anchor="ctr" lIns="91440" tIns="0" rIns="91440" bIns="0"/>
          <a:lstStyle/>
          <a:p>
            <a:pPr algn="l"/>
            <a:r>
              <a:rPr lang="en-US" sz="1000" b="1" dirty="0">
                <a:solidFill>
                  <a:srgbClr val="FFFFFF"/>
                </a:solidFill>
                <a:latin typeface="Calibri"/>
              </a:rPr>
              <a:t>Filing process</a:t>
            </a:r>
          </a:p>
        </p:txBody>
      </p:sp>
      <p:sp>
        <p:nvSpPr>
          <p:cNvPr id="710" name="Ms1_1"/>
          <p:cNvSpPr/>
          <p:nvPr/>
        </p:nvSpPr>
        <p:spPr>
          <a:xfrm>
            <a:off x="5324000" y="2434000"/>
            <a:ext cx="252000" cy="252000"/>
          </a:xfrm>
          <a:prstGeom prst="diamond">
            <a:avLst/>
          </a:prstGeom>
          <a:solidFill>
            <a:srgbClr val="E6AF00"/>
          </a:solidFill>
          <a:ln w="9525">
            <a:solidFill>
              <a:srgbClr val="00206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711" name="MsLbl1_1"/>
          <p:cNvSpPr txBox="1"/>
          <p:nvPr/>
        </p:nvSpPr>
        <p:spPr>
          <a:xfrm>
            <a:off x="5082800" y="2686000"/>
            <a:ext cx="734400" cy="216000"/>
          </a:xfrm>
          <a:prstGeom prst="rect">
            <a:avLst/>
          </a:prstGeom>
          <a:noFill/>
        </p:spPr>
        <p:txBody>
          <a:bodyPr wrap="square" anchor="ctr" lIns="91440" tIns="0" rIns="91440" bIns="0">
            <a:noAutofit/>
          </a:bodyPr>
          <a:lstStyle/>
          <a:p>
            <a:pPr algn="ctr"/>
            <a:r>
              <a:rPr lang="en-US" sz="900" dirty="0">
                <a:solidFill>
                  <a:srgbClr val="595959"/>
                </a:solidFill>
                <a:latin typeface="Calibri"/>
              </a:rPr>
              <a:t>Filed</a:t>
            </a:r>
          </a:p>
        </p:txBody>
      </p:sp>
      <p:sp>
        <p:nvSpPr>
          <p:cNvPr id="712" name="WsLbl2"/>
          <p:cNvSpPr txBox="1"/>
          <p:nvPr/>
        </p:nvSpPr>
        <p:spPr>
          <a:xfrm>
            <a:off x="230400" y="2960000"/>
            <a:ext cx="1900000" cy="800000"/>
          </a:xfrm>
          <a:prstGeom prst="rect">
            <a:avLst/>
          </a:prstGeom>
          <a:noFill/>
        </p:spPr>
        <p:txBody>
          <a:bodyPr wrap="square" anchor="ctr" lIns="91440" tIns="0" rIns="91440" bIns="0">
            <a:noAutofit/>
          </a:bodyPr>
          <a:lstStyle/>
          <a:p>
            <a:pPr algn="l"/>
            <a:r>
              <a:rPr lang="en-US" sz="1100" b="1" dirty="0">
                <a:solidFill>
                  <a:srgbClr val="002060"/>
                </a:solidFill>
                <a:latin typeface="Calibri"/>
              </a:rPr>
              <a:t>Scale-up validation</a:t>
            </a:r>
          </a:p>
        </p:txBody>
      </p:sp>
      <p:sp>
        <p:nvSpPr>
          <p:cNvPr id="713" name="WsBar2_1"/>
          <p:cNvSpPr/>
          <p:nvPr/>
        </p:nvSpPr>
        <p:spPr>
          <a:xfrm>
            <a:off x="3870720" y="3144000"/>
            <a:ext cx="4783560" cy="432000"/>
          </a:xfrm>
          <a:prstGeom prst="roundRect">
            <a:avLst>
              <a:gd name="adj" fmla="val 25000"/>
            </a:avLst>
          </a:prstGeom>
          <a:solidFill>
            <a:srgbClr val="0070C0"/>
          </a:solidFill>
          <a:ln>
            <a:noFill/>
          </a:ln>
        </p:spPr>
        <p:txBody>
          <a:bodyPr wrap="square" anchor="ctr" lIns="91440" tIns="0" rIns="91440" bIns="0"/>
          <a:lstStyle/>
          <a:p>
            <a:pPr algn="l"/>
            <a:r>
              <a:rPr lang="en-US" sz="1000" b="1" dirty="0">
                <a:solidFill>
                  <a:srgbClr val="FFFFFF"/>
                </a:solidFill>
                <a:latin typeface="Calibri"/>
              </a:rPr>
              <a:t>Testing</a:t>
            </a:r>
          </a:p>
        </p:txBody>
      </p:sp>
      <p:sp>
        <p:nvSpPr>
          <p:cNvPr id="714" name="Ms2_1"/>
          <p:cNvSpPr/>
          <p:nvPr/>
        </p:nvSpPr>
        <p:spPr>
          <a:xfrm>
            <a:off x="6949000" y="3234000"/>
            <a:ext cx="252000" cy="252000"/>
          </a:xfrm>
          <a:prstGeom prst="diamond">
            <a:avLst/>
          </a:prstGeom>
          <a:solidFill>
            <a:srgbClr val="E6AF00"/>
          </a:solidFill>
          <a:ln w="9525">
            <a:solidFill>
              <a:srgbClr val="00206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715" name="MsLbl2_1"/>
          <p:cNvSpPr txBox="1"/>
          <p:nvPr/>
        </p:nvSpPr>
        <p:spPr>
          <a:xfrm>
            <a:off x="6707800" y="3486000"/>
            <a:ext cx="734400" cy="216000"/>
          </a:xfrm>
          <a:prstGeom prst="rect">
            <a:avLst/>
          </a:prstGeom>
          <a:noFill/>
        </p:spPr>
        <p:txBody>
          <a:bodyPr wrap="square" anchor="ctr" lIns="91440" tIns="0" rIns="91440" bIns="0">
            <a:noAutofit/>
          </a:bodyPr>
          <a:lstStyle/>
          <a:p>
            <a:pPr algn="ctr"/>
            <a:r>
              <a:rPr lang="en-US" sz="900" dirty="0">
                <a:solidFill>
                  <a:srgbClr val="595959"/>
                </a:solidFill>
                <a:latin typeface="Calibri"/>
              </a:rPr>
              <a:t>Validated</a:t>
            </a:r>
          </a:p>
        </p:txBody>
      </p:sp>
      <p:cxnSp>
        <p:nvCxnSpPr>
          <p:cNvPr id="716" name="TodayLine"/>
          <p:cNvCxnSpPr>
    </p:cNvCxnSpPr>
          <p:nvPr/>
        </p:nvCxnSpPr>
        <p:spPr>
          <a:xfrm>
            <a:off x="3825000" y="2160000"/>
            <a:ext cx="0" cy="1600000"/>
          </a:xfrm>
          <a:prstGeom prst="line">
            <a:avLst/>
          </a:prstGeom>
          <a:ln w="12700">
            <a:prstDash val="dash"/>
            <a:solidFill>
              <a:srgbClr val="C00000"/>
            </a:solidFill>
          </a:ln>
        </p:spPr>
      </p:cxnSp>
      <p:sp>
        <p:nvSpPr>
          <p:cNvPr id="10000702" name="SourceLine"/>
          <p:cNvSpPr txBox="1"/>
          <p:nvPr/>
        </p:nvSpPr>
        <p:spPr>
          <a:xfrm>
            <a:off x="230400" y="5436000"/>
            <a:ext cx="6048000" cy="180000"/>
          </a:xfrm>
          <a:prstGeom prst="rect">
            <a:avLst/>
          </a:prstGeom>
          <a:noFill/>
        </p:spPr>
        <p:txBody>
          <a:bodyPr wrap="square" anchor="b" lIns="45720" tIns="22860" rIns="45720" bIns="22860">
            <a:noAutofit/>
          </a:bodyPr>
          <a:lstStyle/>
          <a:p>
            <a:pPr algn="l"/>
            <a:r>
              <a:rPr lang="en-US" sz="900" b="0" i="1" dirty="0">
                <a:solidFill>
                  <a:srgbClr val="888888"/>
                </a:solidFill>
                <a:latin typeface="Calibri"/>
              </a:rPr>
              <a:t>Nguồn: Source: VNF financial model sensitivity analysis</a:t>
            </a:r>
          </a:p>
        </p:txBody>
      </p:sp>
      <p:sp>
        <p:nvSpPr>
          <p:cNvPr id="10000703" name="TaglineBox"/>
          <p:cNvSpPr txBox="1"/>
          <p:nvPr/>
        </p:nvSpPr>
        <p:spPr>
          <a:xfrm>
            <a:off x="457200" y="5832000"/>
            <a:ext cx="8229600" cy="432000"/>
          </a:xfrm>
          <a:prstGeom prst="roundRect">
            <a:avLst>
              <a:gd name="adj" fmla="val 4500"/>
            </a:avLst>
          </a:prstGeom>
          <a:solidFill>
            <a:srgbClr val="D6F1FC"/>
          </a:solidFill>
        </p:spPr>
        <p:txBody>
          <a:bodyPr wrap="square" anchor="ctr" lIns="45720" tIns="22860" rIns="45720" bIns="22860">
            <a:noAutofit/>
          </a:bodyPr>
          <a:lstStyle/>
          <a:p>
            <a:pPr algn="l"/>
            <a:r>
              <a:rPr lang="en-US" sz="100" b="0" i="0" dirty="0">
                <a:solidFill>
                  <a:srgbClr val="002060"/>
                </a:solidFill>
                <a:latin typeface="Calibri"/>
              </a:rPr>
              <a:t/>
            </a:r>
          </a:p>
        </p:txBody>
      </p:sp>
      <p:sp>
        <p:nvSpPr>
          <p:cNvPr id="10000704" name="TaglineText"/>
          <p:cNvSpPr txBox="1"/>
          <p:nvPr/>
        </p:nvSpPr>
        <p:spPr>
          <a:xfrm>
            <a:off x="571200" y="5904000"/>
            <a:ext cx="8001600" cy="288000"/>
          </a:xfrm>
          <a:prstGeom prst="rect">
            <a:avLst/>
          </a:prstGeom>
          <a:noFill/>
        </p:spPr>
        <p:txBody>
          <a:bodyPr wrap="square" anchor="ctr" lIns="45720" tIns="22860" rIns="45720" bIns="22860">
            <a:noAutofit/>
          </a:bodyPr>
          <a:lstStyle/>
          <a:p>
            <a:pPr algn="l"/>
            <a:r>
              <a:rPr lang="en-US" sz="1300" b="1" i="0" dirty="0">
                <a:solidFill>
                  <a:srgbClr val="002060"/>
                </a:solidFill>
                <a:latin typeface="Calibri"/>
              </a:rPr>
              <a:t>Patent filing and scale-up validation are critical dependencies.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0801" name="ActionTitle"/>
          <p:cNvSpPr txBox="1"/>
          <p:nvPr/>
        </p:nvSpPr>
        <p:spPr>
          <a:xfrm>
            <a:off x="230400" y="0"/>
            <a:ext cx="8683200" cy="1080000"/>
          </a:xfrm>
          <a:prstGeom prst="rect">
            <a:avLst/>
          </a:prstGeom>
          <a:noFill/>
        </p:spPr>
        <p:txBody>
          <a:bodyPr wrap="square" anchor="ctr" lIns="45720" tIns="22860" rIns="45720" bIns="22860">
            <a:noAutofit/>
          </a:bodyPr>
          <a:lstStyle/>
          <a:p>
            <a:pPr algn="l"/>
            <a:r>
              <a:rPr lang="en-US" sz="2400" b="1" i="0" dirty="0">
                <a:solidFill>
                  <a:srgbClr val="002060"/>
                </a:solidFill>
                <a:latin typeface="Calibri"/>
              </a:rPr>
              <a:t>Shrimp-feed beachhead requires regulatory clarity</a:t>
            </a:r>
          </a:p>
        </p:txBody>
      </p:sp>
      <p:sp>
        <p:nvSpPr>
          <p:cNvPr id="801" name="QuadTL"/>
          <p:cNvSpPr/>
          <p:nvPr/>
        </p:nvSpPr>
        <p:spPr>
          <a:xfrm>
            <a:off x="1300000" y="1620000"/>
            <a:ext cx="3400000" cy="2100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02" name="QuadTR"/>
          <p:cNvSpPr/>
          <p:nvPr/>
        </p:nvSpPr>
        <p:spPr>
          <a:xfrm>
            <a:off x="4700000" y="1620000"/>
            <a:ext cx="3400000" cy="210000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03" name="QuadBL"/>
          <p:cNvSpPr/>
          <p:nvPr/>
        </p:nvSpPr>
        <p:spPr>
          <a:xfrm>
            <a:off x="1300000" y="3720000"/>
            <a:ext cx="3400000" cy="2100000"/>
          </a:xfrm>
          <a:prstGeom prst="rect">
            <a:avLst/>
          </a:prstGeom>
          <a:solidFill>
            <a:srgbClr val="FCE4E4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04" name="QuadBR"/>
          <p:cNvSpPr/>
          <p:nvPr/>
        </p:nvSpPr>
        <p:spPr>
          <a:xfrm>
            <a:off x="4700000" y="3720000"/>
            <a:ext cx="3400000" cy="2100000"/>
          </a:xfrm>
          <a:prstGeom prst="rect">
            <a:avLst/>
          </a:prstGeom>
          <a:solidFill>
            <a:srgbClr val="FFF4E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805" name="2x2Frame"/>
          <p:cNvSpPr/>
          <p:nvPr/>
        </p:nvSpPr>
        <p:spPr>
          <a:xfrm>
            <a:off x="1300000" y="1620000"/>
            <a:ext cx="6800000" cy="4200000"/>
          </a:xfrm>
          <a:prstGeom prst="rect">
            <a:avLst/>
          </a:prstGeom>
          <a:noFill/>
          <a:ln w="12700">
            <a:solidFill>
              <a:srgbClr val="888888"/>
            </a:solidFill>
          </a:ln>
        </p:spPr>
        <p:txBody>
          <a:bodyPr/>
          <a:lstStyle/>
          <a:p>
            <a:endParaRPr lang="en-US"/>
          </a:p>
        </p:txBody>
      </p:sp>
      <p:cxnSp>
        <p:nvCxnSpPr>
          <p:cNvPr id="806" name="VLine"/>
          <p:cNvCxnSpPr>
    </p:cNvCxnSpPr>
          <p:nvPr/>
        </p:nvCxnSpPr>
        <p:spPr>
          <a:xfrm>
            <a:off x="4700000" y="1620000"/>
            <a:ext cx="0" cy="4200000"/>
          </a:xfrm>
          <a:prstGeom prst="line">
            <a:avLst/>
          </a:prstGeom>
          <a:ln w="9525">
            <a:solidFill>
              <a:srgbClr val="D9D9D9"/>
            </a:solidFill>
          </a:ln>
        </p:spPr>
      </p:cxnSp>
      <p:cxnSp>
        <p:nvCxnSpPr>
          <p:cNvPr id="807" name="HLine"/>
          <p:cNvCxnSpPr>
    </p:cNvCxnSpPr>
          <p:nvPr/>
        </p:nvCxnSpPr>
        <p:spPr>
          <a:xfrm>
            <a:off x="1300000" y="3720000"/>
            <a:ext cx="6800000" cy="0"/>
          </a:xfrm>
          <a:prstGeom prst="line">
            <a:avLst/>
          </a:prstGeom>
          <a:ln w="9525">
            <a:solidFill>
              <a:srgbClr val="D9D9D9"/>
            </a:solidFill>
          </a:ln>
        </p:spPr>
      </p:cxnSp>
      <p:sp>
        <p:nvSpPr>
          <p:cNvPr id="808" name="QuadLbl1"/>
          <p:cNvSpPr txBox="1"/>
          <p:nvPr/>
        </p:nvSpPr>
        <p:spPr>
          <a:xfrm>
            <a:off x="1400000" y="1700000"/>
            <a:ext cx="3200000" cy="2520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/>
            <a:r>
              <a:rPr lang="en-US" sz="1000" b="1" spc="200" dirty="0">
                <a:solidFill>
                  <a:srgbClr val="595959"/>
                </a:solidFill>
                <a:latin typeface="Calibri"/>
              </a:rPr>
              <a:t>STARS</a:t>
            </a:r>
          </a:p>
        </p:txBody>
      </p:sp>
      <p:sp>
        <p:nvSpPr>
          <p:cNvPr id="809" name="QuadLbl2"/>
          <p:cNvSpPr txBox="1"/>
          <p:nvPr/>
        </p:nvSpPr>
        <p:spPr>
          <a:xfrm>
            <a:off x="4900000" y="1700000"/>
            <a:ext cx="3200000" cy="2520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/>
            <a:r>
              <a:rPr lang="en-US" sz="1000" b="1" spc="200" dirty="0">
                <a:solidFill>
                  <a:srgbClr val="595959"/>
                </a:solidFill>
                <a:latin typeface="Calibri"/>
              </a:rPr>
              <a:t>QUESTION MARKS</a:t>
            </a:r>
          </a:p>
        </p:txBody>
      </p:sp>
      <p:sp>
        <p:nvSpPr>
          <p:cNvPr id="810" name="QuadLbl3"/>
          <p:cNvSpPr txBox="1"/>
          <p:nvPr/>
        </p:nvSpPr>
        <p:spPr>
          <a:xfrm>
            <a:off x="1400000" y="3700000"/>
            <a:ext cx="3200000" cy="2520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/>
            <a:r>
              <a:rPr lang="en-US" sz="1000" b="1" spc="200" dirty="0">
                <a:solidFill>
                  <a:srgbClr val="595959"/>
                </a:solidFill>
                <a:latin typeface="Calibri"/>
              </a:rPr>
              <a:t>CASH COWS</a:t>
            </a:r>
          </a:p>
        </p:txBody>
      </p:sp>
      <p:sp>
        <p:nvSpPr>
          <p:cNvPr id="811" name="QuadLbl4"/>
          <p:cNvSpPr txBox="1"/>
          <p:nvPr/>
        </p:nvSpPr>
        <p:spPr>
          <a:xfrm>
            <a:off x="4900000" y="3700000"/>
            <a:ext cx="3200000" cy="2520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/>
            <a:r>
              <a:rPr lang="en-US" sz="1000" b="1" spc="200" dirty="0">
                <a:solidFill>
                  <a:srgbClr val="595959"/>
                </a:solidFill>
                <a:latin typeface="Calibri"/>
              </a:rPr>
              <a:t>DOGS</a:t>
            </a:r>
          </a:p>
        </p:txBody>
      </p:sp>
      <p:sp>
        <p:nvSpPr>
          <p:cNvPr id="812" name="Bubble1"/>
          <p:cNvSpPr/>
          <p:nvPr/>
        </p:nvSpPr>
        <p:spPr>
          <a:xfrm>
            <a:off x="6380000" y="2100000"/>
            <a:ext cx="720000" cy="720000"/>
          </a:xfrm>
          <a:prstGeom prst="ellipse">
            <a:avLst/>
          </a:prstGeom>
          <a:solidFill>
            <a:srgbClr val="0070C0">
              <a:alpha val="65000"/>
            </a:srgbClr>
          </a:solidFill>
          <a:ln w="12700">
            <a:solidFill>
              <a:srgbClr val="002060"/>
            </a:solidFill>
          </a:ln>
        </p:spPr>
        <p:txBody>
          <a:bodyPr wrap="square" anchor="ctr" lIns="22860" tIns="0" rIns="22860" bIns="0">
            <a:noAutofit/>
          </a:bodyPr>
          <a:lstStyle/>
          <a:p>
            <a:pPr algn="ctr"/>
            <a:r>
              <a:rPr lang="en-US" sz="1000" b="1" dirty="0">
                <a:solidFill>
                  <a:srgbClr val="FFFFFF"/>
                </a:solidFill>
                <a:latin typeface="Calibri"/>
              </a:rPr>
              <a:t>Shrimp-feed</a:t>
            </a:r>
          </a:p>
        </p:txBody>
      </p:sp>
      <p:sp>
        <p:nvSpPr>
          <p:cNvPr id="813" name="XAxisLabel"/>
          <p:cNvSpPr txBox="1"/>
          <p:nvPr/>
        </p:nvSpPr>
        <p:spPr>
          <a:xfrm>
            <a:off x="1300000" y="5940000"/>
            <a:ext cx="6800000" cy="2520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/>
            <a:r>
              <a:rPr lang="en-US" sz="1100" b="1" spc="200" dirty="0">
                <a:solidFill>
                  <a:srgbClr val="002060"/>
                </a:solidFill>
                <a:latin typeface="Calibri"/>
              </a:rPr>
              <a:t>REGULATORY CLARITY →</a:t>
            </a:r>
          </a:p>
        </p:txBody>
      </p:sp>
      <p:sp>
        <p:nvSpPr>
          <p:cNvPr id="814" name="YAxisLabel"/>
          <p:cNvSpPr txBox="1"/>
          <p:nvPr/>
        </p:nvSpPr>
        <p:spPr>
          <a:xfrm>
            <a:off x="230400" y="3060000"/>
            <a:ext cx="800000" cy="13200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/>
            <a:r>
              <a:rPr lang="en-US" sz="1100" b="1" spc="200" dirty="0">
                <a:solidFill>
                  <a:srgbClr val="002060"/>
                </a:solidFill>
                <a:latin typeface="Calibri"/>
              </a:rPr>
              <a:t>MARKET SHARE ↑</a:t>
            </a:r>
          </a:p>
        </p:txBody>
      </p:sp>
      <p:sp>
        <p:nvSpPr>
          <p:cNvPr id="10000802" name="SourceLine"/>
          <p:cNvSpPr txBox="1"/>
          <p:nvPr/>
        </p:nvSpPr>
        <p:spPr>
          <a:xfrm>
            <a:off x="230400" y="5436000"/>
            <a:ext cx="6048000" cy="180000"/>
          </a:xfrm>
          <a:prstGeom prst="rect">
            <a:avLst/>
          </a:prstGeom>
          <a:noFill/>
        </p:spPr>
        <p:txBody>
          <a:bodyPr wrap="square" anchor="b" lIns="45720" tIns="22860" rIns="45720" bIns="22860">
            <a:noAutofit/>
          </a:bodyPr>
          <a:lstStyle/>
          <a:p>
            <a:pPr algn="l"/>
            <a:r>
              <a:rPr lang="en-US" sz="900" b="0" i="1" dirty="0">
                <a:solidFill>
                  <a:srgbClr val="888888"/>
                </a:solidFill>
                <a:latin typeface="Calibri"/>
              </a:rPr>
              <a:t>Nguồn: Source: EU feed-additive regulatory analysis</a:t>
            </a:r>
          </a:p>
        </p:txBody>
      </p:sp>
      <p:sp>
        <p:nvSpPr>
          <p:cNvPr id="10000803" name="TaglineBox"/>
          <p:cNvSpPr txBox="1"/>
          <p:nvPr/>
        </p:nvSpPr>
        <p:spPr>
          <a:xfrm>
            <a:off x="457200" y="5832000"/>
            <a:ext cx="8229600" cy="432000"/>
          </a:xfrm>
          <a:prstGeom prst="roundRect">
            <a:avLst>
              <a:gd name="adj" fmla="val 4500"/>
            </a:avLst>
          </a:prstGeom>
          <a:solidFill>
            <a:srgbClr val="D6F1FC"/>
          </a:solidFill>
        </p:spPr>
        <p:txBody>
          <a:bodyPr wrap="square" anchor="ctr" lIns="45720" tIns="22860" rIns="45720" bIns="22860">
            <a:noAutofit/>
          </a:bodyPr>
          <a:lstStyle/>
          <a:p>
            <a:pPr algn="l"/>
            <a:r>
              <a:rPr lang="en-US" sz="100" b="0" i="0" dirty="0">
                <a:solidFill>
                  <a:srgbClr val="002060"/>
                </a:solidFill>
                <a:latin typeface="Calibri"/>
              </a:rPr>
              <a:t/>
            </a:r>
          </a:p>
        </p:txBody>
      </p:sp>
      <p:sp>
        <p:nvSpPr>
          <p:cNvPr id="10000804" name="TaglineText"/>
          <p:cNvSpPr txBox="1"/>
          <p:nvPr/>
        </p:nvSpPr>
        <p:spPr>
          <a:xfrm>
            <a:off x="571200" y="5904000"/>
            <a:ext cx="8001600" cy="288000"/>
          </a:xfrm>
          <a:prstGeom prst="rect">
            <a:avLst/>
          </a:prstGeom>
          <a:noFill/>
        </p:spPr>
        <p:txBody>
          <a:bodyPr wrap="square" anchor="ctr" lIns="45720" tIns="22860" rIns="45720" bIns="22860">
            <a:noAutofit/>
          </a:bodyPr>
          <a:lstStyle/>
          <a:p>
            <a:pPr algn="l"/>
            <a:r>
              <a:rPr lang="en-US" sz="1300" b="1" i="0" dirty="0">
                <a:solidFill>
                  <a:srgbClr val="002060"/>
                </a:solidFill>
                <a:latin typeface="Calibri"/>
              </a:rPr>
              <a:t>Engage with EU authorities to define nano-feed category.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0901" name="ActionTitle"/>
          <p:cNvSpPr txBox="1"/>
          <p:nvPr/>
        </p:nvSpPr>
        <p:spPr>
          <a:xfrm>
            <a:off x="230400" y="0"/>
            <a:ext cx="8683200" cy="1080000"/>
          </a:xfrm>
          <a:prstGeom prst="rect">
            <a:avLst/>
          </a:prstGeom>
          <a:noFill/>
        </p:spPr>
        <p:txBody>
          <a:bodyPr wrap="square" anchor="ctr" lIns="45720" tIns="22860" rIns="45720" bIns="22860">
            <a:noAutofit/>
          </a:bodyPr>
          <a:lstStyle/>
          <a:p>
            <a:pPr algn="l"/>
            <a:r>
              <a:rPr lang="en-US" sz="2400" b="1" i="0" dirty="0">
                <a:solidFill>
                  <a:srgbClr val="002060"/>
                </a:solidFill>
                <a:latin typeface="Calibri"/>
              </a:rPr>
              <a:t>Nano-Se reduces mortality but faces scale-up challenges</a:t>
            </a:r>
          </a:p>
        </p:txBody>
      </p:sp>
      <p:sp>
        <p:nvSpPr>
          <p:cNvPr id="901" name="Card1"/>
          <p:cNvSpPr/>
          <p:nvPr/>
        </p:nvSpPr>
        <p:spPr>
          <a:xfrm>
            <a:off x="457200" y="1651000"/>
            <a:ext cx="4038600" cy="3429000"/>
          </a:xfrm>
          <a:prstGeom prst="roundRect">
            <a:avLst>
              <a:gd name="adj" fmla="val 4500"/>
            </a:avLst>
          </a:prstGeom>
          <a:solidFill>
            <a:srgbClr val="F7F8FA"/>
          </a:solidFill>
          <a:ln w="12700">
            <a:solidFill>
              <a:srgbClr val="E5E7EB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902" name="Bar1"/>
          <p:cNvSpPr/>
          <p:nvPr/>
        </p:nvSpPr>
        <p:spPr>
          <a:xfrm>
            <a:off x="457200" y="1651000"/>
            <a:ext cx="4038600" cy="635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03" name="CardTxt1"/>
          <p:cNvSpPr txBox="1"/>
          <p:nvPr/>
        </p:nvSpPr>
        <p:spPr>
          <a:xfrm>
            <a:off x="660400" y="1879600"/>
            <a:ext cx="3632200" cy="3048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000" b="1" spc="200" dirty="0">
                <a:solidFill>
                  <a:srgbClr val="002060"/>
                </a:solidFill>
                <a:latin typeface="Calibri"/>
              </a:rPr>
              <a:t>MORTALITY REDUCTION</a:t>
            </a:r>
          </a:p>
          <a:p>
            <a:pPr algn="l">
              <a:spcBef>
                <a:spcPts val="600"/>
              </a:spcBef>
            </a:pPr>
            <a:r>
              <a:rPr lang="en-US" sz="3200" b="1" dirty="0">
                <a:solidFill>
                  <a:srgbClr val="002060"/>
                </a:solidFill>
                <a:latin typeface="Calibri"/>
              </a:rPr>
              <a:t>70% → 40.3%</a:t>
            </a:r>
          </a:p>
          <a:p>
            <a:pPr algn="l"/>
            <a:r>
              <a:rPr lang="en-US" sz="1000" b="1" spc="100" dirty="0">
                <a:solidFill>
                  <a:srgbClr val="595959"/>
                </a:solidFill>
                <a:latin typeface="Calibri"/>
              </a:rPr>
              <a:t>vs baseline</a:t>
            </a:r>
          </a:p>
          <a:p>
            <a:pPr algn="l">
              <a:spcBef>
                <a:spcPts val="800"/>
              </a:spcBef>
              <a:buNone/>
            </a:pPr>
            <a:endParaRPr lang="en-US" sz="400"/>
          </a:p>
          <a:p>
            <a:pPr marL="171450" indent="-171450">
              <a:spcBef>
                <a:spcPts val="600"/>
              </a:spcBef>
              <a:buClr>
                <a:srgbClr val="002060"/>
              </a:buClr>
              <a:buFont typeface="Arial"/>
              <a:buChar char="•"/>
            </a:pPr>
            <a:r>
              <a:rPr lang="en-US" sz="1100" dirty="0">
                <a:solidFill>
                  <a:srgbClr val="2C2C2C"/>
                </a:solidFill>
                <a:latin typeface="Calibri"/>
              </a:rPr>
              <a:t>Nano-Se reduces mortality</a:t>
            </a:r>
          </a:p>
          <a:p>
            <a:pPr marL="171450" indent="-171450">
              <a:spcBef>
                <a:spcPts val="600"/>
              </a:spcBef>
              <a:buClr>
                <a:srgbClr val="002060"/>
              </a:buClr>
              <a:buFont typeface="Arial"/>
              <a:buChar char="•"/>
            </a:pPr>
            <a:r>
              <a:rPr lang="en-US" sz="1100" dirty="0">
                <a:solidFill>
                  <a:srgbClr val="2C2C2C"/>
                </a:solidFill>
                <a:latin typeface="Calibri"/>
              </a:rPr>
              <a:t>VNF lab trials 2025</a:t>
            </a:r>
          </a:p>
        </p:txBody>
      </p:sp>
      <p:sp>
        <p:nvSpPr>
          <p:cNvPr id="904" name="Card2"/>
          <p:cNvSpPr/>
          <p:nvPr/>
        </p:nvSpPr>
        <p:spPr>
          <a:xfrm>
            <a:off x="4648200" y="1651000"/>
            <a:ext cx="4038600" cy="3429000"/>
          </a:xfrm>
          <a:prstGeom prst="roundRect">
            <a:avLst>
              <a:gd name="adj" fmla="val 4500"/>
            </a:avLst>
          </a:prstGeom>
          <a:solidFill>
            <a:srgbClr val="F7F8FA"/>
          </a:solidFill>
          <a:ln w="12700">
            <a:solidFill>
              <a:srgbClr val="E5E7EB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905" name="Bar2"/>
          <p:cNvSpPr/>
          <p:nvPr/>
        </p:nvSpPr>
        <p:spPr>
          <a:xfrm>
            <a:off x="4648200" y="1651000"/>
            <a:ext cx="4038600" cy="635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906" name="CardTxt2"/>
          <p:cNvSpPr txBox="1"/>
          <p:nvPr/>
        </p:nvSpPr>
        <p:spPr>
          <a:xfrm>
            <a:off x="4851400" y="1879600"/>
            <a:ext cx="3632200" cy="30480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en-US" sz="1000" b="1" spc="200" dirty="0">
                <a:solidFill>
                  <a:srgbClr val="0070C0"/>
                </a:solidFill>
                <a:latin typeface="Calibri"/>
              </a:rPr>
              <a:t>SCALE-UP CHALLENGES</a:t>
            </a:r>
          </a:p>
          <a:p>
            <a:pPr algn="l">
              <a:spcBef>
                <a:spcPts val="600"/>
              </a:spcBef>
            </a:pPr>
            <a:r>
              <a:rPr lang="en-US" sz="3200" b="1" dirty="0">
                <a:solidFill>
                  <a:srgbClr val="002060"/>
                </a:solidFill>
                <a:latin typeface="Calibri"/>
              </a:rPr>
              <a:t>Unresolved</a:t>
            </a:r>
          </a:p>
          <a:p>
            <a:pPr algn="l"/>
            <a:r>
              <a:rPr lang="en-US" sz="1000" b="1" spc="100" dirty="0">
                <a:solidFill>
                  <a:srgbClr val="595959"/>
                </a:solidFill>
                <a:latin typeface="Calibri"/>
              </a:rPr>
              <a:t>Nano-aggregation</a:t>
            </a:r>
          </a:p>
          <a:p>
            <a:pPr algn="l">
              <a:spcBef>
                <a:spcPts val="800"/>
              </a:spcBef>
              <a:buNone/>
            </a:pPr>
            <a:endParaRPr lang="en-US" sz="400"/>
          </a:p>
          <a:p>
            <a:pPr marL="171450" indent="-171450">
              <a:spcBef>
                <a:spcPts val="600"/>
              </a:spcBef>
              <a:buClr>
                <a:srgbClr val="0070C0"/>
              </a:buClr>
              <a:buFont typeface="Arial"/>
              <a:buChar char="•"/>
            </a:pPr>
            <a:r>
              <a:rPr lang="en-US" sz="1100" dirty="0">
                <a:solidFill>
                  <a:srgbClr val="2C2C2C"/>
                </a:solidFill>
                <a:latin typeface="Calibri"/>
              </a:rPr>
              <a:t>Dose windows remain unresolved</a:t>
            </a:r>
          </a:p>
          <a:p>
            <a:pPr marL="171450" indent="-171450">
              <a:spcBef>
                <a:spcPts val="600"/>
              </a:spcBef>
              <a:buClr>
                <a:srgbClr val="0070C0"/>
              </a:buClr>
              <a:buFont typeface="Arial"/>
              <a:buChar char="•"/>
            </a:pPr>
            <a:r>
              <a:rPr lang="en-US" sz="1100" dirty="0">
                <a:solidFill>
                  <a:srgbClr val="2C2C2C"/>
                </a:solidFill>
                <a:latin typeface="Calibri"/>
              </a:rPr>
              <a:t>Invest in nano-stabilization</a:t>
            </a:r>
          </a:p>
        </p:txBody>
      </p:sp>
      <p:sp>
        <p:nvSpPr>
          <p:cNvPr id="10000902" name="SourceLine"/>
          <p:cNvSpPr txBox="1"/>
          <p:nvPr/>
        </p:nvSpPr>
        <p:spPr>
          <a:xfrm>
            <a:off x="230400" y="5436000"/>
            <a:ext cx="6048000" cy="180000"/>
          </a:xfrm>
          <a:prstGeom prst="rect">
            <a:avLst/>
          </a:prstGeom>
          <a:noFill/>
        </p:spPr>
        <p:txBody>
          <a:bodyPr wrap="square" anchor="b" lIns="45720" tIns="22860" rIns="45720" bIns="22860">
            <a:noAutofit/>
          </a:bodyPr>
          <a:lstStyle/>
          <a:p>
            <a:pPr algn="l"/>
            <a:r>
              <a:rPr lang="en-US" sz="900" b="0" i="1" dirty="0">
                <a:solidFill>
                  <a:srgbClr val="888888"/>
                </a:solidFill>
                <a:latin typeface="Calibri"/>
              </a:rPr>
              <a:t>Nguồn: Source: VNF lab trials 2025</a:t>
            </a:r>
          </a:p>
        </p:txBody>
      </p:sp>
      <p:sp>
        <p:nvSpPr>
          <p:cNvPr id="10000903" name="TaglineBox"/>
          <p:cNvSpPr txBox="1"/>
          <p:nvPr/>
        </p:nvSpPr>
        <p:spPr>
          <a:xfrm>
            <a:off x="457200" y="5832000"/>
            <a:ext cx="8229600" cy="432000"/>
          </a:xfrm>
          <a:prstGeom prst="roundRect">
            <a:avLst>
              <a:gd name="adj" fmla="val 4500"/>
            </a:avLst>
          </a:prstGeom>
          <a:solidFill>
            <a:srgbClr val="D6F1FC"/>
          </a:solidFill>
        </p:spPr>
        <p:txBody>
          <a:bodyPr wrap="square" anchor="ctr" lIns="45720" tIns="22860" rIns="45720" bIns="22860">
            <a:noAutofit/>
          </a:bodyPr>
          <a:lstStyle/>
          <a:p>
            <a:pPr algn="l"/>
            <a:r>
              <a:rPr lang="en-US" sz="100" b="0" i="0" dirty="0">
                <a:solidFill>
                  <a:srgbClr val="002060"/>
                </a:solidFill>
                <a:latin typeface="Calibri"/>
              </a:rPr>
              <a:t/>
            </a:r>
          </a:p>
        </p:txBody>
      </p:sp>
      <p:sp>
        <p:nvSpPr>
          <p:cNvPr id="10000904" name="TaglineText"/>
          <p:cNvSpPr txBox="1"/>
          <p:nvPr/>
        </p:nvSpPr>
        <p:spPr>
          <a:xfrm>
            <a:off x="571200" y="5904000"/>
            <a:ext cx="8001600" cy="288000"/>
          </a:xfrm>
          <a:prstGeom prst="rect">
            <a:avLst/>
          </a:prstGeom>
          <a:noFill/>
        </p:spPr>
        <p:txBody>
          <a:bodyPr wrap="square" anchor="ctr" lIns="45720" tIns="22860" rIns="45720" bIns="22860">
            <a:noAutofit/>
          </a:bodyPr>
          <a:lstStyle/>
          <a:p>
            <a:pPr algn="l"/>
            <a:r>
              <a:rPr lang="en-US" sz="1300" b="1" i="0" dirty="0">
                <a:solidFill>
                  <a:srgbClr val="002060"/>
                </a:solidFill>
                <a:latin typeface="Calibri"/>
              </a:rPr>
              <a:t>Invest in nano-stabilization to unlock bioefficacy benefits.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1" name="ActionTitle"/>
          <p:cNvSpPr txBox="1"/>
          <p:nvPr/>
        </p:nvSpPr>
        <p:spPr>
          <a:xfrm>
            <a:off x="230400" y="0"/>
            <a:ext cx="8683200" cy="10800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/>
            <a:r>
              <a:rPr lang="en-US" sz="2400" b="1" dirty="0">
                <a:solidFill>
                  <a:srgbClr val="002060"/>
                </a:solidFill>
                <a:latin typeface="Calibri"/>
              </a:rPr>
              <a:t>Chiến lược hai đường: Chelate ngay, Nano-mineral sau</a:t>
            </a:r>
          </a:p>
        </p:txBody>
      </p:sp>
      <p:sp>
        <p:nvSpPr>
          <p:cNvPr id="1002" name="Pillar1"/>
          <p:cNvSpPr/>
          <p:nvPr/>
        </p:nvSpPr>
        <p:spPr>
          <a:xfrm>
            <a:off x="457200" y="1224000"/>
            <a:ext cx="2641600" cy="41760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003" name="PillarBadge1"/>
          <p:cNvSpPr/>
          <p:nvPr/>
        </p:nvSpPr>
        <p:spPr>
          <a:xfrm>
            <a:off x="660400" y="1368000"/>
            <a:ext cx="432000" cy="432000"/>
          </a:xfrm>
          <a:prstGeom prst="ellipse">
            <a:avLst/>
          </a:prstGeom>
          <a:solidFill>
            <a:srgbClr val="002060"/>
          </a:solidFill>
          <a:ln w="9525">
            <a:solidFill>
              <a:srgbClr val="002060"/>
            </a:solidFill>
          </a:ln>
        </p:spPr>
        <p:txBody>
          <a:bodyPr wrap="square" anchor="ctr" lIns="0" tIns="0" rIns="0" bIns="0">
            <a:noAutofit/>
          </a:bodyPr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04" name="PillarText1"/>
          <p:cNvSpPr txBox="1"/>
          <p:nvPr/>
        </p:nvSpPr>
        <p:spPr>
          <a:xfrm>
            <a:off x="660400" y="1908000"/>
            <a:ext cx="2235200" cy="3348000"/>
          </a:xfrm>
          <a:prstGeom prst="rect">
            <a:avLst/>
          </a:prstGeom>
          <a:noFill/>
        </p:spPr>
        <p:txBody>
          <a:bodyPr wrap="square" anchor="t" lIns="45720" tIns="22860" rIns="45720" bIns="22860">
            <a:noAutofit/>
          </a:bodyPr>
          <a:lstStyle/>
          <a:p>
            <a:pPr algn="l"/>
            <a:r>
              <a:rPr lang="en-US" sz="1400" b="1" dirty="0">
                <a:solidFill>
                  <a:srgbClr val="002060"/>
                </a:solidFill>
                <a:latin typeface="Calibri"/>
              </a:rPr>
              <a:t>Chế biến Chelate</a:t>
            </a:r>
          </a:p>
          <a:p>
            <a:pPr marL="171450" indent="-171450">
              <a:spcBef>
                <a:spcPts val="300"/>
              </a:spcBef>
              <a:buClr>
                <a:srgbClr val="595959"/>
              </a:buClr>
              <a:buFont typeface="Arial"/>
              <a:buChar char="•"/>
            </a:pPr>
            <a:r>
              <a:rPr lang="en-US" sz="1100" dirty="0">
                <a:solidFill>
                  <a:srgbClr val="2C2C2C"/>
                </a:solidFill>
                <a:latin typeface="Calibri"/>
              </a:rPr>
              <a:t>Tối ưu hóa sản xuất</a:t>
            </a:r>
          </a:p>
          <a:p>
            <a:pPr marL="171450" indent="-171450">
              <a:spcBef>
                <a:spcPts val="300"/>
              </a:spcBef>
              <a:buClr>
                <a:srgbClr val="595959"/>
              </a:buClr>
              <a:buFont typeface="Arial"/>
              <a:buChar char="•"/>
            </a:pPr>
            <a:r>
              <a:rPr lang="en-US" sz="1100" dirty="0">
                <a:solidFill>
                  <a:srgbClr val="2C2C2C"/>
                </a:solidFill>
                <a:latin typeface="Calibri"/>
              </a:rPr>
              <a:t>Tăng cường phân phối</a:t>
            </a:r>
          </a:p>
        </p:txBody>
      </p:sp>
      <p:sp>
        <p:nvSpPr>
          <p:cNvPr id="1005" name="Pillar2"/>
          <p:cNvSpPr/>
          <p:nvPr/>
        </p:nvSpPr>
        <p:spPr>
          <a:xfrm>
            <a:off x="3327400" y="1224000"/>
            <a:ext cx="2641600" cy="41760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006" name="PillarBadge2"/>
          <p:cNvSpPr/>
          <p:nvPr/>
        </p:nvSpPr>
        <p:spPr>
          <a:xfrm>
            <a:off x="3530600" y="1368000"/>
            <a:ext cx="432000" cy="432000"/>
          </a:xfrm>
          <a:prstGeom prst="ellipse">
            <a:avLst/>
          </a:prstGeom>
          <a:solidFill>
            <a:srgbClr val="002060"/>
          </a:solidFill>
          <a:ln w="9525">
            <a:solidFill>
              <a:srgbClr val="002060"/>
            </a:solidFill>
          </a:ln>
        </p:spPr>
        <p:txBody>
          <a:bodyPr wrap="square" anchor="ctr" lIns="0" tIns="0" rIns="0" bIns="0">
            <a:noAutofit/>
          </a:bodyPr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007" name="PillarText2"/>
          <p:cNvSpPr txBox="1"/>
          <p:nvPr/>
        </p:nvSpPr>
        <p:spPr>
          <a:xfrm>
            <a:off x="3530600" y="1908000"/>
            <a:ext cx="2235200" cy="3348000"/>
          </a:xfrm>
          <a:prstGeom prst="rect">
            <a:avLst/>
          </a:prstGeom>
          <a:noFill/>
        </p:spPr>
        <p:txBody>
          <a:bodyPr wrap="square" anchor="t" lIns="45720" tIns="22860" rIns="45720" bIns="22860">
            <a:noAutofit/>
          </a:bodyPr>
          <a:lstStyle/>
          <a:p>
            <a:pPr algn="l"/>
            <a:r>
              <a:rPr lang="en-US" sz="1400" b="1" dirty="0">
                <a:solidFill>
                  <a:srgbClr val="002060"/>
                </a:solidFill>
                <a:latin typeface="Calibri"/>
              </a:rPr>
              <a:t>Nghiên cứu Nano-mineral</a:t>
            </a:r>
          </a:p>
          <a:p>
            <a:pPr marL="171450" indent="-171450">
              <a:spcBef>
                <a:spcPts val="300"/>
              </a:spcBef>
              <a:buClr>
                <a:srgbClr val="595959"/>
              </a:buClr>
              <a:buFont typeface="Arial"/>
              <a:buChar char="•"/>
            </a:pPr>
            <a:r>
              <a:rPr lang="en-US" sz="1100" dirty="0">
                <a:solidFill>
                  <a:srgbClr val="2C2C2C"/>
                </a:solidFill>
                <a:latin typeface="Calibri"/>
              </a:rPr>
              <a:t>Xây dựng pipeline sản phẩm</a:t>
            </a:r>
          </a:p>
          <a:p>
            <a:pPr marL="171450" indent="-171450">
              <a:spcBef>
                <a:spcPts val="300"/>
              </a:spcBef>
              <a:buClr>
                <a:srgbClr val="595959"/>
              </a:buClr>
              <a:buFont typeface="Arial"/>
              <a:buChar char="•"/>
            </a:pPr>
            <a:r>
              <a:rPr lang="en-US" sz="1100" dirty="0">
                <a:solidFill>
                  <a:srgbClr val="2C2C2C"/>
                </a:solidFill>
                <a:latin typeface="Calibri"/>
              </a:rPr>
              <a:t>Đầu tư R&amp;D dài hạn</a:t>
            </a:r>
          </a:p>
        </p:txBody>
      </p:sp>
      <p:sp>
        <p:nvSpPr>
          <p:cNvPr id="1008" name="Pillar3"/>
          <p:cNvSpPr/>
          <p:nvPr/>
        </p:nvSpPr>
        <p:spPr>
          <a:xfrm>
            <a:off x="6197600" y="1224000"/>
            <a:ext cx="2641600" cy="41760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009" name="PillarBadge3"/>
          <p:cNvSpPr/>
          <p:nvPr/>
        </p:nvSpPr>
        <p:spPr>
          <a:xfrm>
            <a:off x="6400800" y="1368000"/>
            <a:ext cx="432000" cy="432000"/>
          </a:xfrm>
          <a:prstGeom prst="ellipse">
            <a:avLst/>
          </a:prstGeom>
          <a:solidFill>
            <a:srgbClr val="002060"/>
          </a:solidFill>
          <a:ln w="9525">
            <a:solidFill>
              <a:srgbClr val="002060"/>
            </a:solidFill>
          </a:ln>
        </p:spPr>
        <p:txBody>
          <a:bodyPr wrap="square" anchor="ctr" lIns="0" tIns="0" rIns="0" bIns="0">
            <a:noAutofit/>
          </a:bodyPr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010" name="PillarText3"/>
          <p:cNvSpPr txBox="1"/>
          <p:nvPr/>
        </p:nvSpPr>
        <p:spPr>
          <a:xfrm>
            <a:off x="6400800" y="1908000"/>
            <a:ext cx="2235200" cy="3348000"/>
          </a:xfrm>
          <a:prstGeom prst="rect">
            <a:avLst/>
          </a:prstGeom>
          <a:noFill/>
        </p:spPr>
        <p:txBody>
          <a:bodyPr wrap="square" anchor="t" lIns="45720" tIns="22860" rIns="45720" bIns="22860">
            <a:noAutofit/>
          </a:bodyPr>
          <a:lstStyle/>
          <a:p>
            <a:pPr algn="l"/>
            <a:r>
              <a:rPr lang="en-US" sz="1400" b="1" dirty="0">
                <a:solidFill>
                  <a:srgbClr val="002060"/>
                </a:solidFill>
                <a:latin typeface="Calibri"/>
              </a:rPr>
              <a:t>Đối tác &amp; Pháp chế</a:t>
            </a:r>
          </a:p>
          <a:p>
            <a:pPr marL="171450" indent="-171450">
              <a:spcBef>
                <a:spcPts val="300"/>
              </a:spcBef>
              <a:buClr>
                <a:srgbClr val="595959"/>
              </a:buClr>
              <a:buFont typeface="Arial"/>
              <a:buChar char="•"/>
            </a:pPr>
            <a:r>
              <a:rPr lang="en-US" sz="1100" dirty="0">
                <a:solidFill>
                  <a:srgbClr val="2C2C2C"/>
                </a:solidFill>
                <a:latin typeface="Calibri"/>
              </a:rPr>
              <a:t>Tìm kiếm đối tác chiến lược</a:t>
            </a:r>
          </a:p>
          <a:p>
            <a:pPr marL="171450" indent="-171450">
              <a:spcBef>
                <a:spcPts val="300"/>
              </a:spcBef>
              <a:buClr>
                <a:srgbClr val="595959"/>
              </a:buClr>
              <a:buFont typeface="Arial"/>
              <a:buChar char="•"/>
            </a:pPr>
            <a:r>
              <a:rPr lang="en-US" sz="1100" dirty="0">
                <a:solidFill>
                  <a:srgbClr val="2C2C2C"/>
                </a:solidFill>
                <a:latin typeface="Calibri"/>
              </a:rPr>
              <a:t>Đàm phán quy định</a:t>
            </a:r>
          </a:p>
        </p:txBody>
      </p:sp>
      <p:sp>
        <p:nvSpPr>
          <p:cNvPr id="1011" name="TaglineBox"/>
          <p:cNvSpPr txBox="1"/>
          <p:nvPr/>
        </p:nvSpPr>
        <p:spPr>
          <a:xfrm>
            <a:off x="457200" y="5832000"/>
            <a:ext cx="8229600" cy="432000"/>
          </a:xfrm>
          <a:prstGeom prst="roundRect">
            <a:avLst>
              <a:gd name="adj" fmla="val 4500"/>
            </a:avLst>
          </a:prstGeom>
          <a:solidFill>
            <a:srgbClr val="D6F1FC"/>
          </a:solidFill>
        </p:spPr>
        <p:txBody>
          <a:bodyPr wrap="square" anchor="ctr" lIns="45720" tIns="22860" rIns="45720" bIns="22860">
            <a:noAutofit/>
          </a:bodyPr>
          <a:lstStyle/>
          <a:p>
            <a:pPr algn="l"/>
            <a:r>
              <a:rPr lang="en-US" sz="100" b="0" i="0" dirty="0">
                <a:solidFill>
                  <a:srgbClr val="002060"/>
                </a:solidFill>
                <a:latin typeface="Calibri"/>
              </a:rPr>
              <a:t/>
            </a:r>
          </a:p>
        </p:txBody>
      </p:sp>
      <p:sp>
        <p:nvSpPr>
          <p:cNvPr id="1012" name="TaglineText"/>
          <p:cNvSpPr txBox="1"/>
          <p:nvPr/>
        </p:nvSpPr>
        <p:spPr>
          <a:xfrm>
            <a:off x="571200" y="5904000"/>
            <a:ext cx="8001600" cy="2880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/>
            <a:r>
              <a:rPr lang="en-US" sz="1300" b="1" dirty="0">
                <a:solidFill>
                  <a:srgbClr val="002060"/>
                </a:solidFill>
                <a:latin typeface="Calibri"/>
              </a:rPr>
              <a:t>Kết luận: </a:t>
            </a:r>
            <a:r>
              <a:rPr lang="en-US" sz="1300" b="1" dirty="0">
                <a:solidFill>
                  <a:srgbClr val="002060"/>
                </a:solidFill>
                <a:latin typeface="Calibri"/>
              </a:rPr>
              <a:t>Tối đa hóa dòng tiền hiện tại trong khi xây dựng nền tảng Nano-mineral dài hạn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1101" name="ActionTitle"/>
          <p:cNvSpPr txBox="1"/>
          <p:nvPr/>
        </p:nvSpPr>
        <p:spPr>
          <a:xfrm>
            <a:off x="230400" y="0"/>
            <a:ext cx="8683200" cy="1080000"/>
          </a:xfrm>
          <a:prstGeom prst="rect">
            <a:avLst/>
          </a:prstGeom>
          <a:noFill/>
        </p:spPr>
        <p:txBody>
          <a:bodyPr wrap="square" anchor="ctr" lIns="45720" tIns="22860" rIns="45720" bIns="22860">
            <a:noAutofit/>
          </a:bodyPr>
          <a:lstStyle/>
          <a:p>
            <a:pPr algn="l"/>
            <a:r>
              <a:rPr lang="en-US" sz="2400" b="1" i="0" dirty="0">
                <a:solidFill>
                  <a:srgbClr val="002060"/>
                </a:solidFill>
                <a:latin typeface="Calibri"/>
              </a:rPr>
              <a:t>Nano-mineral risks stem from three root causes</a:t>
            </a:r>
          </a:p>
        </p:txBody>
      </p:sp>
      <p:sp>
        <p:nvSpPr>
          <p:cNvPr id="1101" name="DriverRoot"/>
          <p:cNvSpPr/>
          <p:nvPr/>
        </p:nvSpPr>
        <p:spPr>
          <a:xfrm>
            <a:off x="457200" y="3060000"/>
            <a:ext cx="1900000" cy="720000"/>
          </a:xfrm>
          <a:prstGeom prst="roundRect">
            <a:avLst>
              <a:gd name="adj" fmla="val 6000"/>
            </a:avLst>
          </a:prstGeom>
          <a:solidFill>
            <a:srgbClr val="002060"/>
          </a:solidFill>
          <a:ln w="9525">
            <a:solidFill>
              <a:srgbClr val="002060"/>
            </a:solidFill>
          </a:ln>
        </p:spPr>
        <p:txBody>
          <a:bodyPr wrap="square" anchor="ctr" lIns="68580" tIns="22860" rIns="68580" bIns="22860">
            <a:normAutofit fontScale="100000" lnSpcReduction="0"/>
          </a:bodyPr>
          <a:lstStyle/>
          <a:p>
            <a:pPr algn="ctr"/>
            <a:r>
              <a:rPr lang="en-US" sz="1000" dirty="0">
                <a:solidFill>
                  <a:srgbClr val="FFFFFF"/>
                </a:solidFill>
                <a:latin typeface="Calibri"/>
              </a:rPr>
              <a:t>Nano-mineral risks</a:t>
            </a:r>
          </a:p>
          <a:p>
            <a:pPr algn="ctr"/>
            <a:r>
              <a:rPr lang="en-US" sz="1400" b="1" dirty="0">
                <a:solidFill>
                  <a:srgbClr val="FFFFFF"/>
                </a:solidFill>
                <a:latin typeface="Calibri"/>
              </a:rPr>
              <a:t>3 root causes</a:t>
            </a:r>
          </a:p>
        </p:txBody>
      </p:sp>
      <p:sp>
        <p:nvSpPr>
          <p:cNvPr id="1102" name="DriverL2_1"/>
          <p:cNvSpPr/>
          <p:nvPr/>
        </p:nvSpPr>
        <p:spPr>
          <a:xfrm>
            <a:off x="2900000" y="1620000"/>
            <a:ext cx="1900000" cy="720000"/>
          </a:xfrm>
          <a:prstGeom prst="roundRect">
            <a:avLst>
              <a:gd name="adj" fmla="val 6000"/>
            </a:avLst>
          </a:prstGeom>
          <a:solidFill>
            <a:srgbClr val="0070C0"/>
          </a:solidFill>
          <a:ln w="9525">
            <a:solidFill>
              <a:srgbClr val="0070C0"/>
            </a:solidFill>
          </a:ln>
        </p:spPr>
        <p:txBody>
          <a:bodyPr wrap="square" anchor="ctr" lIns="68580" tIns="22860" rIns="68580" bIns="22860">
            <a:normAutofit fontScale="100000" lnSpcReduction="0"/>
          </a:bodyPr>
          <a:lstStyle/>
          <a:p>
            <a:pPr algn="ctr"/>
            <a:r>
              <a:rPr lang="en-US" sz="1000" dirty="0">
                <a:solidFill>
                  <a:srgbClr val="FFFFFF"/>
                </a:solidFill>
                <a:latin typeface="Calibri"/>
              </a:rPr>
              <a:t>Scale-up</a:t>
            </a:r>
          </a:p>
          <a:p>
            <a:pPr algn="ctr"/>
            <a:r>
              <a:rPr lang="en-US" sz="1400" b="1" dirty="0">
                <a:solidFill>
                  <a:srgbClr val="FFFFFF"/>
                </a:solidFill>
                <a:latin typeface="Calibri"/>
              </a:rPr>
              <a:t>Production</a:t>
            </a:r>
          </a:p>
        </p:txBody>
      </p:sp>
      <p:sp>
        <p:nvSpPr>
          <p:cNvPr id="1103" name="DriverL3_1_1"/>
          <p:cNvSpPr/>
          <p:nvPr/>
        </p:nvSpPr>
        <p:spPr>
          <a:xfrm>
            <a:off x="5300000" y="1386000"/>
            <a:ext cx="1900000" cy="54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002060"/>
            </a:solidFill>
          </a:ln>
        </p:spPr>
        <p:txBody>
          <a:bodyPr wrap="square" anchor="ctr" lIns="68580" tIns="22860" rIns="68580" bIns="22860">
            <a:normAutofit fontScale="100000" lnSpcReduction="0"/>
          </a:bodyPr>
          <a:lstStyle/>
          <a:p>
            <a:pPr algn="ctr"/>
            <a:r>
              <a:rPr lang="en-US" sz="1000" dirty="0">
                <a:solidFill>
                  <a:srgbClr val="2C2C2C"/>
                </a:solidFill>
                <a:latin typeface="Calibri"/>
              </a:rPr>
              <a:t>Bioefficacy failure</a:t>
            </a:r>
          </a:p>
          <a:p>
            <a:pPr algn="ctr"/>
            <a:r>
              <a:rPr lang="en-US" sz="1400" b="1" dirty="0">
                <a:solidFill>
                  <a:srgbClr val="2C2C2C"/>
                </a:solidFill>
                <a:latin typeface="Calibri"/>
              </a:rPr>
              <a:t>Performance</a:t>
            </a:r>
          </a:p>
        </p:txBody>
      </p:sp>
      <p:sp>
        <p:nvSpPr>
          <p:cNvPr id="1104" name="DriverL3_1_2"/>
          <p:cNvSpPr/>
          <p:nvPr/>
        </p:nvSpPr>
        <p:spPr>
          <a:xfrm>
            <a:off x="5300000" y="2034000"/>
            <a:ext cx="1900000" cy="54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002060"/>
            </a:solidFill>
          </a:ln>
        </p:spPr>
        <p:txBody>
          <a:bodyPr wrap="square" anchor="ctr" lIns="68580" tIns="22860" rIns="68580" bIns="22860">
            <a:normAutofit fontScale="100000" lnSpcReduction="0"/>
          </a:bodyPr>
          <a:lstStyle/>
          <a:p>
            <a:pPr algn="ctr"/>
            <a:r>
              <a:rPr lang="en-US" sz="1000" dirty="0">
                <a:solidFill>
                  <a:srgbClr val="2C2C2C"/>
                </a:solidFill>
                <a:latin typeface="Calibri"/>
              </a:rPr>
              <a:t>Regulatory tightening</a:t>
            </a:r>
          </a:p>
          <a:p>
            <a:pPr algn="ctr"/>
            <a:r>
              <a:rPr lang="en-US" sz="1400" b="1" dirty="0">
                <a:solidFill>
                  <a:srgbClr val="2C2C2C"/>
                </a:solidFill>
                <a:latin typeface="Calibri"/>
              </a:rPr>
              <a:t>Compliance</a:t>
            </a:r>
          </a:p>
        </p:txBody>
      </p:sp>
      <p:sp>
        <p:nvSpPr>
          <p:cNvPr id="1108" name="DriverL2_2"/>
          <p:cNvSpPr/>
          <p:nvPr/>
        </p:nvSpPr>
        <p:spPr>
          <a:xfrm>
            <a:off x="2900000" y="3060000"/>
            <a:ext cx="1900000" cy="720000"/>
          </a:xfrm>
          <a:prstGeom prst="roundRect">
            <a:avLst>
              <a:gd name="adj" fmla="val 6000"/>
            </a:avLst>
          </a:prstGeom>
          <a:solidFill>
            <a:srgbClr val="0070C0"/>
          </a:solidFill>
          <a:ln w="9525">
            <a:solidFill>
              <a:srgbClr val="0070C0"/>
            </a:solidFill>
          </a:ln>
        </p:spPr>
        <p:txBody>
          <a:bodyPr wrap="square" anchor="ctr" lIns="68580" tIns="22860" rIns="68580" bIns="22860">
            <a:normAutofit fontScale="100000" lnSpcReduction="0"/>
          </a:bodyPr>
          <a:lstStyle/>
          <a:p>
            <a:pPr algn="ctr"/>
            <a:r>
              <a:rPr lang="en-US" sz="1000" dirty="0">
                <a:solidFill>
                  <a:srgbClr val="FFFFFF"/>
                </a:solidFill>
                <a:latin typeface="Calibri"/>
              </a:rPr>
              <a:t>Regulation</a:t>
            </a:r>
          </a:p>
          <a:p>
            <a:pPr algn="ctr"/>
            <a:r>
              <a:rPr lang="en-US" sz="1400" b="1" dirty="0">
                <a:solidFill>
                  <a:srgbClr val="FFFFFF"/>
                </a:solidFill>
                <a:latin typeface="Calibri"/>
              </a:rPr>
              <a:t>Policy gaps</a:t>
            </a:r>
          </a:p>
        </p:txBody>
      </p:sp>
      <p:sp>
        <p:nvSpPr>
          <p:cNvPr id="1109" name="DriverL3_2_1"/>
          <p:cNvSpPr/>
          <p:nvPr/>
        </p:nvSpPr>
        <p:spPr>
          <a:xfrm>
            <a:off x="5300000" y="2826000"/>
            <a:ext cx="1900000" cy="54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002060"/>
            </a:solidFill>
          </a:ln>
        </p:spPr>
        <p:txBody>
          <a:bodyPr wrap="square" anchor="ctr" lIns="68580" tIns="22860" rIns="68580" bIns="22860">
            <a:normAutofit fontScale="100000" lnSpcReduction="0"/>
          </a:bodyPr>
          <a:lstStyle/>
          <a:p>
            <a:pPr algn="ctr"/>
            <a:r>
              <a:rPr lang="en-US" sz="1000" dirty="0">
                <a:solidFill>
                  <a:srgbClr val="2C2C2C"/>
                </a:solidFill>
                <a:latin typeface="Calibri"/>
              </a:rPr>
              <a:t>NPV erosion</a:t>
            </a:r>
          </a:p>
          <a:p>
            <a:pPr algn="ctr"/>
            <a:r>
              <a:rPr lang="en-US" sz="1400" b="1" dirty="0">
                <a:solidFill>
                  <a:srgbClr val="2C2C2C"/>
                </a:solidFill>
                <a:latin typeface="Calibri"/>
              </a:rPr>
              <a:t>Financial</a:t>
            </a:r>
          </a:p>
        </p:txBody>
      </p:sp>
      <p:sp>
        <p:nvSpPr>
          <p:cNvPr id="1110" name="DriverL3_2_2"/>
          <p:cNvSpPr/>
          <p:nvPr/>
        </p:nvSpPr>
        <p:spPr>
          <a:xfrm>
            <a:off x="5300000" y="3474000"/>
            <a:ext cx="1900000" cy="540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002060"/>
            </a:solidFill>
          </a:ln>
        </p:spPr>
        <p:txBody>
          <a:bodyPr wrap="square" anchor="ctr" lIns="68580" tIns="22860" rIns="68580" bIns="22860">
            <a:normAutofit fontScale="100000" lnSpcReduction="0"/>
          </a:bodyPr>
          <a:lstStyle/>
          <a:p>
            <a:pPr algn="ctr"/>
            <a:r>
              <a:rPr lang="en-US" sz="1000" dirty="0">
                <a:solidFill>
                  <a:srgbClr val="2C2C2C"/>
                </a:solidFill>
                <a:latin typeface="Calibri"/>
              </a:rPr>
              <a:t>Market access</a:t>
            </a:r>
          </a:p>
          <a:p>
            <a:pPr algn="ctr"/>
            <a:r>
              <a:rPr lang="en-US" sz="1400" b="1" dirty="0">
                <a:solidFill>
                  <a:srgbClr val="2C2C2C"/>
                </a:solidFill>
                <a:latin typeface="Calibri"/>
              </a:rPr>
              <a:t>Barriers</a:t>
            </a:r>
          </a:p>
        </p:txBody>
      </p:sp>
      <p:cxnSp>
        <p:nvCxnSpPr>
          <p:cNvPr id="1105" name="BranchRoot_1"/>
          <p:cNvCxnSpPr>
            <a:stCxn id="1101" idx="1"/>
            <a:endCxn id="1102" idx="3"/>
          </p:cNvCxnSpPr>
          <p:nvPr/>
        </p:nvCxnSpPr>
        <p:spPr>
          <a:xfrm flipV="1">
            <a:off x="2357200" y="1980000"/>
            <a:ext cx="542800" cy="1440000"/>
          </a:xfrm>
          <a:prstGeom prst="bentConnector3">
            <a:avLst/>
          </a:prstGeom>
          <a:ln w="9525">
            <a:solidFill>
              <a:srgbClr val="888888"/>
            </a:solidFill>
          </a:ln>
        </p:spPr>
      </p:cxnSp>
      <p:cxnSp>
        <p:nvCxnSpPr>
          <p:cNvPr id="1106" name="BranchL2_1_1"/>
          <p:cNvCxnSpPr>
            <a:stCxn id="1102" idx="1"/>
            <a:endCxn id="1103" idx="3"/>
          </p:cNvCxnSpPr>
          <p:nvPr/>
        </p:nvCxnSpPr>
        <p:spPr>
          <a:xfrm flipV="1">
            <a:off x="4800000" y="1656000"/>
            <a:ext cx="500000" cy="324000"/>
          </a:xfrm>
          <a:prstGeom prst="bentConnector3">
            <a:avLst/>
          </a:prstGeom>
          <a:ln w="9525">
            <a:solidFill>
              <a:srgbClr val="888888"/>
            </a:solidFill>
          </a:ln>
        </p:spPr>
      </p:cxnSp>
      <p:cxnSp>
        <p:nvCxnSpPr>
          <p:cNvPr id="1107" name="BranchL2_1_2"/>
          <p:cNvCxnSpPr>
            <a:stCxn id="1102" idx="1"/>
            <a:endCxn id="1104" idx="3"/>
          </p:cNvCxnSpPr>
          <p:nvPr/>
        </p:nvCxnSpPr>
        <p:spPr>
          <a:xfrm>
            <a:off x="4800000" y="1980000"/>
            <a:ext cx="500000" cy="324000"/>
          </a:xfrm>
          <a:prstGeom prst="bentConnector3">
            <a:avLst/>
          </a:prstGeom>
          <a:ln w="9525">
            <a:solidFill>
              <a:srgbClr val="888888"/>
            </a:solidFill>
          </a:ln>
        </p:spPr>
      </p:cxnSp>
      <p:cxnSp>
        <p:nvCxnSpPr>
          <p:cNvPr id="1111" name="BranchRoot_2"/>
          <p:cNvCxnSpPr>
            <a:stCxn id="1101" idx="1"/>
            <a:endCxn id="1108" idx="3"/>
          </p:cNvCxnSpPr>
          <p:nvPr/>
        </p:nvCxnSpPr>
        <p:spPr>
          <a:xfrm>
            <a:off x="2357200" y="3420000"/>
            <a:ext cx="542800" cy="0"/>
          </a:xfrm>
          <a:prstGeom prst="bentConnector3">
            <a:avLst/>
          </a:prstGeom>
          <a:ln w="9525">
            <a:solidFill>
              <a:srgbClr val="888888"/>
            </a:solidFill>
          </a:ln>
        </p:spPr>
      </p:cxnSp>
      <p:cxnSp>
        <p:nvCxnSpPr>
          <p:cNvPr id="1112" name="BranchL2_2_1"/>
          <p:cNvCxnSpPr>
            <a:stCxn id="1108" idx="1"/>
            <a:endCxn id="1109" idx="3"/>
          </p:cNvCxnSpPr>
          <p:nvPr/>
        </p:nvCxnSpPr>
        <p:spPr>
          <a:xfrm flipV="1">
            <a:off x="4800000" y="3096000"/>
            <a:ext cx="500000" cy="324000"/>
          </a:xfrm>
          <a:prstGeom prst="bentConnector3">
            <a:avLst/>
          </a:prstGeom>
          <a:ln w="9525">
            <a:solidFill>
              <a:srgbClr val="888888"/>
            </a:solidFill>
          </a:ln>
        </p:spPr>
      </p:cxnSp>
      <p:cxnSp>
        <p:nvCxnSpPr>
          <p:cNvPr id="1113" name="BranchL2_2_2"/>
          <p:cNvCxnSpPr>
            <a:stCxn id="1108" idx="1"/>
            <a:endCxn id="1110" idx="3"/>
          </p:cNvCxnSpPr>
          <p:nvPr/>
        </p:nvCxnSpPr>
        <p:spPr>
          <a:xfrm>
            <a:off x="4800000" y="3420000"/>
            <a:ext cx="500000" cy="324000"/>
          </a:xfrm>
          <a:prstGeom prst="bentConnector3">
            <a:avLst/>
          </a:prstGeom>
          <a:ln w="9525">
            <a:solidFill>
              <a:srgbClr val="888888"/>
            </a:solidFill>
          </a:ln>
        </p:spPr>
      </p:cxnSp>
      <p:sp>
        <p:nvSpPr>
          <p:cNvPr id="10001102" name="SourceLine"/>
          <p:cNvSpPr txBox="1"/>
          <p:nvPr/>
        </p:nvSpPr>
        <p:spPr>
          <a:xfrm>
            <a:off x="230400" y="5436000"/>
            <a:ext cx="6048000" cy="180000"/>
          </a:xfrm>
          <a:prstGeom prst="rect">
            <a:avLst/>
          </a:prstGeom>
          <a:noFill/>
        </p:spPr>
        <p:txBody>
          <a:bodyPr wrap="square" anchor="b" lIns="45720" tIns="22860" rIns="45720" bIns="22860">
            <a:noAutofit/>
          </a:bodyPr>
          <a:lstStyle/>
          <a:p>
            <a:pPr algn="l"/>
            <a:r>
              <a:rPr lang="en-US" sz="900" b="0" i="1" dirty="0">
                <a:solidFill>
                  <a:srgbClr val="888888"/>
                </a:solidFill>
                <a:latin typeface="Calibri"/>
              </a:rPr>
              <a:t>Nguồn: Source: VNF risk decomposition 2025</a:t>
            </a:r>
          </a:p>
        </p:txBody>
      </p:sp>
      <p:sp>
        <p:nvSpPr>
          <p:cNvPr id="10001103" name="TaglineBox"/>
          <p:cNvSpPr txBox="1"/>
          <p:nvPr/>
        </p:nvSpPr>
        <p:spPr>
          <a:xfrm>
            <a:off x="457200" y="5832000"/>
            <a:ext cx="8229600" cy="432000"/>
          </a:xfrm>
          <a:prstGeom prst="roundRect">
            <a:avLst>
              <a:gd name="adj" fmla="val 4500"/>
            </a:avLst>
          </a:prstGeom>
          <a:solidFill>
            <a:srgbClr val="D6F1FC"/>
          </a:solidFill>
        </p:spPr>
        <p:txBody>
          <a:bodyPr wrap="square" anchor="ctr" lIns="45720" tIns="22860" rIns="45720" bIns="22860">
            <a:noAutofit/>
          </a:bodyPr>
          <a:lstStyle/>
          <a:p>
            <a:pPr algn="l"/>
            <a:r>
              <a:rPr lang="en-US" sz="100" b="0" i="0" dirty="0">
                <a:solidFill>
                  <a:srgbClr val="002060"/>
                </a:solidFill>
                <a:latin typeface="Calibri"/>
              </a:rPr>
              <a:t/>
            </a:r>
          </a:p>
        </p:txBody>
      </p:sp>
      <p:sp>
        <p:nvSpPr>
          <p:cNvPr id="10001104" name="TaglineText"/>
          <p:cNvSpPr txBox="1"/>
          <p:nvPr/>
        </p:nvSpPr>
        <p:spPr>
          <a:xfrm>
            <a:off x="571200" y="5904000"/>
            <a:ext cx="8001600" cy="288000"/>
          </a:xfrm>
          <a:prstGeom prst="rect">
            <a:avLst/>
          </a:prstGeom>
          <a:noFill/>
        </p:spPr>
        <p:txBody>
          <a:bodyPr wrap="square" anchor="ctr" lIns="45720" tIns="22860" rIns="45720" bIns="22860">
            <a:noAutofit/>
          </a:bodyPr>
          <a:lstStyle/>
          <a:p>
            <a:pPr algn="l"/>
            <a:r>
              <a:rPr lang="en-US" sz="1300" b="1" i="0" dirty="0">
                <a:solidFill>
                  <a:srgbClr val="002060"/>
                </a:solidFill>
                <a:latin typeface="Calibri"/>
              </a:rPr>
              <a:t>Address scale-up, bioefficacy, and regulatory gaps systematically.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1201" name="ActionTitle"/>
          <p:cNvSpPr txBox="1"/>
          <p:nvPr/>
        </p:nvSpPr>
        <p:spPr>
          <a:xfrm>
            <a:off x="230400" y="0"/>
            <a:ext cx="8683200" cy="1080000"/>
          </a:xfrm>
          <a:prstGeom prst="rect">
            <a:avLst/>
          </a:prstGeom>
          <a:noFill/>
        </p:spPr>
        <p:txBody>
          <a:bodyPr wrap="square" anchor="ctr" lIns="45720" tIns="22860" rIns="45720" bIns="22860">
            <a:noAutofit/>
          </a:bodyPr>
          <a:lstStyle/>
          <a:p>
            <a:pPr algn="l"/>
            <a:r>
              <a:rPr lang="en-US" sz="2400" b="1" i="0" dirty="0">
                <a:solidFill>
                  <a:srgbClr val="002060"/>
                </a:solidFill>
                <a:latin typeface="Calibri"/>
              </a:rPr>
              <a:t>Feed-mill partnerships are critical for scale-up</a:t>
            </a:r>
          </a:p>
        </p:txBody>
      </p:sp>
      <p:sp>
        <p:nvSpPr>
          <p:cNvPr id="1201" name="RadarRing1"/>
          <p:cNvSpPr/>
          <p:nvPr/>
        </p:nvSpPr>
        <p:spPr>
          <a:xfrm>
            <a:off x="3240000" y="3360000"/>
            <a:ext cx="720000" cy="720000"/>
          </a:xfrm>
          <a:custGeom>
            <a:avLst/>
            <a:gdLst/>
            <a:ahLst/>
            <a:cxnLst/>
            <a:rect l="0" t="0" r="720000" b="720000"/>
            <a:pathLst>
              <a:path w="720000" h="720000">
                <a:moveTo>
                  <a:pt x="360000" y="0"/>
                </a:moveTo>
                <a:lnTo>
                  <a:pt x="720000" y="360000"/>
                </a:lnTo>
                <a:lnTo>
                  <a:pt x="360000" y="720000"/>
                </a:lnTo>
                <a:lnTo>
                  <a:pt x="0" y="360000"/>
                </a:lnTo>
                <a:close/>
              </a:path>
            </a:pathLst>
          </a:custGeom>
          <a:noFill/>
          <a:ln w="6350">
            <a:solidFill>
              <a:srgbClr val="D9D9D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202" name="RadarRing2"/>
          <p:cNvSpPr/>
          <p:nvPr/>
        </p:nvSpPr>
        <p:spPr>
          <a:xfrm>
            <a:off x="2880000" y="3000000"/>
            <a:ext cx="1440000" cy="1440000"/>
          </a:xfrm>
          <a:custGeom>
            <a:avLst/>
            <a:gdLst/>
            <a:ahLst/>
            <a:cxnLst/>
            <a:rect l="0" t="0" r="1440000" b="1440000"/>
            <a:pathLst>
              <a:path w="1440000" h="1440000">
                <a:moveTo>
                  <a:pt x="720000" y="0"/>
                </a:moveTo>
                <a:lnTo>
                  <a:pt x="1440000" y="720000"/>
                </a:lnTo>
                <a:lnTo>
                  <a:pt x="720000" y="1440000"/>
                </a:lnTo>
                <a:lnTo>
                  <a:pt x="0" y="720000"/>
                </a:lnTo>
                <a:close/>
              </a:path>
            </a:pathLst>
          </a:custGeom>
          <a:noFill/>
          <a:ln w="6350">
            <a:solidFill>
              <a:srgbClr val="D9D9D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203" name="RadarRing3"/>
          <p:cNvSpPr/>
          <p:nvPr/>
        </p:nvSpPr>
        <p:spPr>
          <a:xfrm>
            <a:off x="2520000" y="2640000"/>
            <a:ext cx="2160000" cy="2160000"/>
          </a:xfrm>
          <a:custGeom>
            <a:avLst/>
            <a:gdLst/>
            <a:ahLst/>
            <a:cxnLst/>
            <a:rect l="0" t="0" r="2160000" b="2160000"/>
            <a:pathLst>
              <a:path w="2160000" h="2160000">
                <a:moveTo>
                  <a:pt x="1080000" y="0"/>
                </a:moveTo>
                <a:lnTo>
                  <a:pt x="2160000" y="1080000"/>
                </a:lnTo>
                <a:lnTo>
                  <a:pt x="1080000" y="2160000"/>
                </a:lnTo>
                <a:lnTo>
                  <a:pt x="0" y="1080000"/>
                </a:lnTo>
                <a:close/>
              </a:path>
            </a:pathLst>
          </a:custGeom>
          <a:noFill/>
          <a:ln w="6350">
            <a:solidFill>
              <a:srgbClr val="D9D9D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204" name="RadarRing4"/>
          <p:cNvSpPr/>
          <p:nvPr/>
        </p:nvSpPr>
        <p:spPr>
          <a:xfrm>
            <a:off x="2160000" y="2280000"/>
            <a:ext cx="2880000" cy="2880000"/>
          </a:xfrm>
          <a:custGeom>
            <a:avLst/>
            <a:gdLst/>
            <a:ahLst/>
            <a:cxnLst/>
            <a:rect l="0" t="0" r="2880000" b="2880000"/>
            <a:pathLst>
              <a:path w="2880000" h="2880000">
                <a:moveTo>
                  <a:pt x="1440000" y="0"/>
                </a:moveTo>
                <a:lnTo>
                  <a:pt x="2880000" y="1440000"/>
                </a:lnTo>
                <a:lnTo>
                  <a:pt x="1440000" y="2880000"/>
                </a:lnTo>
                <a:lnTo>
                  <a:pt x="0" y="1440000"/>
                </a:lnTo>
                <a:close/>
              </a:path>
            </a:pathLst>
          </a:custGeom>
          <a:noFill/>
          <a:ln w="6350">
            <a:solidFill>
              <a:srgbClr val="D9D9D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205" name="RadarRing5"/>
          <p:cNvSpPr/>
          <p:nvPr/>
        </p:nvSpPr>
        <p:spPr>
          <a:xfrm>
            <a:off x="1800000" y="1920000"/>
            <a:ext cx="3600000" cy="3600000"/>
          </a:xfrm>
          <a:custGeom>
            <a:avLst/>
            <a:gdLst/>
            <a:ahLst/>
            <a:cxnLst/>
            <a:rect l="0" t="0" r="3600000" b="3600000"/>
            <a:pathLst>
              <a:path w="3600000" h="3600000">
                <a:moveTo>
                  <a:pt x="1800000" y="0"/>
                </a:moveTo>
                <a:lnTo>
                  <a:pt x="3600000" y="1800000"/>
                </a:lnTo>
                <a:lnTo>
                  <a:pt x="1800000" y="3600000"/>
                </a:lnTo>
                <a:lnTo>
                  <a:pt x="0" y="1800000"/>
                </a:lnTo>
                <a:close/>
              </a:path>
            </a:pathLst>
          </a:custGeom>
          <a:noFill/>
          <a:ln w="6350">
            <a:solidFill>
              <a:srgbClr val="D9D9D9"/>
            </a:solidFill>
          </a:ln>
        </p:spPr>
        <p:txBody>
          <a:bodyPr/>
          <a:lstStyle/>
          <a:p>
            <a:endParaRPr lang="en-US"/>
          </a:p>
        </p:txBody>
      </p:sp>
      <p:cxnSp>
        <p:nvCxnSpPr>
          <p:cNvPr id="1206" name="RadarSpoke1"/>
          <p:cNvCxnSpPr>
    </p:cNvCxnSpPr>
          <p:nvPr/>
        </p:nvCxnSpPr>
        <p:spPr>
          <a:xfrm flipV="1">
            <a:off x="3600000" y="1920000"/>
            <a:ext cx="0" cy="1800000"/>
          </a:xfrm>
          <a:prstGeom prst="line">
            <a:avLst/>
          </a:prstGeom>
          <a:ln w="6350">
            <a:solidFill>
              <a:srgbClr val="D9D9D9"/>
            </a:solidFill>
          </a:ln>
        </p:spPr>
      </p:cxnSp>
      <p:cxnSp>
        <p:nvCxnSpPr>
          <p:cNvPr id="1207" name="RadarSpoke2"/>
          <p:cNvCxnSpPr>
    </p:cNvCxnSpPr>
          <p:nvPr/>
        </p:nvCxnSpPr>
        <p:spPr>
          <a:xfrm>
            <a:off x="3600000" y="3720000"/>
            <a:ext cx="1800000" cy="0"/>
          </a:xfrm>
          <a:prstGeom prst="line">
            <a:avLst/>
          </a:prstGeom>
          <a:ln w="6350">
            <a:solidFill>
              <a:srgbClr val="D9D9D9"/>
            </a:solidFill>
          </a:ln>
        </p:spPr>
      </p:cxnSp>
      <p:cxnSp>
        <p:nvCxnSpPr>
          <p:cNvPr id="1208" name="RadarSpoke3"/>
          <p:cNvCxnSpPr>
    </p:cNvCxnSpPr>
          <p:nvPr/>
        </p:nvCxnSpPr>
        <p:spPr>
          <a:xfrm>
            <a:off x="3600000" y="3720000"/>
            <a:ext cx="0" cy="1800000"/>
          </a:xfrm>
          <a:prstGeom prst="line">
            <a:avLst/>
          </a:prstGeom>
          <a:ln w="6350">
            <a:solidFill>
              <a:srgbClr val="D9D9D9"/>
            </a:solidFill>
          </a:ln>
        </p:spPr>
      </p:cxnSp>
      <p:cxnSp>
        <p:nvCxnSpPr>
          <p:cNvPr id="1209" name="RadarSpoke4"/>
          <p:cNvCxnSpPr>
    </p:cNvCxnSpPr>
          <p:nvPr/>
        </p:nvCxnSpPr>
        <p:spPr>
          <a:xfrm flipH="1">
            <a:off x="1800000" y="3720000"/>
            <a:ext cx="1800000" cy="0"/>
          </a:xfrm>
          <a:prstGeom prst="line">
            <a:avLst/>
          </a:prstGeom>
          <a:ln w="6350">
            <a:solidFill>
              <a:srgbClr val="D9D9D9"/>
            </a:solidFill>
          </a:ln>
        </p:spPr>
      </p:cxnSp>
      <p:sp>
        <p:nvSpPr>
          <p:cNvPr id="1210" name="RadarTarget"/>
          <p:cNvSpPr/>
          <p:nvPr/>
        </p:nvSpPr>
        <p:spPr>
          <a:xfrm>
            <a:off x="3600000" y="3720000"/>
            <a:ext cx="1" cy="1"/>
          </a:xfrm>
          <a:custGeom>
            <a:avLst/>
            <a:gdLst/>
            <a:ahLst/>
            <a:cxnLst/>
            <a:rect l="0" t="0" r="1" b="1"/>
            <a:pathLst>
              <a:path w="1" h="1"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noFill/>
          <a:ln w="19050">
            <a:solidFill>
              <a:srgbClr val="953735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211" name="RadarCurrent"/>
          <p:cNvSpPr/>
          <p:nvPr/>
        </p:nvSpPr>
        <p:spPr>
          <a:xfrm>
            <a:off x="3600000" y="3720000"/>
            <a:ext cx="1" cy="1"/>
          </a:xfrm>
          <a:custGeom>
            <a:avLst/>
            <a:gdLst/>
            <a:ahLst/>
            <a:cxnLst/>
            <a:rect l="0" t="0" r="1" b="1"/>
            <a:pathLst>
              <a:path w="1" h="1">
                <a:moveTo>
                  <a:pt x="0" y="0"/>
                </a:moveTo>
                <a:lnTo>
                  <a:pt x="0" y="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rgbClr val="D6F1FC">
              <a:alpha val="40000"/>
            </a:srgbClr>
          </a:solidFill>
          <a:ln w="12700">
            <a:solidFill>
              <a:srgbClr val="0070C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212" name="RadarAxisLbl1"/>
          <p:cNvSpPr txBox="1"/>
          <p:nvPr/>
        </p:nvSpPr>
        <p:spPr>
          <a:xfrm>
            <a:off x="3200000" y="1560000"/>
            <a:ext cx="800000" cy="2400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/>
            <a:r>
              <a:rPr lang="en-US" sz="1000" b="1" dirty="0">
                <a:solidFill>
                  <a:srgbClr val="002060"/>
                </a:solidFill>
                <a:latin typeface="Calibri"/>
              </a:rPr>
              <a:t>Capacity</a:t>
            </a:r>
          </a:p>
        </p:txBody>
      </p:sp>
      <p:sp>
        <p:nvSpPr>
          <p:cNvPr id="1213" name="RadarAxisLbl2"/>
          <p:cNvSpPr txBox="1"/>
          <p:nvPr/>
        </p:nvSpPr>
        <p:spPr>
          <a:xfrm>
            <a:off x="5240000" y="3600000"/>
            <a:ext cx="800000" cy="2400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/>
            <a:r>
              <a:rPr lang="en-US" sz="1000" b="1" dirty="0">
                <a:solidFill>
                  <a:srgbClr val="002060"/>
                </a:solidFill>
                <a:latin typeface="Calibri"/>
              </a:rPr>
              <a:t>Demand</a:t>
            </a:r>
          </a:p>
        </p:txBody>
      </p:sp>
      <p:sp>
        <p:nvSpPr>
          <p:cNvPr id="1214" name="RadarAxisLbl3"/>
          <p:cNvSpPr txBox="1"/>
          <p:nvPr/>
        </p:nvSpPr>
        <p:spPr>
          <a:xfrm>
            <a:off x="3200000" y="5640000"/>
            <a:ext cx="800000" cy="2400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/>
            <a:r>
              <a:rPr lang="en-US" sz="1000" b="1" dirty="0">
                <a:solidFill>
                  <a:srgbClr val="002060"/>
                </a:solidFill>
                <a:latin typeface="Calibri"/>
              </a:rPr>
              <a:t>Technology</a:t>
            </a:r>
          </a:p>
        </p:txBody>
      </p:sp>
      <p:sp>
        <p:nvSpPr>
          <p:cNvPr id="1215" name="RadarAxisLbl4"/>
          <p:cNvSpPr txBox="1"/>
          <p:nvPr/>
        </p:nvSpPr>
        <p:spPr>
          <a:xfrm>
            <a:off x="1160000" y="3600000"/>
            <a:ext cx="800000" cy="2400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/>
            <a:r>
              <a:rPr lang="en-US" sz="1000" b="1" dirty="0">
                <a:solidFill>
                  <a:srgbClr val="002060"/>
                </a:solidFill>
                <a:latin typeface="Calibri"/>
              </a:rPr>
              <a:t>Regulatory</a:t>
            </a:r>
          </a:p>
        </p:txBody>
      </p:sp>
      <p:sp>
        <p:nvSpPr>
          <p:cNvPr id="1216" name="LegSwCur"/>
          <p:cNvSpPr/>
          <p:nvPr/>
        </p:nvSpPr>
        <p:spPr>
          <a:xfrm>
            <a:off x="6000000" y="2160000"/>
            <a:ext cx="360000" cy="180000"/>
          </a:xfrm>
          <a:prstGeom prst="rect">
            <a:avLst/>
          </a:prstGeom>
          <a:solidFill>
            <a:srgbClr val="D6F1FC"/>
          </a:solidFill>
          <a:ln w="12700">
            <a:solidFill>
              <a:srgbClr val="0070C0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218" name="LegTxtCur"/>
          <p:cNvSpPr txBox="1"/>
          <p:nvPr/>
        </p:nvSpPr>
        <p:spPr>
          <a:xfrm>
            <a:off x="6457200" y="2160000"/>
            <a:ext cx="1900000" cy="180000"/>
          </a:xfrm>
          <a:prstGeom prst="rect">
            <a:avLst/>
          </a:prstGeom>
          <a:noFill/>
        </p:spPr>
        <p:txBody>
          <a:bodyPr wrap="square" anchor="ctr" lIns="0" tIns="0" rIns="0" bIns="0"/>
          <a:lstStyle/>
          <a:p>
            <a:pPr algn="l"/>
            <a:r>
              <a:rPr lang="en-US" sz="1100" dirty="0">
                <a:solidFill>
                  <a:srgbClr val="2C2C2C"/>
                </a:solidFill>
                <a:latin typeface="Calibri"/>
              </a:rPr>
              <a:t>Hiện tại (current)</a:t>
            </a:r>
          </a:p>
        </p:txBody>
      </p:sp>
      <p:sp>
        <p:nvSpPr>
          <p:cNvPr id="1217" name="LegSwTgt"/>
          <p:cNvSpPr/>
          <p:nvPr/>
        </p:nvSpPr>
        <p:spPr>
          <a:xfrm>
            <a:off x="6000000" y="2460000"/>
            <a:ext cx="360000" cy="180000"/>
          </a:xfrm>
          <a:prstGeom prst="rect">
            <a:avLst/>
          </a:prstGeom>
          <a:noFill/>
          <a:ln w="19050">
            <a:solidFill>
              <a:srgbClr val="953735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219" name="LegTxtTgt"/>
          <p:cNvSpPr txBox="1"/>
          <p:nvPr/>
        </p:nvSpPr>
        <p:spPr>
          <a:xfrm>
            <a:off x="6457200" y="2460000"/>
            <a:ext cx="1900000" cy="180000"/>
          </a:xfrm>
          <a:prstGeom prst="rect">
            <a:avLst/>
          </a:prstGeom>
          <a:noFill/>
        </p:spPr>
        <p:txBody>
          <a:bodyPr wrap="square" anchor="ctr" lIns="0" tIns="0" rIns="0" bIns="0"/>
          <a:lstStyle/>
          <a:p>
            <a:pPr algn="l"/>
            <a:r>
              <a:rPr lang="en-US" sz="1100" dirty="0">
                <a:solidFill>
                  <a:srgbClr val="2C2C2C"/>
                </a:solidFill>
                <a:latin typeface="Calibri"/>
              </a:rPr>
              <a:t>Mục tiêu (target)</a:t>
            </a:r>
          </a:p>
        </p:txBody>
      </p:sp>
      <p:sp>
        <p:nvSpPr>
          <p:cNvPr id="1220" name="RadarBullets"/>
          <p:cNvSpPr txBox="1"/>
          <p:nvPr/>
        </p:nvSpPr>
        <p:spPr>
          <a:xfrm>
            <a:off x="6000000" y="4200000"/>
            <a:ext cx="2400000" cy="162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171450" indent="-171450">
              <a:spcBef>
                <a:spcPts val="600"/>
              </a:spcBef>
              <a:buClr>
                <a:srgbClr val="0070C0"/>
              </a:buClr>
              <a:buFont typeface="Arial"/>
              <a:buChar char="•"/>
            </a:pPr>
            <a:r>
              <a:rPr lang="en-US" sz="1100" dirty="0">
                <a:solidFill>
                  <a:srgbClr val="2C2C2C"/>
                </a:solidFill>
                <a:latin typeface="Calibri"/>
              </a:rPr>
              <a:t>Sign 3-5 anchor accounts to validate commercial demand</a:t>
            </a:r>
          </a:p>
        </p:txBody>
      </p:sp>
      <p:sp>
        <p:nvSpPr>
          <p:cNvPr id="10001202" name="SourceLine"/>
          <p:cNvSpPr txBox="1"/>
          <p:nvPr/>
        </p:nvSpPr>
        <p:spPr>
          <a:xfrm>
            <a:off x="230400" y="5436000"/>
            <a:ext cx="6048000" cy="180000"/>
          </a:xfrm>
          <a:prstGeom prst="rect">
            <a:avLst/>
          </a:prstGeom>
          <a:noFill/>
        </p:spPr>
        <p:txBody>
          <a:bodyPr wrap="square" anchor="b" lIns="45720" tIns="22860" rIns="45720" bIns="22860">
            <a:noAutofit/>
          </a:bodyPr>
          <a:lstStyle/>
          <a:p>
            <a:pPr algn="l"/>
            <a:r>
              <a:rPr lang="en-US" sz="900" b="0" i="1" dirty="0">
                <a:solidFill>
                  <a:srgbClr val="888888"/>
                </a:solidFill>
                <a:latin typeface="Calibri"/>
              </a:rPr>
              <a:t>Nguồn: Source: VNF supply chain analysis</a:t>
            </a:r>
          </a:p>
        </p:txBody>
      </p:sp>
      <p:sp>
        <p:nvSpPr>
          <p:cNvPr id="10001203" name="TaglineBox"/>
          <p:cNvSpPr txBox="1"/>
          <p:nvPr/>
        </p:nvSpPr>
        <p:spPr>
          <a:xfrm>
            <a:off x="457200" y="5832000"/>
            <a:ext cx="8229600" cy="432000"/>
          </a:xfrm>
          <a:prstGeom prst="roundRect">
            <a:avLst>
              <a:gd name="adj" fmla="val 4500"/>
            </a:avLst>
          </a:prstGeom>
          <a:solidFill>
            <a:srgbClr val="D6F1FC"/>
          </a:solidFill>
        </p:spPr>
        <p:txBody>
          <a:bodyPr wrap="square" anchor="ctr" lIns="45720" tIns="22860" rIns="45720" bIns="22860">
            <a:noAutofit/>
          </a:bodyPr>
          <a:lstStyle/>
          <a:p>
            <a:pPr algn="l"/>
            <a:r>
              <a:rPr lang="en-US" sz="100" b="0" i="0" dirty="0">
                <a:solidFill>
                  <a:srgbClr val="002060"/>
                </a:solidFill>
                <a:latin typeface="Calibri"/>
              </a:rPr>
              <a:t/>
            </a:r>
          </a:p>
        </p:txBody>
      </p:sp>
      <p:sp>
        <p:nvSpPr>
          <p:cNvPr id="10001204" name="TaglineText"/>
          <p:cNvSpPr txBox="1"/>
          <p:nvPr/>
        </p:nvSpPr>
        <p:spPr>
          <a:xfrm>
            <a:off x="571200" y="5904000"/>
            <a:ext cx="8001600" cy="288000"/>
          </a:xfrm>
          <a:prstGeom prst="rect">
            <a:avLst/>
          </a:prstGeom>
          <a:noFill/>
        </p:spPr>
        <p:txBody>
          <a:bodyPr wrap="square" anchor="ctr" lIns="45720" tIns="22860" rIns="45720" bIns="22860">
            <a:noAutofit/>
          </a:bodyPr>
          <a:lstStyle/>
          <a:p>
            <a:pPr algn="l"/>
            <a:r>
              <a:rPr lang="en-US" sz="1300" b="1" i="0" dirty="0">
                <a:solidFill>
                  <a:srgbClr val="002060"/>
                </a:solidFill>
                <a:latin typeface="Calibri"/>
              </a:rPr>
              <a:t>Sign 3-5 anchor accounts to validate commercial demand.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1301" name="ActionTitle"/>
          <p:cNvSpPr txBox="1"/>
          <p:nvPr/>
        </p:nvSpPr>
        <p:spPr>
          <a:xfrm>
            <a:off x="230400" y="0"/>
            <a:ext cx="8683200" cy="1080000"/>
          </a:xfrm>
          <a:prstGeom prst="rect">
            <a:avLst/>
          </a:prstGeom>
          <a:noFill/>
        </p:spPr>
        <p:txBody>
          <a:bodyPr wrap="square" anchor="ctr" lIns="45720" tIns="22860" rIns="45720" bIns="22860">
            <a:noAutofit/>
          </a:bodyPr>
          <a:lstStyle/>
          <a:p>
            <a:pPr algn="l"/>
            <a:r>
              <a:rPr lang="en-US" sz="2400" b="1" i="0" dirty="0">
                <a:solidFill>
                  <a:srgbClr val="002060"/>
                </a:solidFill>
                <a:latin typeface="Calibri"/>
              </a:rPr>
              <a:t>VNF's mineral supplement ecosystem</a:t>
            </a:r>
          </a:p>
        </p:txBody>
      </p:sp>
      <p:cxnSp>
        <p:nvCxnSpPr>
          <p:cNvPr id="1301" name="LinkIn1"/>
          <p:cNvCxnSpPr>
    </p:cNvCxnSpPr>
          <p:nvPr/>
        </p:nvCxnSpPr>
        <p:spPr>
          <a:xfrm flipH="1" flipV="1">
            <a:off x="2350000" y="2060000"/>
            <a:ext cx="2225000" cy="1365000"/>
          </a:xfrm>
          <a:prstGeom prst="line">
            <a:avLst/>
          </a:prstGeom>
          <a:ln w="9525">
            <a:prstDash val="dash"/>
            <a:solidFill>
              <a:srgbClr val="888888"/>
            </a:solidFill>
          </a:ln>
        </p:spPr>
      </p:cxnSp>
      <p:cxnSp>
        <p:nvCxnSpPr>
          <p:cNvPr id="1302" name="LinkIn2"/>
          <p:cNvCxnSpPr>
    </p:cNvCxnSpPr>
          <p:nvPr/>
        </p:nvCxnSpPr>
        <p:spPr>
          <a:xfrm flipV="1">
            <a:off x="4575000" y="2060000"/>
            <a:ext cx="1875000" cy="1365000"/>
          </a:xfrm>
          <a:prstGeom prst="line">
            <a:avLst/>
          </a:prstGeom>
          <a:ln w="9525">
            <a:prstDash val="dash"/>
            <a:solidFill>
              <a:srgbClr val="888888"/>
            </a:solidFill>
          </a:ln>
        </p:spPr>
      </p:cxnSp>
      <p:cxnSp>
        <p:nvCxnSpPr>
          <p:cNvPr id="1303" name="LinkIn3"/>
          <p:cNvCxnSpPr>
    </p:cNvCxnSpPr>
          <p:nvPr/>
        </p:nvCxnSpPr>
        <p:spPr>
          <a:xfrm flipH="1">
            <a:off x="2350000" y="3425000"/>
            <a:ext cx="2225000" cy="1135000"/>
          </a:xfrm>
          <a:prstGeom prst="line">
            <a:avLst/>
          </a:prstGeom>
          <a:ln w="9525">
            <a:prstDash val="dash"/>
            <a:solidFill>
              <a:srgbClr val="888888"/>
            </a:solidFill>
          </a:ln>
        </p:spPr>
      </p:cxnSp>
      <p:sp>
        <p:nvSpPr>
          <p:cNvPr id="1304" name="EcoInner1"/>
          <p:cNvSpPr/>
          <p:nvPr/>
        </p:nvSpPr>
        <p:spPr>
          <a:xfrm>
            <a:off x="1700000" y="1700000"/>
            <a:ext cx="1300000" cy="720000"/>
          </a:xfrm>
          <a:prstGeom prst="roundRect">
            <a:avLst>
              <a:gd name="adj" fmla="val 12000"/>
            </a:avLst>
          </a:prstGeom>
          <a:solidFill>
            <a:srgbClr val="0070C0"/>
          </a:solidFill>
          <a:ln>
            <a:noFill/>
          </a:ln>
        </p:spPr>
        <p:txBody>
          <a:bodyPr wrap="square" anchor="ctr" lIns="45720" tIns="22860" rIns="45720" bIns="22860">
            <a:normAutofit fontScale="100000" lnSpcReduction="0"/>
          </a:bodyPr>
          <a:lstStyle/>
          <a:p>
            <a:pPr algn="ctr"/>
            <a:r>
              <a:rPr lang="en-US" sz="1100" b="1" dirty="0">
                <a:solidFill>
                  <a:srgbClr val="FFFFFF"/>
                </a:solidFill>
                <a:latin typeface="Calibri"/>
              </a:rPr>
              <a:t>Feed-mills</a:t>
            </a:r>
          </a:p>
        </p:txBody>
      </p:sp>
      <p:sp>
        <p:nvSpPr>
          <p:cNvPr id="1305" name="EcoInner2"/>
          <p:cNvSpPr/>
          <p:nvPr/>
        </p:nvSpPr>
        <p:spPr>
          <a:xfrm>
            <a:off x="5800000" y="1700000"/>
            <a:ext cx="1300000" cy="720000"/>
          </a:xfrm>
          <a:prstGeom prst="roundRect">
            <a:avLst>
              <a:gd name="adj" fmla="val 12000"/>
            </a:avLst>
          </a:prstGeom>
          <a:solidFill>
            <a:srgbClr val="0070C0"/>
          </a:solidFill>
          <a:ln>
            <a:noFill/>
          </a:ln>
        </p:spPr>
        <p:txBody>
          <a:bodyPr wrap="square" anchor="ctr" lIns="45720" tIns="22860" rIns="45720" bIns="22860">
            <a:normAutofit fontScale="100000" lnSpcReduction="0"/>
          </a:bodyPr>
          <a:lstStyle/>
          <a:p>
            <a:pPr algn="ctr"/>
            <a:r>
              <a:rPr lang="en-US" sz="1100" b="1" dirty="0">
                <a:solidFill>
                  <a:srgbClr val="FFFFFF"/>
                </a:solidFill>
                <a:latin typeface="Calibri"/>
              </a:rPr>
              <a:t>Regulators</a:t>
            </a:r>
          </a:p>
        </p:txBody>
      </p:sp>
      <p:sp>
        <p:nvSpPr>
          <p:cNvPr id="1306" name="EcoInner3"/>
          <p:cNvSpPr/>
          <p:nvPr/>
        </p:nvSpPr>
        <p:spPr>
          <a:xfrm>
            <a:off x="1700000" y="4200000"/>
            <a:ext cx="1300000" cy="720000"/>
          </a:xfrm>
          <a:prstGeom prst="roundRect">
            <a:avLst>
              <a:gd name="adj" fmla="val 12000"/>
            </a:avLst>
          </a:prstGeom>
          <a:solidFill>
            <a:srgbClr val="0070C0"/>
          </a:solidFill>
          <a:ln>
            <a:noFill/>
          </a:ln>
        </p:spPr>
        <p:txBody>
          <a:bodyPr wrap="square" anchor="ctr" lIns="45720" tIns="22860" rIns="45720" bIns="22860">
            <a:normAutofit fontScale="100000" lnSpcReduction="0"/>
          </a:bodyPr>
          <a:lstStyle/>
          <a:p>
            <a:pPr algn="ctr"/>
            <a:r>
              <a:rPr lang="en-US" sz="1100" b="1" dirty="0">
                <a:solidFill>
                  <a:srgbClr val="FFFFFF"/>
                </a:solidFill>
                <a:latin typeface="Calibri"/>
              </a:rPr>
              <a:t>R&amp;D partners</a:t>
            </a:r>
          </a:p>
        </p:txBody>
      </p:sp>
      <p:sp>
        <p:nvSpPr>
          <p:cNvPr id="1307" name="EcoCenter"/>
          <p:cNvSpPr/>
          <p:nvPr/>
        </p:nvSpPr>
        <p:spPr>
          <a:xfrm>
            <a:off x="3850000" y="2700000"/>
            <a:ext cx="1450000" cy="1450000"/>
          </a:xfrm>
          <a:prstGeom prst="ellipse">
            <a:avLst/>
          </a:prstGeom>
          <a:solidFill>
            <a:srgbClr val="002060"/>
          </a:solidFill>
          <a:ln w="12700">
            <a:solidFill>
              <a:srgbClr val="0070C0"/>
            </a:solidFill>
          </a:ln>
        </p:spPr>
        <p:txBody>
          <a:bodyPr wrap="square" anchor="ctr" lIns="45720" tIns="22860" rIns="45720" bIns="22860">
            <a:normAutofit fontScale="100000" lnSpcReduction="0"/>
          </a:bodyPr>
          <a:lstStyle/>
          <a:p>
            <a:pPr algn="ctr"/>
            <a:r>
              <a:rPr lang="en-US" sz="1400" b="1" dirty="0">
                <a:solidFill>
                  <a:srgbClr val="FFFFFF"/>
                </a:solidFill>
                <a:latin typeface="Calibri"/>
              </a:rPr>
              <a:t>VNF</a:t>
            </a:r>
          </a:p>
        </p:txBody>
      </p:sp>
      <p:sp>
        <p:nvSpPr>
          <p:cNvPr id="1308" name="EcoQuad0"/>
          <p:cNvSpPr txBox="1"/>
          <p:nvPr/>
        </p:nvSpPr>
        <p:spPr>
          <a:xfrm>
            <a:off x="230400" y="1310000"/>
            <a:ext cx="1900000" cy="252000"/>
          </a:xfrm>
          <a:prstGeom prst="rect">
            <a:avLst/>
          </a:prstGeom>
          <a:noFill/>
        </p:spPr>
        <p:txBody>
          <a:bodyPr wrap="square" anchor="ctr" lIns="0" tIns="0" rIns="0" bIns="0"/>
          <a:lstStyle/>
          <a:p>
            <a:pPr algn="l"/>
            <a:r>
              <a:rPr lang="en-US" sz="1000" b="1" spc="200" dirty="0">
                <a:solidFill>
                  <a:srgbClr val="888888"/>
                </a:solidFill>
                <a:latin typeface="Calibri"/>
              </a:rPr>
              <a:t>KEY INTERACTIONS</a:t>
            </a:r>
          </a:p>
        </p:txBody>
      </p:sp>
      <p:sp>
        <p:nvSpPr>
          <p:cNvPr id="1309" name="EcoQuad1"/>
          <p:cNvSpPr txBox="1"/>
          <p:nvPr/>
        </p:nvSpPr>
        <p:spPr>
          <a:xfrm>
            <a:off x="6559200" y="1310000"/>
            <a:ext cx="1900000" cy="252000"/>
          </a:xfrm>
          <a:prstGeom prst="rect">
            <a:avLst/>
          </a:prstGeom>
          <a:noFill/>
        </p:spPr>
        <p:txBody>
          <a:bodyPr wrap="square" anchor="ctr" lIns="0" tIns="0" rIns="0" bIns="0"/>
          <a:lstStyle/>
          <a:p>
            <a:pPr algn="r"/>
            <a:r>
              <a:rPr lang="en-US" sz="1000" b="1" spc="200" dirty="0">
                <a:solidFill>
                  <a:srgbClr val="888888"/>
                </a:solidFill>
                <a:latin typeface="Calibri"/>
              </a:rPr>
              <a:t>REGULATORY</a:t>
            </a:r>
          </a:p>
        </p:txBody>
      </p:sp>
      <p:sp>
        <p:nvSpPr>
          <p:cNvPr id="1310" name="EcoQuad2"/>
          <p:cNvSpPr txBox="1"/>
          <p:nvPr/>
        </p:nvSpPr>
        <p:spPr>
          <a:xfrm>
            <a:off x="230400" y="5580000"/>
            <a:ext cx="1900000" cy="252000"/>
          </a:xfrm>
          <a:prstGeom prst="rect">
            <a:avLst/>
          </a:prstGeom>
          <a:noFill/>
        </p:spPr>
        <p:txBody>
          <a:bodyPr wrap="square" anchor="ctr" lIns="0" tIns="0" rIns="0" bIns="0"/>
          <a:lstStyle/>
          <a:p>
            <a:pPr algn="l"/>
            <a:r>
              <a:rPr lang="en-US" sz="1000" b="1" spc="200" dirty="0">
                <a:solidFill>
                  <a:srgbClr val="888888"/>
                </a:solidFill>
                <a:latin typeface="Calibri"/>
              </a:rPr>
              <a:t>TECHNICAL</a:t>
            </a:r>
          </a:p>
        </p:txBody>
      </p:sp>
      <p:sp>
        <p:nvSpPr>
          <p:cNvPr id="1311" name="EcoQuad3"/>
          <p:cNvSpPr txBox="1"/>
          <p:nvPr/>
        </p:nvSpPr>
        <p:spPr>
          <a:xfrm>
            <a:off x="6559200" y="5580000"/>
            <a:ext cx="1900000" cy="252000"/>
          </a:xfrm>
          <a:prstGeom prst="rect">
            <a:avLst/>
          </a:prstGeom>
          <a:noFill/>
        </p:spPr>
        <p:txBody>
          <a:bodyPr wrap="square" anchor="ctr" lIns="0" tIns="0" rIns="0" bIns="0"/>
          <a:lstStyle/>
          <a:p>
            <a:pPr algn="r"/>
            <a:r>
              <a:rPr lang="en-US" sz="1000" b="1" spc="200" dirty="0">
                <a:solidFill>
                  <a:srgbClr val="888888"/>
                </a:solidFill>
                <a:latin typeface="Calibri"/>
              </a:rPr>
              <a:t>PARTNERSHIPS</a:t>
            </a:r>
          </a:p>
        </p:txBody>
      </p:sp>
      <p:sp>
        <p:nvSpPr>
          <p:cNvPr id="10001302" name="SourceLine"/>
          <p:cNvSpPr txBox="1"/>
          <p:nvPr/>
        </p:nvSpPr>
        <p:spPr>
          <a:xfrm>
            <a:off x="230400" y="5436000"/>
            <a:ext cx="6048000" cy="180000"/>
          </a:xfrm>
          <a:prstGeom prst="rect">
            <a:avLst/>
          </a:prstGeom>
          <a:noFill/>
        </p:spPr>
        <p:txBody>
          <a:bodyPr wrap="square" anchor="b" lIns="45720" tIns="22860" rIns="45720" bIns="22860">
            <a:noAutofit/>
          </a:bodyPr>
          <a:lstStyle/>
          <a:p>
            <a:pPr algn="l"/>
            <a:r>
              <a:rPr lang="en-US" sz="900" b="0" i="1" dirty="0">
                <a:solidFill>
                  <a:srgbClr val="888888"/>
                </a:solidFill>
                <a:latin typeface="Calibri"/>
              </a:rPr>
              <a:t>Nguồn: Source: VNF stakeholder mapping</a:t>
            </a:r>
          </a:p>
        </p:txBody>
      </p:sp>
      <p:sp>
        <p:nvSpPr>
          <p:cNvPr id="10001303" name="TaglineBox"/>
          <p:cNvSpPr txBox="1"/>
          <p:nvPr/>
        </p:nvSpPr>
        <p:spPr>
          <a:xfrm>
            <a:off x="457200" y="5832000"/>
            <a:ext cx="8229600" cy="432000"/>
          </a:xfrm>
          <a:prstGeom prst="roundRect">
            <a:avLst>
              <a:gd name="adj" fmla="val 4500"/>
            </a:avLst>
          </a:prstGeom>
          <a:solidFill>
            <a:srgbClr val="D6F1FC"/>
          </a:solidFill>
        </p:spPr>
        <p:txBody>
          <a:bodyPr wrap="square" anchor="ctr" lIns="45720" tIns="22860" rIns="45720" bIns="22860">
            <a:noAutofit/>
          </a:bodyPr>
          <a:lstStyle/>
          <a:p>
            <a:pPr algn="l"/>
            <a:r>
              <a:rPr lang="en-US" sz="100" b="0" i="0" dirty="0">
                <a:solidFill>
                  <a:srgbClr val="002060"/>
                </a:solidFill>
                <a:latin typeface="Calibri"/>
              </a:rPr>
              <a:t/>
            </a:r>
          </a:p>
        </p:txBody>
      </p:sp>
      <p:sp>
        <p:nvSpPr>
          <p:cNvPr id="10001304" name="TaglineText"/>
          <p:cNvSpPr txBox="1"/>
          <p:nvPr/>
        </p:nvSpPr>
        <p:spPr>
          <a:xfrm>
            <a:off x="571200" y="5904000"/>
            <a:ext cx="8001600" cy="288000"/>
          </a:xfrm>
          <a:prstGeom prst="rect">
            <a:avLst/>
          </a:prstGeom>
          <a:noFill/>
        </p:spPr>
        <p:txBody>
          <a:bodyPr wrap="square" anchor="ctr" lIns="45720" tIns="22860" rIns="45720" bIns="22860">
            <a:noAutofit/>
          </a:bodyPr>
          <a:lstStyle/>
          <a:p>
            <a:pPr algn="l"/>
            <a:r>
              <a:rPr lang="en-US" sz="1300" b="1" i="0" dirty="0">
                <a:solidFill>
                  <a:srgbClr val="002060"/>
                </a:solidFill>
                <a:latin typeface="Calibri"/>
              </a:rPr>
              <a:t>Leverage partnerships to navigate regulatory and technical challenges.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1401" name="ActionTitle"/>
          <p:cNvSpPr txBox="1"/>
          <p:nvPr/>
        </p:nvSpPr>
        <p:spPr>
          <a:xfrm>
            <a:off x="230400" y="0"/>
            <a:ext cx="8683200" cy="1080000"/>
          </a:xfrm>
          <a:prstGeom prst="rect">
            <a:avLst/>
          </a:prstGeom>
          <a:noFill/>
        </p:spPr>
        <p:txBody>
          <a:bodyPr wrap="square" anchor="ctr" lIns="45720" tIns="22860" rIns="45720" bIns="22860">
            <a:noAutofit/>
          </a:bodyPr>
          <a:lstStyle/>
          <a:p>
            <a:pPr algn="l"/>
            <a:r>
              <a:rPr lang="en-US" sz="2400" b="1" i="0" dirty="0">
                <a:solidFill>
                  <a:srgbClr val="002060"/>
                </a:solidFill>
                <a:latin typeface="Calibri"/>
              </a:rPr>
              <a:t>KPIs to track mineral supplement progress</a:t>
            </a:r>
          </a:p>
        </p:txBody>
      </p:sp>
      <p:sp>
        <p:nvSpPr>
          <p:cNvPr id="1401" name="KpiTile1"/>
          <p:cNvSpPr/>
          <p:nvPr/>
        </p:nvSpPr>
        <p:spPr>
          <a:xfrm>
            <a:off x="457200" y="1620000"/>
            <a:ext cx="2030200" cy="16400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402" name="KpiStatus1"/>
          <p:cNvSpPr/>
          <p:nvPr/>
        </p:nvSpPr>
        <p:spPr>
          <a:xfrm>
            <a:off x="457200" y="1620000"/>
            <a:ext cx="2030200" cy="360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03" name="KpiText1"/>
          <p:cNvSpPr txBox="1"/>
          <p:nvPr/>
        </p:nvSpPr>
        <p:spPr>
          <a:xfrm>
            <a:off x="571500" y="1800000"/>
            <a:ext cx="1801600" cy="138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1200" b="1" dirty="0">
                <a:solidFill>
                  <a:srgbClr val="002060"/>
                </a:solidFill>
                <a:latin typeface="Calibri"/>
              </a:rPr>
              <a:t>Patent filings   </a:t>
            </a:r>
            <a:r>
              <a:rPr lang="en-US" sz="1200" b="1" dirty="0">
                <a:solidFill>
                  <a:srgbClr val="0070C0"/>
                </a:solidFill>
                <a:latin typeface="Calibri"/>
              </a:rPr>
              <a:t>◆</a:t>
            </a:r>
          </a:p>
          <a:p>
            <a:pPr algn="ctr">
              <a:spcBef>
                <a:spcPts val="600"/>
              </a:spcBef>
            </a:pPr>
            <a:r>
              <a:rPr lang="en-US" sz="2800" b="1" dirty="0">
                <a:solidFill>
                  <a:srgbClr val="002060"/>
                </a:solidFill>
                <a:latin typeface="Calibri"/>
              </a:rPr>
              <a:t>N/A</a:t>
            </a:r>
          </a:p>
          <a:p>
            <a:pPr algn="ctr">
              <a:spcBef>
                <a:spcPts val="200"/>
              </a:spcBef>
            </a:pPr>
            <a:r>
              <a:rPr lang="en-US" sz="1000" dirty="0">
                <a:solidFill>
                  <a:srgbClr val="888888"/>
                </a:solidFill>
                <a:latin typeface="Calibri"/>
              </a:rPr>
              <a:t>N/A</a:t>
            </a:r>
          </a:p>
        </p:txBody>
      </p:sp>
      <p:sp>
        <p:nvSpPr>
          <p:cNvPr id="1404" name="KpiTile2"/>
          <p:cNvSpPr/>
          <p:nvPr/>
        </p:nvSpPr>
        <p:spPr>
          <a:xfrm>
            <a:off x="2607400" y="1620000"/>
            <a:ext cx="2030200" cy="16400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405" name="KpiStatus2"/>
          <p:cNvSpPr/>
          <p:nvPr/>
        </p:nvSpPr>
        <p:spPr>
          <a:xfrm>
            <a:off x="2607400" y="1620000"/>
            <a:ext cx="2030200" cy="360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06" name="KpiText2"/>
          <p:cNvSpPr txBox="1"/>
          <p:nvPr/>
        </p:nvSpPr>
        <p:spPr>
          <a:xfrm>
            <a:off x="2721700" y="1800000"/>
            <a:ext cx="1801600" cy="138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1200" b="1" dirty="0">
                <a:solidFill>
                  <a:srgbClr val="002060"/>
                </a:solidFill>
                <a:latin typeface="Calibri"/>
              </a:rPr>
              <a:t>Scale-up validation   </a:t>
            </a:r>
            <a:r>
              <a:rPr lang="en-US" sz="1200" b="1" dirty="0">
                <a:solidFill>
                  <a:srgbClr val="0070C0"/>
                </a:solidFill>
                <a:latin typeface="Calibri"/>
              </a:rPr>
              <a:t>◆</a:t>
            </a:r>
          </a:p>
          <a:p>
            <a:pPr algn="ctr">
              <a:spcBef>
                <a:spcPts val="600"/>
              </a:spcBef>
            </a:pPr>
            <a:r>
              <a:rPr lang="en-US" sz="2800" b="1" dirty="0">
                <a:solidFill>
                  <a:srgbClr val="002060"/>
                </a:solidFill>
                <a:latin typeface="Calibri"/>
              </a:rPr>
              <a:t>N/A</a:t>
            </a:r>
          </a:p>
          <a:p>
            <a:pPr algn="ctr">
              <a:spcBef>
                <a:spcPts val="200"/>
              </a:spcBef>
            </a:pPr>
            <a:r>
              <a:rPr lang="en-US" sz="1000" dirty="0">
                <a:solidFill>
                  <a:srgbClr val="888888"/>
                </a:solidFill>
                <a:latin typeface="Calibri"/>
              </a:rPr>
              <a:t>N/A</a:t>
            </a:r>
          </a:p>
        </p:txBody>
      </p:sp>
      <p:sp>
        <p:nvSpPr>
          <p:cNvPr id="1407" name="KpiTile3"/>
          <p:cNvSpPr/>
          <p:nvPr/>
        </p:nvSpPr>
        <p:spPr>
          <a:xfrm>
            <a:off x="4757600" y="1620000"/>
            <a:ext cx="2030200" cy="16400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408" name="KpiStatus3"/>
          <p:cNvSpPr/>
          <p:nvPr/>
        </p:nvSpPr>
        <p:spPr>
          <a:xfrm>
            <a:off x="4757600" y="1620000"/>
            <a:ext cx="2030200" cy="360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09" name="KpiText3"/>
          <p:cNvSpPr txBox="1"/>
          <p:nvPr/>
        </p:nvSpPr>
        <p:spPr>
          <a:xfrm>
            <a:off x="4871900" y="1800000"/>
            <a:ext cx="1801600" cy="138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1200" b="1" dirty="0">
                <a:solidFill>
                  <a:srgbClr val="002060"/>
                </a:solidFill>
                <a:latin typeface="Calibri"/>
              </a:rPr>
              <a:t>Feed-mill partnerships   </a:t>
            </a:r>
            <a:r>
              <a:rPr lang="en-US" sz="1200" b="1" dirty="0">
                <a:solidFill>
                  <a:srgbClr val="0070C0"/>
                </a:solidFill>
                <a:latin typeface="Calibri"/>
              </a:rPr>
              <a:t>◆</a:t>
            </a:r>
          </a:p>
          <a:p>
            <a:pPr algn="ctr">
              <a:spcBef>
                <a:spcPts val="600"/>
              </a:spcBef>
            </a:pPr>
            <a:r>
              <a:rPr lang="en-US" sz="2800" b="1" dirty="0">
                <a:solidFill>
                  <a:srgbClr val="002060"/>
                </a:solidFill>
                <a:latin typeface="Calibri"/>
              </a:rPr>
              <a:t>N/A</a:t>
            </a:r>
          </a:p>
          <a:p>
            <a:pPr algn="ctr">
              <a:spcBef>
                <a:spcPts val="200"/>
              </a:spcBef>
            </a:pPr>
            <a:r>
              <a:rPr lang="en-US" sz="1000" dirty="0">
                <a:solidFill>
                  <a:srgbClr val="888888"/>
                </a:solidFill>
                <a:latin typeface="Calibri"/>
              </a:rPr>
              <a:t>N/A</a:t>
            </a:r>
          </a:p>
        </p:txBody>
      </p:sp>
      <p:sp>
        <p:nvSpPr>
          <p:cNvPr id="1410" name="KpiTile4"/>
          <p:cNvSpPr/>
          <p:nvPr/>
        </p:nvSpPr>
        <p:spPr>
          <a:xfrm>
            <a:off x="6907800" y="1620000"/>
            <a:ext cx="2030200" cy="16400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411" name="KpiStatus4"/>
          <p:cNvSpPr/>
          <p:nvPr/>
        </p:nvSpPr>
        <p:spPr>
          <a:xfrm>
            <a:off x="6907800" y="1620000"/>
            <a:ext cx="2030200" cy="360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12" name="KpiText4"/>
          <p:cNvSpPr txBox="1"/>
          <p:nvPr/>
        </p:nvSpPr>
        <p:spPr>
          <a:xfrm>
            <a:off x="7022100" y="1800000"/>
            <a:ext cx="1801600" cy="138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1200" b="1" dirty="0">
                <a:solidFill>
                  <a:srgbClr val="002060"/>
                </a:solidFill>
                <a:latin typeface="Calibri"/>
              </a:rPr>
              <a:t>Regulatory engagement   </a:t>
            </a:r>
            <a:r>
              <a:rPr lang="en-US" sz="1200" b="1" dirty="0">
                <a:solidFill>
                  <a:srgbClr val="0070C0"/>
                </a:solidFill>
                <a:latin typeface="Calibri"/>
              </a:rPr>
              <a:t>◆</a:t>
            </a:r>
          </a:p>
          <a:p>
            <a:pPr algn="ctr">
              <a:spcBef>
                <a:spcPts val="600"/>
              </a:spcBef>
            </a:pPr>
            <a:r>
              <a:rPr lang="en-US" sz="2800" b="1" dirty="0">
                <a:solidFill>
                  <a:srgbClr val="002060"/>
                </a:solidFill>
                <a:latin typeface="Calibri"/>
              </a:rPr>
              <a:t>N/A</a:t>
            </a:r>
          </a:p>
          <a:p>
            <a:pPr algn="ctr">
              <a:spcBef>
                <a:spcPts val="200"/>
              </a:spcBef>
            </a:pPr>
            <a:r>
              <a:rPr lang="en-US" sz="1000" dirty="0">
                <a:solidFill>
                  <a:srgbClr val="888888"/>
                </a:solidFill>
                <a:latin typeface="Calibri"/>
              </a:rPr>
              <a:t>N/A</a:t>
            </a:r>
          </a:p>
        </p:txBody>
      </p:sp>
      <p:sp>
        <p:nvSpPr>
          <p:cNvPr id="1413" name="KpiTile5"/>
          <p:cNvSpPr/>
          <p:nvPr/>
        </p:nvSpPr>
        <p:spPr>
          <a:xfrm>
            <a:off x="457200" y="3420000"/>
            <a:ext cx="2030200" cy="1640000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414" name="KpiStatus5"/>
          <p:cNvSpPr/>
          <p:nvPr/>
        </p:nvSpPr>
        <p:spPr>
          <a:xfrm>
            <a:off x="457200" y="3420000"/>
            <a:ext cx="2030200" cy="360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15" name="KpiText5"/>
          <p:cNvSpPr txBox="1"/>
          <p:nvPr/>
        </p:nvSpPr>
        <p:spPr>
          <a:xfrm>
            <a:off x="571500" y="3600000"/>
            <a:ext cx="1801600" cy="138000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/>
            <a:r>
              <a:rPr lang="en-US" sz="1200" b="1" dirty="0">
                <a:solidFill>
                  <a:srgbClr val="002060"/>
                </a:solidFill>
                <a:latin typeface="Calibri"/>
              </a:rPr>
              <a:t>Cash flow   </a:t>
            </a:r>
            <a:r>
              <a:rPr lang="en-US" sz="1200" b="1" dirty="0">
                <a:solidFill>
                  <a:srgbClr val="0070C0"/>
                </a:solidFill>
                <a:latin typeface="Calibri"/>
              </a:rPr>
              <a:t>◆</a:t>
            </a:r>
          </a:p>
          <a:p>
            <a:pPr algn="ctr">
              <a:spcBef>
                <a:spcPts val="600"/>
              </a:spcBef>
            </a:pPr>
            <a:r>
              <a:rPr lang="en-US" sz="2800" b="1" dirty="0">
                <a:solidFill>
                  <a:srgbClr val="002060"/>
                </a:solidFill>
                <a:latin typeface="Calibri"/>
              </a:rPr>
              <a:t>N/A</a:t>
            </a:r>
          </a:p>
          <a:p>
            <a:pPr algn="ctr">
              <a:spcBef>
                <a:spcPts val="200"/>
              </a:spcBef>
            </a:pPr>
            <a:r>
              <a:rPr lang="en-US" sz="1000" dirty="0">
                <a:solidFill>
                  <a:srgbClr val="888888"/>
                </a:solidFill>
                <a:latin typeface="Calibri"/>
              </a:rPr>
              <a:t>N/A</a:t>
            </a:r>
          </a:p>
        </p:txBody>
      </p:sp>
      <p:sp>
        <p:nvSpPr>
          <p:cNvPr id="10001402" name="SourceLine"/>
          <p:cNvSpPr txBox="1"/>
          <p:nvPr/>
        </p:nvSpPr>
        <p:spPr>
          <a:xfrm>
            <a:off x="230400" y="5436000"/>
            <a:ext cx="6048000" cy="180000"/>
          </a:xfrm>
          <a:prstGeom prst="rect">
            <a:avLst/>
          </a:prstGeom>
          <a:noFill/>
        </p:spPr>
        <p:txBody>
          <a:bodyPr wrap="square" anchor="b" lIns="45720" tIns="22860" rIns="45720" bIns="22860">
            <a:noAutofit/>
          </a:bodyPr>
          <a:lstStyle/>
          <a:p>
            <a:pPr algn="l"/>
            <a:r>
              <a:rPr lang="en-US" sz="900" b="0" i="1" dirty="0">
                <a:solidFill>
                  <a:srgbClr val="888888"/>
                </a:solidFill>
                <a:latin typeface="Calibri"/>
              </a:rPr>
              <a:t>Nguồn: Source: VNF strategic KPI framework</a:t>
            </a:r>
          </a:p>
        </p:txBody>
      </p:sp>
      <p:sp>
        <p:nvSpPr>
          <p:cNvPr id="10001403" name="TaglineBox"/>
          <p:cNvSpPr txBox="1"/>
          <p:nvPr/>
        </p:nvSpPr>
        <p:spPr>
          <a:xfrm>
            <a:off x="457200" y="5832000"/>
            <a:ext cx="8229600" cy="432000"/>
          </a:xfrm>
          <a:prstGeom prst="roundRect">
            <a:avLst>
              <a:gd name="adj" fmla="val 4500"/>
            </a:avLst>
          </a:prstGeom>
          <a:solidFill>
            <a:srgbClr val="D6F1FC"/>
          </a:solidFill>
        </p:spPr>
        <p:txBody>
          <a:bodyPr wrap="square" anchor="ctr" lIns="45720" tIns="22860" rIns="45720" bIns="22860">
            <a:noAutofit/>
          </a:bodyPr>
          <a:lstStyle/>
          <a:p>
            <a:pPr algn="l"/>
            <a:r>
              <a:rPr lang="en-US" sz="100" b="0" i="0" dirty="0">
                <a:solidFill>
                  <a:srgbClr val="002060"/>
                </a:solidFill>
                <a:latin typeface="Calibri"/>
              </a:rPr>
              <a:t/>
            </a:r>
          </a:p>
        </p:txBody>
      </p:sp>
      <p:sp>
        <p:nvSpPr>
          <p:cNvPr id="10001404" name="TaglineText"/>
          <p:cNvSpPr txBox="1"/>
          <p:nvPr/>
        </p:nvSpPr>
        <p:spPr>
          <a:xfrm>
            <a:off x="571200" y="5904000"/>
            <a:ext cx="8001600" cy="288000"/>
          </a:xfrm>
          <a:prstGeom prst="rect">
            <a:avLst/>
          </a:prstGeom>
          <a:noFill/>
        </p:spPr>
        <p:txBody>
          <a:bodyPr wrap="square" anchor="ctr" lIns="45720" tIns="22860" rIns="45720" bIns="22860">
            <a:noAutofit/>
          </a:bodyPr>
          <a:lstStyle/>
          <a:p>
            <a:pPr algn="l"/>
            <a:r>
              <a:rPr lang="en-US" sz="1300" b="1" i="0" dirty="0">
                <a:solidFill>
                  <a:srgbClr val="002060"/>
                </a:solidFill>
                <a:latin typeface="Calibri"/>
              </a:rPr>
              <a:t>Monitor these metrics to assess execution health.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1501" name="ActionTitle"/>
          <p:cNvSpPr txBox="1"/>
          <p:nvPr/>
        </p:nvSpPr>
        <p:spPr>
          <a:xfrm>
            <a:off x="230400" y="0"/>
            <a:ext cx="8683200" cy="1080000"/>
          </a:xfrm>
          <a:prstGeom prst="rect">
            <a:avLst/>
          </a:prstGeom>
          <a:noFill/>
        </p:spPr>
        <p:txBody>
          <a:bodyPr wrap="square" anchor="ctr" lIns="45720" tIns="22860" rIns="45720" bIns="22860">
            <a:noAutofit/>
          </a:bodyPr>
          <a:lstStyle/>
          <a:p>
            <a:pPr algn="l"/>
            <a:r>
              <a:rPr lang="en-US" sz="2400" b="1" i="0" dirty="0">
                <a:solidFill>
                  <a:srgbClr val="002060"/>
                </a:solidFill>
                <a:latin typeface="Calibri"/>
              </a:rPr>
              <a:t>Data sources and methodology caveats</a:t>
            </a:r>
          </a:p>
        </p:txBody>
      </p:sp>
      <p:sp>
        <p:nvSpPr>
          <p:cNvPr id="1501" name="SrcMethodCol1"/>
          <p:cNvSpPr txBox="1"/>
          <p:nvPr/>
        </p:nvSpPr>
        <p:spPr>
          <a:xfrm>
            <a:off x="457200" y="1620000"/>
            <a:ext cx="2641600" cy="4320000"/>
          </a:xfrm>
          <a:prstGeom prst="rect">
            <a:avLst/>
          </a:prstGeom>
          <a:noFill/>
        </p:spPr>
        <p:txBody>
          <a:bodyPr wrap="square" anchor="t" lIns="45720" tIns="22860" rIns="45720" bIns="22860">
            <a:noAutofit/>
          </a:bodyPr>
          <a:lstStyle/>
          <a:p>
            <a:pPr algn="l"/>
            <a:r>
              <a:rPr lang="en-US" sz="1300" b="1" dirty="0">
                <a:solidFill>
                  <a:srgbClr val="002060"/>
                </a:solidFill>
                <a:latin typeface="Calibri"/>
              </a:rPr>
              <a:t>NGUỒN DỮ LIỆU</a:t>
            </a:r>
          </a:p>
          <a:p>
            <a:pPr marL="171450" indent="-171450">
              <a:spcBef>
                <a:spcPts val="300"/>
              </a:spcBef>
              <a:buClr>
                <a:srgbClr val="888888"/>
              </a:buClr>
              <a:buFont typeface="Arial"/>
              <a:buChar char="–"/>
            </a:pPr>
            <a:r>
              <a:rPr lang="en-US" sz="1100" dirty="0">
                <a:solidFill>
                  <a:srgbClr val="2C2C2C"/>
                </a:solidFill>
                <a:latin typeface="Calibri"/>
              </a:rPr>
              <a:t>Báo cáo MarketsandMarkets</a:t>
            </a:r>
          </a:p>
          <a:p>
            <a:pPr marL="171450" indent="-171450">
              <a:spcBef>
                <a:spcPts val="300"/>
              </a:spcBef>
              <a:buClr>
                <a:srgbClr val="888888"/>
              </a:buClr>
              <a:buFont typeface="Arial"/>
              <a:buChar char="–"/>
            </a:pPr>
            <a:r>
              <a:rPr lang="en-US" sz="1100" dirty="0">
                <a:solidFill>
                  <a:srgbClr val="2C2C2C"/>
                </a:solidFill>
                <a:latin typeface="Calibri"/>
              </a:rPr>
              <a:t>Dữ liệu thí nghiệm VNF</a:t>
            </a:r>
          </a:p>
        </p:txBody>
      </p:sp>
      <p:sp>
        <p:nvSpPr>
          <p:cNvPr id="1502" name="SrcMethodCol2"/>
          <p:cNvSpPr txBox="1"/>
          <p:nvPr/>
        </p:nvSpPr>
        <p:spPr>
          <a:xfrm>
            <a:off x="3327400" y="1620000"/>
            <a:ext cx="2641600" cy="4320000"/>
          </a:xfrm>
          <a:prstGeom prst="rect">
            <a:avLst/>
          </a:prstGeom>
          <a:noFill/>
        </p:spPr>
        <p:txBody>
          <a:bodyPr wrap="square" anchor="t" lIns="45720" tIns="22860" rIns="45720" bIns="22860">
            <a:noAutofit/>
          </a:bodyPr>
          <a:lstStyle/>
          <a:p>
            <a:pPr algn="l"/>
            <a:r>
              <a:rPr lang="en-US" sz="1300" b="1" dirty="0">
                <a:solidFill>
                  <a:srgbClr val="002060"/>
                </a:solidFill>
                <a:latin typeface="Calibri"/>
              </a:rPr>
              <a:t>PHƯƠNG PHÁP</a:t>
            </a:r>
          </a:p>
          <a:p>
            <a:pPr marL="171450" indent="-171450">
              <a:spcBef>
                <a:spcPts val="300"/>
              </a:spcBef>
              <a:buClr>
                <a:srgbClr val="888888"/>
              </a:buClr>
              <a:buFont typeface="Arial"/>
              <a:buChar char="•"/>
            </a:pPr>
            <a:r>
              <a:rPr lang="en-US" sz="1100" dirty="0">
                <a:solidFill>
                  <a:srgbClr val="2C2C2C"/>
                </a:solidFill>
                <a:latin typeface="Calibri"/>
              </a:rPr>
              <a:t>Phân tích định lượng</a:t>
            </a:r>
          </a:p>
          <a:p>
            <a:pPr marL="171450" indent="-171450">
              <a:spcBef>
                <a:spcPts val="300"/>
              </a:spcBef>
              <a:buClr>
                <a:srgbClr val="888888"/>
              </a:buClr>
              <a:buFont typeface="Arial"/>
              <a:buChar char="•"/>
            </a:pPr>
            <a:r>
              <a:rPr lang="en-US" sz="1100" dirty="0">
                <a:solidFill>
                  <a:srgbClr val="2C2C2C"/>
                </a:solidFill>
                <a:latin typeface="Calibri"/>
              </a:rPr>
              <a:t>Phỏng vấn chuyên gia</a:t>
            </a:r>
          </a:p>
          <a:p>
            <a:pPr marL="171450" indent="-171450">
              <a:spcBef>
                <a:spcPts val="300"/>
              </a:spcBef>
              <a:buClr>
                <a:srgbClr val="888888"/>
              </a:buClr>
              <a:buFont typeface="Arial"/>
              <a:buChar char="•"/>
            </a:pPr>
            <a:r>
              <a:rPr lang="en-US" sz="1100" dirty="0">
                <a:solidFill>
                  <a:srgbClr val="2C2C2C"/>
                </a:solidFill>
                <a:latin typeface="Calibri"/>
              </a:rPr>
              <a:t>Mô hình hóa thị trường</a:t>
            </a:r>
          </a:p>
        </p:txBody>
      </p:sp>
      <p:sp>
        <p:nvSpPr>
          <p:cNvPr id="1503" name="SrcMethodCol3"/>
          <p:cNvSpPr txBox="1"/>
          <p:nvPr/>
        </p:nvSpPr>
        <p:spPr>
          <a:xfrm>
            <a:off x="6197600" y="1620000"/>
            <a:ext cx="2641600" cy="4320000"/>
          </a:xfrm>
          <a:prstGeom prst="rect">
            <a:avLst/>
          </a:prstGeom>
          <a:noFill/>
        </p:spPr>
        <p:txBody>
          <a:bodyPr wrap="square" anchor="t" lIns="45720" tIns="22860" rIns="45720" bIns="22860">
            <a:noAutofit/>
          </a:bodyPr>
          <a:lstStyle/>
          <a:p>
            <a:pPr algn="l"/>
            <a:r>
              <a:rPr lang="en-US" sz="1300" b="1" dirty="0">
                <a:solidFill>
                  <a:srgbClr val="002060"/>
                </a:solidFill>
                <a:latin typeface="Calibri"/>
              </a:rPr>
              <a:t>GIẢ ĐỊNH QUAN TRỌNG</a:t>
            </a:r>
          </a:p>
          <a:p>
            <a:pPr marL="171450" indent="-171450">
              <a:spcBef>
                <a:spcPts val="300"/>
              </a:spcBef>
              <a:buClr>
                <a:srgbClr val="888888"/>
              </a:buClr>
              <a:buFont typeface="Arial"/>
              <a:buChar char="•"/>
            </a:pPr>
            <a:r>
              <a:rPr lang="en-US" sz="1100" dirty="0">
                <a:solidFill>
                  <a:srgbClr val="2C2C2C"/>
                </a:solidFill>
                <a:latin typeface="Calibri"/>
              </a:rPr>
              <a:t>Giả định quy định</a:t>
            </a:r>
          </a:p>
          <a:p>
            <a:pPr marL="171450" indent="-171450">
              <a:spcBef>
                <a:spcPts val="300"/>
              </a:spcBef>
              <a:buClr>
                <a:srgbClr val="888888"/>
              </a:buClr>
              <a:buFont typeface="Arial"/>
              <a:buChar char="•"/>
            </a:pPr>
            <a:r>
              <a:rPr lang="en-US" sz="1100" dirty="0">
                <a:solidFill>
                  <a:srgbClr val="2C2C2C"/>
                </a:solidFill>
                <a:latin typeface="Calibri"/>
              </a:rPr>
              <a:t>Biến động hiệu quả nano-bio</a:t>
            </a:r>
          </a:p>
        </p:txBody>
      </p:sp>
      <p:sp>
        <p:nvSpPr>
          <p:cNvPr id="10001502" name="SourceLine"/>
          <p:cNvSpPr txBox="1"/>
          <p:nvPr/>
        </p:nvSpPr>
        <p:spPr>
          <a:xfrm>
            <a:off x="230400" y="5436000"/>
            <a:ext cx="6048000" cy="180000"/>
          </a:xfrm>
          <a:prstGeom prst="rect">
            <a:avLst/>
          </a:prstGeom>
          <a:noFill/>
        </p:spPr>
        <p:txBody>
          <a:bodyPr wrap="square" anchor="b" lIns="45720" tIns="22860" rIns="45720" bIns="22860">
            <a:noAutofit/>
          </a:bodyPr>
          <a:lstStyle/>
          <a:p>
            <a:pPr algn="l"/>
            <a:r>
              <a:rPr lang="en-US" sz="900" b="0" i="1" dirty="0">
                <a:solidFill>
                  <a:srgbClr val="888888"/>
                </a:solidFill>
                <a:latin typeface="Calibri"/>
              </a:rPr>
              <a:t>Nguồn: Source: VNF internal reports</a:t>
            </a:r>
          </a:p>
        </p:txBody>
      </p:sp>
      <p:sp>
        <p:nvSpPr>
          <p:cNvPr id="10001503" name="TaglineBox"/>
          <p:cNvSpPr txBox="1"/>
          <p:nvPr/>
        </p:nvSpPr>
        <p:spPr>
          <a:xfrm>
            <a:off x="457200" y="5832000"/>
            <a:ext cx="8229600" cy="432000"/>
          </a:xfrm>
          <a:prstGeom prst="roundRect">
            <a:avLst>
              <a:gd name="adj" fmla="val 4500"/>
            </a:avLst>
          </a:prstGeom>
          <a:solidFill>
            <a:srgbClr val="D6F1FC"/>
          </a:solidFill>
        </p:spPr>
        <p:txBody>
          <a:bodyPr wrap="square" anchor="ctr" lIns="45720" tIns="22860" rIns="45720" bIns="22860">
            <a:noAutofit/>
          </a:bodyPr>
          <a:lstStyle/>
          <a:p>
            <a:pPr algn="l"/>
            <a:r>
              <a:rPr lang="en-US" sz="100" b="0" i="0" dirty="0">
                <a:solidFill>
                  <a:srgbClr val="002060"/>
                </a:solidFill>
                <a:latin typeface="Calibri"/>
              </a:rPr>
              <a:t/>
            </a:r>
          </a:p>
        </p:txBody>
      </p:sp>
      <p:sp>
        <p:nvSpPr>
          <p:cNvPr id="10001504" name="TaglineText"/>
          <p:cNvSpPr txBox="1"/>
          <p:nvPr/>
        </p:nvSpPr>
        <p:spPr>
          <a:xfrm>
            <a:off x="571200" y="5904000"/>
            <a:ext cx="8001600" cy="288000"/>
          </a:xfrm>
          <a:prstGeom prst="rect">
            <a:avLst/>
          </a:prstGeom>
          <a:noFill/>
        </p:spPr>
        <p:txBody>
          <a:bodyPr wrap="square" anchor="ctr" lIns="45720" tIns="22860" rIns="45720" bIns="22860">
            <a:noAutofit/>
          </a:bodyPr>
          <a:lstStyle/>
          <a:p>
            <a:pPr algn="l"/>
            <a:r>
              <a:rPr lang="en-US" sz="1300" b="1" i="0" dirty="0">
                <a:solidFill>
                  <a:srgbClr val="002060"/>
                </a:solidFill>
                <a:latin typeface="Calibri"/>
              </a:rPr>
              <a:t>Understand limitations when interpreting market data.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1" name="AgendaTitle"/>
          <p:cNvSpPr txBox="1"/>
          <p:nvPr/>
        </p:nvSpPr>
        <p:spPr>
          <a:xfrm>
            <a:off x="230400" y="0"/>
            <a:ext cx="8683200" cy="720000"/>
          </a:xfrm>
          <a:prstGeom prst="rect">
            <a:avLst/>
          </a:prstGeom>
          <a:noFill/>
        </p:spPr>
        <p:txBody>
          <a:bodyPr wrap="square" anchor="ctr" lIns="0" tIns="0" rIns="0" bIns="0"/>
          <a:lstStyle/>
          <a:p>
            <a:pPr algn="l"/>
            <a:r>
              <a:rPr lang="en-US" sz="2400" b="1" dirty="0">
                <a:solidFill>
                  <a:srgbClr val="002060"/>
                </a:solidFill>
                <a:latin typeface="Calibri"/>
              </a:rPr>
              <a:t>AGENDA</a:t>
            </a:r>
          </a:p>
        </p:txBody>
      </p:sp>
      <p:sp>
        <p:nvSpPr>
          <p:cNvPr id="1602" name="AgendaRow1"/>
          <p:cNvSpPr/>
          <p:nvPr/>
        </p:nvSpPr>
        <p:spPr>
          <a:xfrm>
            <a:off x="1000000" y="1620000"/>
            <a:ext cx="3800000" cy="600000"/>
          </a:xfrm>
          <a:prstGeom prst="rect">
            <a:avLst/>
          </a:prstGeom>
          <a:solidFill>
            <a:srgbClr val="D6F1FC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03" name="AgendaNum1"/>
          <p:cNvSpPr/>
          <p:nvPr/>
        </p:nvSpPr>
        <p:spPr>
          <a:xfrm>
            <a:off x="1080000" y="1704000"/>
            <a:ext cx="432000" cy="432000"/>
          </a:xfrm>
          <a:prstGeom prst="ellipse">
            <a:avLst/>
          </a:prstGeom>
          <a:solidFill>
            <a:srgbClr val="002060"/>
          </a:solidFill>
          <a:ln w="9525">
            <a:solidFill>
              <a:srgbClr val="002060"/>
            </a:solidFill>
          </a:ln>
        </p:spPr>
        <p:txBody>
          <a:bodyPr wrap="square" anchor="ctr" lIns="0" tIns="0" rIns="0" bIns="0">
            <a:noAutofit/>
          </a:bodyPr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604" name="AgendaTxt1"/>
          <p:cNvSpPr txBox="1"/>
          <p:nvPr/>
        </p:nvSpPr>
        <p:spPr>
          <a:xfrm>
            <a:off x="1620000" y="1620000"/>
            <a:ext cx="3100000" cy="600000"/>
          </a:xfrm>
          <a:prstGeom prst="rect">
            <a:avLst/>
          </a:prstGeom>
          <a:noFill/>
        </p:spPr>
        <p:txBody>
          <a:bodyPr wrap="square" anchor="ctr" lIns="91440" tIns="0" rIns="91440" bIns="0"/>
          <a:lstStyle/>
          <a:p>
            <a:pPr algn="l"/>
            <a:r>
              <a:rPr lang="en-US" sz="1600" b="1" dirty="0">
                <a:solidFill>
                  <a:srgbClr val="002060"/>
                </a:solidFill>
                <a:latin typeface="Calibri"/>
              </a:rPr>
              <a:t>Market opportunity</a:t>
            </a:r>
            <a:r>
              <a:rPr lang="en-US" sz="1100" i="1" dirty="0">
                <a:solidFill>
                  <a:srgbClr val="888888"/>
                </a:solidFill>
                <a:latin typeface="Calibri"/>
              </a:rPr>
              <a:t>     p. 1</a:t>
            </a:r>
          </a:p>
        </p:txBody>
      </p:sp>
      <p:sp>
        <p:nvSpPr>
          <p:cNvPr id="1605" name="AgendaRow2"/>
          <p:cNvSpPr/>
          <p:nvPr/>
        </p:nvSpPr>
        <p:spPr>
          <a:xfrm>
            <a:off x="1000000" y="2340000"/>
            <a:ext cx="3800000" cy="600000"/>
          </a:xfrm>
          <a:prstGeom prst="rect">
            <a:avLst/>
          </a:prstGeom>
          <a:solidFill>
            <a:srgbClr val="F5F5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06" name="AgendaNum2"/>
          <p:cNvSpPr/>
          <p:nvPr/>
        </p:nvSpPr>
        <p:spPr>
          <a:xfrm>
            <a:off x="1080000" y="2424000"/>
            <a:ext cx="432000" cy="432000"/>
          </a:xfrm>
          <a:prstGeom prst="ellipse">
            <a:avLst/>
          </a:prstGeom>
          <a:solidFill>
            <a:srgbClr val="002060"/>
          </a:solidFill>
          <a:ln w="9525">
            <a:solidFill>
              <a:srgbClr val="002060"/>
            </a:solidFill>
          </a:ln>
        </p:spPr>
        <p:txBody>
          <a:bodyPr wrap="square" anchor="ctr" lIns="0" tIns="0" rIns="0" bIns="0">
            <a:noAutofit/>
          </a:bodyPr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607" name="AgendaTxt2"/>
          <p:cNvSpPr txBox="1"/>
          <p:nvPr/>
        </p:nvSpPr>
        <p:spPr>
          <a:xfrm>
            <a:off x="1620000" y="2340000"/>
            <a:ext cx="3100000" cy="600000"/>
          </a:xfrm>
          <a:prstGeom prst="rect">
            <a:avLst/>
          </a:prstGeom>
          <a:noFill/>
        </p:spPr>
        <p:txBody>
          <a:bodyPr wrap="square" anchor="ctr" lIns="91440" tIns="0" rIns="91440" bIns="0"/>
          <a:lstStyle/>
          <a:p>
            <a:pPr algn="l"/>
            <a:r>
              <a:rPr lang="en-US" sz="1600" b="0" dirty="0">
                <a:solidFill>
                  <a:srgbClr val="002060"/>
                </a:solidFill>
                <a:latin typeface="Calibri"/>
              </a:rPr>
              <a:t>Technology risks</a:t>
            </a:r>
            <a:r>
              <a:rPr lang="en-US" sz="1100" i="1" dirty="0">
                <a:solidFill>
                  <a:srgbClr val="888888"/>
                </a:solidFill>
                <a:latin typeface="Calibri"/>
              </a:rPr>
              <a:t>     p. 2</a:t>
            </a:r>
          </a:p>
        </p:txBody>
      </p:sp>
      <p:sp>
        <p:nvSpPr>
          <p:cNvPr id="1608" name="AgendaRow3"/>
          <p:cNvSpPr/>
          <p:nvPr/>
        </p:nvSpPr>
        <p:spPr>
          <a:xfrm>
            <a:off x="1000000" y="3060000"/>
            <a:ext cx="3800000" cy="6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09" name="AgendaNum3"/>
          <p:cNvSpPr/>
          <p:nvPr/>
        </p:nvSpPr>
        <p:spPr>
          <a:xfrm>
            <a:off x="1080000" y="3144000"/>
            <a:ext cx="432000" cy="432000"/>
          </a:xfrm>
          <a:prstGeom prst="ellipse">
            <a:avLst/>
          </a:prstGeom>
          <a:solidFill>
            <a:srgbClr val="002060"/>
          </a:solidFill>
          <a:ln w="9525">
            <a:solidFill>
              <a:srgbClr val="002060"/>
            </a:solidFill>
          </a:ln>
        </p:spPr>
        <p:txBody>
          <a:bodyPr wrap="square" anchor="ctr" lIns="0" tIns="0" rIns="0" bIns="0">
            <a:noAutofit/>
          </a:bodyPr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610" name="AgendaTxt3"/>
          <p:cNvSpPr txBox="1"/>
          <p:nvPr/>
        </p:nvSpPr>
        <p:spPr>
          <a:xfrm>
            <a:off x="1620000" y="3060000"/>
            <a:ext cx="3100000" cy="600000"/>
          </a:xfrm>
          <a:prstGeom prst="rect">
            <a:avLst/>
          </a:prstGeom>
          <a:noFill/>
        </p:spPr>
        <p:txBody>
          <a:bodyPr wrap="square" anchor="ctr" lIns="91440" tIns="0" rIns="91440" bIns="0"/>
          <a:lstStyle/>
          <a:p>
            <a:pPr algn="l"/>
            <a:r>
              <a:rPr lang="en-US" sz="1600" b="0" dirty="0">
                <a:solidFill>
                  <a:srgbClr val="002060"/>
                </a:solidFill>
                <a:latin typeface="Calibri"/>
              </a:rPr>
              <a:t>Execution plan</a:t>
            </a:r>
            <a:r>
              <a:rPr lang="en-US" sz="1100" i="1" dirty="0">
                <a:solidFill>
                  <a:srgbClr val="888888"/>
                </a:solidFill>
                <a:latin typeface="Calibri"/>
              </a:rPr>
              <a:t>     p. 3</a:t>
            </a:r>
          </a:p>
        </p:txBody>
      </p:sp>
      <p:sp>
        <p:nvSpPr>
          <p:cNvPr id="1611" name="AgendaRow4"/>
          <p:cNvSpPr/>
          <p:nvPr/>
        </p:nvSpPr>
        <p:spPr>
          <a:xfrm>
            <a:off x="1000000" y="3780000"/>
            <a:ext cx="3800000" cy="600000"/>
          </a:xfrm>
          <a:prstGeom prst="rect">
            <a:avLst/>
          </a:prstGeom>
          <a:solidFill>
            <a:srgbClr val="F5F5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12" name="AgendaNum4"/>
          <p:cNvSpPr/>
          <p:nvPr/>
        </p:nvSpPr>
        <p:spPr>
          <a:xfrm>
            <a:off x="1080000" y="3864000"/>
            <a:ext cx="432000" cy="432000"/>
          </a:xfrm>
          <a:prstGeom prst="ellipse">
            <a:avLst/>
          </a:prstGeom>
          <a:solidFill>
            <a:srgbClr val="002060"/>
          </a:solidFill>
          <a:ln w="9525">
            <a:solidFill>
              <a:srgbClr val="002060"/>
            </a:solidFill>
          </a:ln>
        </p:spPr>
        <p:txBody>
          <a:bodyPr wrap="square" anchor="ctr" lIns="0" tIns="0" rIns="0" bIns="0">
            <a:noAutofit/>
          </a:bodyPr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613" name="AgendaTxt4"/>
          <p:cNvSpPr txBox="1"/>
          <p:nvPr/>
        </p:nvSpPr>
        <p:spPr>
          <a:xfrm>
            <a:off x="1620000" y="3780000"/>
            <a:ext cx="3100000" cy="600000"/>
          </a:xfrm>
          <a:prstGeom prst="rect">
            <a:avLst/>
          </a:prstGeom>
          <a:noFill/>
        </p:spPr>
        <p:txBody>
          <a:bodyPr wrap="square" anchor="ctr" lIns="91440" tIns="0" rIns="91440" bIns="0"/>
          <a:lstStyle/>
          <a:p>
            <a:pPr algn="l"/>
            <a:r>
              <a:rPr lang="en-US" sz="1600" b="0" dirty="0">
                <a:solidFill>
                  <a:srgbClr val="002060"/>
                </a:solidFill>
                <a:latin typeface="Calibri"/>
              </a:rPr>
              <a:t>Regulatory challenges</a:t>
            </a:r>
            <a:r>
              <a:rPr lang="en-US" sz="1100" i="1" dirty="0">
                <a:solidFill>
                  <a:srgbClr val="888888"/>
                </a:solidFill>
                <a:latin typeface="Calibri"/>
              </a:rPr>
              <a:t>     p. 4</a:t>
            </a:r>
          </a:p>
        </p:txBody>
      </p:sp>
      <p:sp>
        <p:nvSpPr>
          <p:cNvPr id="1614" name="AgendaRow5"/>
          <p:cNvSpPr/>
          <p:nvPr/>
        </p:nvSpPr>
        <p:spPr>
          <a:xfrm>
            <a:off x="1000000" y="4500000"/>
            <a:ext cx="3800000" cy="6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15" name="AgendaNum5"/>
          <p:cNvSpPr/>
          <p:nvPr/>
        </p:nvSpPr>
        <p:spPr>
          <a:xfrm>
            <a:off x="1080000" y="4584000"/>
            <a:ext cx="432000" cy="432000"/>
          </a:xfrm>
          <a:prstGeom prst="ellipse">
            <a:avLst/>
          </a:prstGeom>
          <a:solidFill>
            <a:srgbClr val="002060"/>
          </a:solidFill>
          <a:ln w="9525">
            <a:solidFill>
              <a:srgbClr val="002060"/>
            </a:solidFill>
          </a:ln>
        </p:spPr>
        <p:txBody>
          <a:bodyPr wrap="square" anchor="ctr" lIns="0" tIns="0" rIns="0" bIns="0">
            <a:noAutofit/>
          </a:bodyPr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616" name="AgendaTxt5"/>
          <p:cNvSpPr txBox="1"/>
          <p:nvPr/>
        </p:nvSpPr>
        <p:spPr>
          <a:xfrm>
            <a:off x="1620000" y="4500000"/>
            <a:ext cx="3100000" cy="600000"/>
          </a:xfrm>
          <a:prstGeom prst="rect">
            <a:avLst/>
          </a:prstGeom>
          <a:noFill/>
        </p:spPr>
        <p:txBody>
          <a:bodyPr wrap="square" anchor="ctr" lIns="91440" tIns="0" rIns="91440" bIns="0"/>
          <a:lstStyle/>
          <a:p>
            <a:pPr algn="l"/>
            <a:r>
              <a:rPr lang="en-US" sz="1600" b="0" dirty="0">
                <a:solidFill>
                  <a:srgbClr val="002060"/>
                </a:solidFill>
                <a:latin typeface="Calibri"/>
              </a:rPr>
              <a:t>Financial model</a:t>
            </a:r>
            <a:r>
              <a:rPr lang="en-US" sz="1100" i="1" dirty="0">
                <a:solidFill>
                  <a:srgbClr val="888888"/>
                </a:solidFill>
                <a:latin typeface="Calibri"/>
              </a:rPr>
              <a:t>     p. 5</a:t>
            </a:r>
          </a:p>
        </p:txBody>
      </p:sp>
    </p:spTree>
  </p:cSld>
</p:sld>
</file>

<file path=ppt/tags/tag1.xml><?xml version="1.0" encoding="utf-8"?>
<p:tagLst xmlns:p="http://schemas.openxmlformats.org/presentationml/2006/main">
  <p:tag name="MM_SLIDE_TYPE" val="6"/>
</p:tagLst>
</file>

<file path=ppt/tags/tag2.xml><?xml version="1.0" encoding="utf-8"?>
<p:tagLst xmlns:p="http://schemas.openxmlformats.org/presentationml/2006/main">
  <p:tag name="MM_SLIDE_TYPE" val="6"/>
</p:tagLst>
</file>

<file path=ppt/tags/tag6.xml><?xml version="1.0" encoding="utf-8"?>
<p:tagLst xmlns:p="http://schemas.openxmlformats.org/presentationml/2006/main">
  <p:tag name="DH_FLYSHEET_STYLE" val="1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Custom 19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>
            <a:lumMod val="85000"/>
          </a:schemeClr>
        </a:solidFill>
        <a:ln w="12700">
          <a:solidFill>
            <a:schemeClr val="tx1"/>
          </a:solidFill>
        </a:ln>
      </a:spPr>
      <a:bodyPr rtlCol="0" anchor="ctr"/>
      <a:lstStyle>
        <a:defPPr algn="ctr">
          <a:defRPr sz="1100" dirty="0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5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D8169476D4E494B950A59EBCB7A573C" ma:contentTypeVersion="19" ma:contentTypeDescription="Create a new document." ma:contentTypeScope="" ma:versionID="029978e329cdaafd2d145a8ff8cd7be5">
  <xsd:schema xmlns:xsd="http://www.w3.org/2001/XMLSchema" xmlns:xs="http://www.w3.org/2001/XMLSchema" xmlns:p="http://schemas.microsoft.com/office/2006/metadata/properties" xmlns:ns2="bd46642e-baf8-4e0b-90a8-08a61c43d436" xmlns:ns3="da89c8aa-bdf1-4272-829d-0bf2fbc1fefc" targetNamespace="http://schemas.microsoft.com/office/2006/metadata/properties" ma:root="true" ma:fieldsID="45975fc9e5c42f58d0005cd0e0642dc9" ns2:_="" ns3:_="">
    <xsd:import namespace="bd46642e-baf8-4e0b-90a8-08a61c43d436"/>
    <xsd:import namespace="da89c8aa-bdf1-4272-829d-0bf2fbc1fef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MediaLengthInSecond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Location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d46642e-baf8-4e0b-90a8-08a61c43d43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4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5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21" nillable="true" ma:taxonomy="true" ma:internalName="lcf76f155ced4ddcb4097134ff3c332f" ma:taxonomyFieldName="MediaServiceImageTags" ma:displayName="Image Tags" ma:readOnly="false" ma:fieldId="{5cf76f15-5ced-4ddc-b409-7134ff3c332f}" ma:taxonomyMulti="true" ma:sspId="19187416-f788-437a-8c7c-a113f37dc88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Location" ma:index="24" nillable="true" ma:displayName="Location" ma:indexed="true" ma:internalName="MediaServiceLocation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6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a89c8aa-bdf1-4272-829d-0bf2fbc1fefc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2" nillable="true" ma:displayName="Taxonomy Catch All Column" ma:hidden="true" ma:list="{7eba7653-8b86-4d71-9290-79e61846c644}" ma:internalName="TaxCatchAll" ma:showField="CatchAllData" ma:web="da89c8aa-bdf1-4272-829d-0bf2fbc1fef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bd46642e-baf8-4e0b-90a8-08a61c43d436">
      <Terms xmlns="http://schemas.microsoft.com/office/infopath/2007/PartnerControls"/>
    </lcf76f155ced4ddcb4097134ff3c332f>
    <TaxCatchAll xmlns="da89c8aa-bdf1-4272-829d-0bf2fbc1fefc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3.xml><?xml version="1.0" encoding="utf-8"?>
<ds:datastoreItem xmlns:ds="http://schemas.openxmlformats.org/officeDocument/2006/customXml" ds:itemID="{05064457-A99B-4F5A-8265-53D78F6EBD13}">
  <ds:schemaRefs/>
</ds:datastoreItem>
</file>

<file path=customXml/itemProps4.xml><?xml version="1.0" encoding="utf-8"?>
<ds:datastoreItem xmlns:ds="http://schemas.openxmlformats.org/officeDocument/2006/customXml" ds:itemID="{AED47698-1855-40F8-88F1-9046674C7C6F}">
  <ds:schemaRefs/>
</ds:datastoreItem>
</file>

<file path=customXml/itemProps5.xml><?xml version="1.0" encoding="utf-8"?>
<ds:datastoreItem xmlns:ds="http://schemas.openxmlformats.org/officeDocument/2006/customXml" ds:itemID="{A168439B-1DAE-4F2B-934D-367C7A79D1E5}">
  <ds:schemaRefs/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330</Words>
  <Application>WPS Presentation</Application>
  <PresentationFormat>On-screen Show (4:3)</PresentationFormat>
  <Paragraphs>10</Paragraphs>
  <Slides>1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2" baseType="lpstr">
      <vt:lpstr>Arial</vt:lpstr>
      <vt:lpstr>SimSun</vt:lpstr>
      <vt:lpstr>Wingdings</vt:lpstr>
      <vt:lpstr>Montserrat</vt:lpstr>
      <vt:lpstr>Liberation Mono</vt:lpstr>
      <vt:lpstr>Calibri</vt:lpstr>
      <vt:lpstr>Calibri</vt:lpstr>
      <vt:lpstr>Cambria</vt:lpstr>
      <vt:lpstr>Microsoft YaHei</vt:lpstr>
      <vt:lpstr>Arial Unicode MS</vt:lpstr>
      <vt:lpstr>Office Theme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Trí Phạm</cp:lastModifiedBy>
  <cp:revision>2</cp:revision>
  <dcterms:created xsi:type="dcterms:W3CDTF">2020-07-24T09:46:00Z</dcterms:created>
  <dcterms:modified xsi:type="dcterms:W3CDTF">2026-08-05T07:19:31Z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0x010100DD8169476D4E494B950A59EBCB7A573C</vt:lpwstr>
  </property>
  <property fmtid="{D5CDD505-2E9C-101B-9397-08002B2CF9AE}" pid="3" name="MediaServiceImageTags">
    <vt:lpwstr/>
  </property>
  <property fmtid="{D5CDD505-2E9C-101B-9397-08002B2CF9AE}" pid="4" name="ICV">
    <vt:lpwstr>3A92109A331E46C8A8FC5A7A47822D39_12</vt:lpwstr>
  </property>
  <property fmtid="{D5CDD505-2E9C-101B-9397-08002B2CF9AE}" pid="5" name="KSOProductBuildVer">
    <vt:lpwstr>1033-12.1.0.28032</vt:lpwstr>
  </property>
</Properties>
</file>