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977" r:id="rId3"/>
    <p:sldId id="1978" r:id="rId13"/>
    <p:sldId id="1979" r:id="rId14"/>
    <p:sldId id="1980" r:id="rId15"/>
    <p:sldId id="1981" r:id="rId16"/>
    <p:sldId id="1982" r:id="rId17"/>
    <p:sldId id="1983" r:id="rId18"/>
    <p:sldId id="1984" r:id="rId19"/>
    <p:sldId id="1985" r:id="rId20"/>
    <p:sldId id="1986" r:id="rId21"/>
    <p:sldId id="1987" r:id="rId22"/>
    <p:sldId id="1988" r:id="rId23"/>
    <p:sldId id="1989" r:id="rId24"/>
    <p:sldId id="1990" r:id="rId25"/>
    <p:sldId id="1991" r:id="rId26"/>
    <p:sldId id="1992" r:id="rId27"/>
    <p:sldId id="1993" r:id="rId28"/>
    <p:sldId id="1994" r:id="rId29"/>
    <p:sldId id="1995" r:id="rId30"/>
    <p:sldId id="1996" r:id="rId31"/>
    <p:sldId id="1997" r:id="rId32"/>
    <p:sldId id="1998" r:id="rId33"/>
    <p:sldId id="1999" r:id="rId34"/>
    <p:sldId id="2000" r:id="rId35"/>
    <p:sldId id="2001" r:id="rId36"/>
    <p:sldId id="2002" r:id="rId37"/>
    <p:sldId id="2003" r:id="rId38"/>
    <p:sldId id="2004" r:id="rId39"/>
    <p:sldId id="2005" r:id="rId40"/>
    <p:sldId id="2006" r:id="rId41"/>
    <p:sldId id="2007" r:id="rId42"/>
    <p:sldId id="2008" r:id="rId43"/>
    <p:sldId id="2009" r:id="rId44"/>
    <p:sldId id="2010" r:id="rId45"/>
    <p:sldId id="2011" r:id="rId46"/>
    <p:sldId id="2012" r:id="rId47"/>
    <p:sldId id="2013" r:id="rId48"/>
    <p:sldId id="2014" r:id="rId49"/>
    <p:sldId id="2015" r:id="rId50"/>
    <p:sldId id="2016" r:id="rId51"/>
    <p:sldId id="2017" r:id="rId52"/>
    <p:sldId id="2018" r:id="rId53"/>
    <p:sldId id="2019" r:id="rId54"/>
    <p:sldId id="2020" r:id="rId55"/>
    <p:sldId id="2021" r:id="rId56"/>
    <p:sldId id="2022" r:id="rId57"/>
    <p:sldId id="2023" r:id="rId58"/>
    <p:sldId id="2024" r:id="rId59"/>
    <p:sldId id="2025" r:id="rId60"/>
    <p:sldId id="2026" r:id="rId61"/>
    <p:sldId id="2027" r:id="rId62"/>
    <p:sldId id="2028" r:id="rId63"/>
    <p:sldId id="2029" r:id="rId64"/>
  </p:sldIdLst>
  <p:sldSz cx="9144000" cy="6858000" type="screen4x3"/>
  <p:notesSz cx="7315200" cy="96012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C0504D"/>
    <a:srgbClr val="FFC000"/>
    <a:srgbClr val="F48153"/>
    <a:srgbClr val="4F81BD"/>
    <a:srgbClr val="E6EDF6"/>
    <a:srgbClr val="275791"/>
    <a:srgbClr val="404040"/>
    <a:srgbClr val="FFFFCC"/>
    <a:srgbClr val="803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377" autoAdjust="0"/>
  </p:normalViewPr>
  <p:slideViewPr>
    <p:cSldViewPr snapToGrid="0" showGuides="1">
      <p:cViewPr varScale="1">
        <p:scale>
          <a:sx n="113" d="100"/>
          <a:sy n="113" d="100"/>
        </p:scale>
        <p:origin x="2176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3216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29.xml"/><Relationship Id="rId41" Type="http://schemas.openxmlformats.org/officeDocument/2006/relationships/slide" Target="slides/slide30.xml"/><Relationship Id="rId42" Type="http://schemas.openxmlformats.org/officeDocument/2006/relationships/slide" Target="slides/slide31.xml"/><Relationship Id="rId43" Type="http://schemas.openxmlformats.org/officeDocument/2006/relationships/slide" Target="slides/slide32.xml"/><Relationship Id="rId44" Type="http://schemas.openxmlformats.org/officeDocument/2006/relationships/slide" Target="slides/slide33.xml"/><Relationship Id="rId45" Type="http://schemas.openxmlformats.org/officeDocument/2006/relationships/slide" Target="slides/slide34.xml"/><Relationship Id="rId46" Type="http://schemas.openxmlformats.org/officeDocument/2006/relationships/slide" Target="slides/slide35.xml"/><Relationship Id="rId47" Type="http://schemas.openxmlformats.org/officeDocument/2006/relationships/slide" Target="slides/slide36.xml"/><Relationship Id="rId48" Type="http://schemas.openxmlformats.org/officeDocument/2006/relationships/slide" Target="slides/slide37.xml"/><Relationship Id="rId49" Type="http://schemas.openxmlformats.org/officeDocument/2006/relationships/slide" Target="slides/slide38.xml"/><Relationship Id="rId50" Type="http://schemas.openxmlformats.org/officeDocument/2006/relationships/slide" Target="slides/slide39.xml"/><Relationship Id="rId51" Type="http://schemas.openxmlformats.org/officeDocument/2006/relationships/slide" Target="slides/slide40.xml"/><Relationship Id="rId52" Type="http://schemas.openxmlformats.org/officeDocument/2006/relationships/slide" Target="slides/slide41.xml"/><Relationship Id="rId53" Type="http://schemas.openxmlformats.org/officeDocument/2006/relationships/slide" Target="slides/slide42.xml"/><Relationship Id="rId54" Type="http://schemas.openxmlformats.org/officeDocument/2006/relationships/slide" Target="slides/slide43.xml"/><Relationship Id="rId55" Type="http://schemas.openxmlformats.org/officeDocument/2006/relationships/slide" Target="slides/slide44.xml"/><Relationship Id="rId56" Type="http://schemas.openxmlformats.org/officeDocument/2006/relationships/slide" Target="slides/slide45.xml"/><Relationship Id="rId57" Type="http://schemas.openxmlformats.org/officeDocument/2006/relationships/slide" Target="slides/slide46.xml"/><Relationship Id="rId58" Type="http://schemas.openxmlformats.org/officeDocument/2006/relationships/slide" Target="slides/slide47.xml"/><Relationship Id="rId59" Type="http://schemas.openxmlformats.org/officeDocument/2006/relationships/slide" Target="slides/slide48.xml"/><Relationship Id="rId60" Type="http://schemas.openxmlformats.org/officeDocument/2006/relationships/slide" Target="slides/slide49.xml"/><Relationship Id="rId61" Type="http://schemas.openxmlformats.org/officeDocument/2006/relationships/slide" Target="slides/slide50.xml"/><Relationship Id="rId62" Type="http://schemas.openxmlformats.org/officeDocument/2006/relationships/slide" Target="slides/slide51.xml"/><Relationship Id="rId63" Type="http://schemas.openxmlformats.org/officeDocument/2006/relationships/slide" Target="slides/slide52.xml"/><Relationship Id="rId64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2776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C5076-C0D7-4AF2-9063-F1C0BF846D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2776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0DAB6-898C-4C02-A73E-0E0DF3713DD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1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3761DBF-6FEA-498D-A646-2CD9AE27086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1"/>
            <a:ext cx="5852160" cy="378047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1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2E8A083-D066-4100-8956-8C85C40E5EF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64021" y="4710779"/>
            <a:ext cx="6105219" cy="4461858"/>
          </a:xfrm>
          <a:prstGeom prst="rect">
            <a:avLst/>
          </a:prstGeom>
        </p:spPr>
        <p:txBody>
          <a:bodyPr/>
          <a:lstStyle/>
          <a:p>
            <a:endParaRPr lang="en-US">
              <a:latin typeface="Cambria" panose="02040503050406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816864" y="6299732"/>
            <a:ext cx="8327136" cy="55826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3657600" y="6545579"/>
            <a:ext cx="1674796" cy="28855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" y="6304483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" y="671779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9075" y="6432694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89075" y="753936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itle Placeholder 13"/>
          <p:cNvSpPr>
            <a:spLocks noGrp="1"/>
          </p:cNvSpPr>
          <p:nvPr>
            <p:ph type="title"/>
          </p:nvPr>
        </p:nvSpPr>
        <p:spPr>
          <a:xfrm>
            <a:off x="89076" y="0"/>
            <a:ext cx="8919466" cy="753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000" i="0">
                <a:solidFill>
                  <a:srgbClr val="002060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pic>
        <p:nvPicPr>
          <p:cNvPr id="3" name="Picture 2" descr="A close up of a 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89075" y="6492780"/>
            <a:ext cx="634076" cy="309971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 txBox="1"/>
          <p:nvPr userDrawn="1"/>
        </p:nvSpPr>
        <p:spPr>
          <a:xfrm>
            <a:off x="3124200" y="6516531"/>
            <a:ext cx="2895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>
                    <a:tint val="75000"/>
                  </a:prstClr>
                </a:solidFill>
              </a:rPr>
              <a:t>Confidential</a:t>
            </a:r>
            <a:endParaRPr 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1800" b="1" i="1" kern="1200">
          <a:solidFill>
            <a:srgbClr val="002060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.xml"/><Relationship Id="rId17" Type="http://schemas.microsoft.com/office/2007/relationships/hdphoto" Target="../media/image18.wdp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svg"/><Relationship Id="rId13" Type="http://schemas.openxmlformats.org/officeDocument/2006/relationships/image" Target="../media/image14.png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image" Target="../media/image11.svg"/><Relationship Id="rId1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0"/>
            <a:ext cx="9144001" cy="6858000"/>
          </a:xfrm>
          <a:prstGeom prst="rect">
            <a:avLst/>
          </a:prstGeom>
          <a:blipFill dpi="0" rotWithShape="1">
            <a:blip r:embed="rId1">
              <a:alphaModFix amt="15000"/>
            </a:blip>
            <a:srcRect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" y="2194914"/>
            <a:ext cx="9144000" cy="1784419"/>
          </a:xfrm>
          <a:prstGeom prst="rect">
            <a:avLst/>
          </a:prstGeom>
          <a:solidFill>
            <a:schemeClr val="bg1">
              <a:alpha val="7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vi-VN" sz="3200" b="1" i="0" u="none" strike="noStrike" kern="1200" cap="all" spc="0" normalizeH="0" baseline="0" noProof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576944" y="2724749"/>
            <a:ext cx="8224740" cy="927771"/>
          </a:xfrm>
          <a:prstGeom prst="roundRect">
            <a:avLst>
              <a:gd name="adj" fmla="val 8027"/>
            </a:avLst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cap="al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"Nano &amp; Chelated Mineral Supplements: $28.5B Market Opportunity in Aquaculture"</a:t>
            </a:r>
            <a:endParaRPr kumimoji="0" lang="vi-VN" sz="4000" b="1" i="0" u="none" strike="noStrike" kern="1200" cap="all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9250" y="557013"/>
            <a:ext cx="1568536" cy="1189113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17092" y="522126"/>
            <a:ext cx="1568536" cy="1224000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171" y="522126"/>
            <a:ext cx="1568536" cy="1189113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81329" y="522126"/>
            <a:ext cx="1568536" cy="1224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5930" y="539716"/>
            <a:ext cx="855176" cy="12237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72252" y="4174002"/>
            <a:ext cx="5429432" cy="2002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kumimoji="0" lang="en-US" sz="1200" b="1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SimSun" panose="02010600030101010101" pitchFamily="2" charset="-122"/>
                <a:cs typeface="Calibri" panose="020F0502020204030204" pitchFamily="34" charset="0"/>
              </a:rPr>
              <a:t>REP. OFFICE</a:t>
            </a: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:</a:t>
            </a:r>
            <a:r>
              <a:rPr lang="en-US" sz="1200" b="1" i="1" dirty="0">
                <a:solidFill>
                  <a:srgbClr val="002060"/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i="1" dirty="0">
                <a:solidFill>
                  <a:srgbClr val="4F81BD">
                    <a:lumMod val="50000"/>
                  </a:srgbClr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latin typeface="+mj-lt"/>
              </a:rPr>
              <a:t>2A Phan Ke Binh, Tan Dinh Ward, Ho Chi Minh City, Viet Nam</a:t>
            </a:r>
            <a:endParaRPr lang="en-US" sz="1200" b="1" dirty="0">
              <a:latin typeface="+mj-lt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1: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Hoa Trung Industrial Zone, Hoa Trung Hamlet, Luong The Tran Commune, Ca Mau Province, Viet Nam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2:</a:t>
            </a:r>
            <a:r>
              <a:rPr lang="en-US" sz="1200" b="1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Song Hau Industrial Park, Chau Thanh Commune, Can Tho City, Viet Nam</a:t>
            </a:r>
            <a:endParaRPr lang="en-US" sz="1200" b="1" u="sng" dirty="0">
              <a:solidFill>
                <a:srgbClr val="002060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PHONE: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(+84) 28 3911 2183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WEBSITE: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www.vnfoods.vn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</p:txBody>
      </p:sp>
      <p:pic>
        <p:nvPicPr>
          <p:cNvPr id="8" name="Graphic 7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5000256"/>
            <a:ext cx="274320" cy="274320"/>
          </a:xfrm>
          <a:prstGeom prst="rect">
            <a:avLst/>
          </a:prstGeom>
        </p:spPr>
      </p:pic>
      <p:pic>
        <p:nvPicPr>
          <p:cNvPr id="12" name="Graphic 11" descr="Schoolhouse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41666" y="4211426"/>
            <a:ext cx="274320" cy="274320"/>
          </a:xfrm>
          <a:prstGeom prst="rect">
            <a:avLst/>
          </a:prstGeom>
        </p:spPr>
      </p:pic>
      <p:pic>
        <p:nvPicPr>
          <p:cNvPr id="15" name="Graphic 14" descr="Telephone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35537" y="5584913"/>
            <a:ext cx="274320" cy="274320"/>
          </a:xfrm>
          <a:prstGeom prst="rect">
            <a:avLst/>
          </a:prstGeom>
        </p:spPr>
      </p:pic>
      <p:pic>
        <p:nvPicPr>
          <p:cNvPr id="18" name="Graphic 17" descr="Worl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33379" y="5871023"/>
            <a:ext cx="274320" cy="274320"/>
          </a:xfrm>
          <a:prstGeom prst="rect">
            <a:avLst/>
          </a:prstGeom>
        </p:spPr>
      </p:pic>
      <p:pic>
        <p:nvPicPr>
          <p:cNvPr id="26" name="Graphic 25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4468795"/>
            <a:ext cx="274320" cy="2743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 cstate="print"/>
          <a:srcRect/>
          <a:stretch>
            <a:fillRect/>
          </a:stretch>
        </p:blipFill>
        <p:spPr>
          <a:xfrm>
            <a:off x="430956" y="4749903"/>
            <a:ext cx="2189001" cy="10812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33731" y="6516531"/>
            <a:ext cx="1276539" cy="25243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</a:t>
            </a:r>
            <a:endParaRPr lang="en-US" sz="1200" b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5000" contrast="5000"/>
                    </a14:imgEffect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64037" y="6110181"/>
            <a:ext cx="1906406" cy="7560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102" name="AgendaRow1"/>
          <p:cNvSpPr/>
          <p:nvPr/>
        </p:nvSpPr>
        <p:spPr>
          <a:xfrm>
            <a:off x="1000000" y="162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AgendaNum1"/>
          <p:cNvSpPr/>
          <p:nvPr/>
        </p:nvSpPr>
        <p:spPr>
          <a:xfrm>
            <a:off x="10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4" name="AgendaTxt1"/>
          <p:cNvSpPr txBox="1"/>
          <p:nvPr/>
        </p:nvSpPr>
        <p:spPr>
          <a:xfrm>
            <a:off x="16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Tổng quan khoa học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</a:t>
            </a:r>
          </a:p>
        </p:txBody>
      </p:sp>
      <p:sp>
        <p:nvSpPr>
          <p:cNvPr id="105" name="AgendaRow2"/>
          <p:cNvSpPr/>
          <p:nvPr/>
        </p:nvSpPr>
        <p:spPr>
          <a:xfrm>
            <a:off x="1000000" y="234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AgendaNum2"/>
          <p:cNvSpPr/>
          <p:nvPr/>
        </p:nvSpPr>
        <p:spPr>
          <a:xfrm>
            <a:off x="10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7" name="AgendaTxt2"/>
          <p:cNvSpPr txBox="1"/>
          <p:nvPr/>
        </p:nvSpPr>
        <p:spPr>
          <a:xfrm>
            <a:off x="16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Công nghệ nano và chelat hóa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9</a:t>
            </a:r>
          </a:p>
        </p:txBody>
      </p:sp>
      <p:sp>
        <p:nvSpPr>
          <p:cNvPr id="108" name="AgendaRow3"/>
          <p:cNvSpPr/>
          <p:nvPr/>
        </p:nvSpPr>
        <p:spPr>
          <a:xfrm>
            <a:off x="10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AgendaNum3"/>
          <p:cNvSpPr/>
          <p:nvPr/>
        </p:nvSpPr>
        <p:spPr>
          <a:xfrm>
            <a:off x="10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0" name="AgendaTxt3"/>
          <p:cNvSpPr txBox="1"/>
          <p:nvPr/>
        </p:nvSpPr>
        <p:spPr>
          <a:xfrm>
            <a:off x="16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Cơ hội công nghiệp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21</a:t>
            </a:r>
          </a:p>
        </p:txBody>
      </p:sp>
      <p:sp>
        <p:nvSpPr>
          <p:cNvPr id="111" name="AgendaRow4"/>
          <p:cNvSpPr/>
          <p:nvPr/>
        </p:nvSpPr>
        <p:spPr>
          <a:xfrm>
            <a:off x="1000000" y="378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AgendaNum4"/>
          <p:cNvSpPr/>
          <p:nvPr/>
        </p:nvSpPr>
        <p:spPr>
          <a:xfrm>
            <a:off x="10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3" name="AgendaTxt4"/>
          <p:cNvSpPr txBox="1"/>
          <p:nvPr/>
        </p:nvSpPr>
        <p:spPr>
          <a:xfrm>
            <a:off x="16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Thị trường và tiềm năng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31</a:t>
            </a:r>
          </a:p>
        </p:txBody>
      </p:sp>
      <p:sp>
        <p:nvSpPr>
          <p:cNvPr id="114" name="AgendaRow5"/>
          <p:cNvSpPr/>
          <p:nvPr/>
        </p:nvSpPr>
        <p:spPr>
          <a:xfrm>
            <a:off x="1000000" y="450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AgendaNum5"/>
          <p:cNvSpPr/>
          <p:nvPr/>
        </p:nvSpPr>
        <p:spPr>
          <a:xfrm>
            <a:off x="10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6" name="AgendaTxt5"/>
          <p:cNvSpPr txBox="1"/>
          <p:nvPr/>
        </p:nvSpPr>
        <p:spPr>
          <a:xfrm>
            <a:off x="16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Chiến lược phát triển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Strategic verdict: Market opportunity + recommended action</a:t>
            </a:r>
          </a:p>
        </p:txBody>
      </p:sp>
      <p:sp>
        <p:nvSpPr>
          <p:cNvPr id="202" name="Pillar1"/>
          <p:cNvSpPr/>
          <p:nvPr/>
        </p:nvSpPr>
        <p:spPr>
          <a:xfrm>
            <a:off x="4572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3" name="PillarBadge1"/>
          <p:cNvSpPr/>
          <p:nvPr/>
        </p:nvSpPr>
        <p:spPr>
          <a:xfrm>
            <a:off x="6604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4" name="PillarText1"/>
          <p:cNvSpPr txBox="1"/>
          <p:nvPr/>
        </p:nvSpPr>
        <p:spPr>
          <a:xfrm>
            <a:off x="6604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Market demand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Growing 15% YoY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Premium segment expanding</a:t>
            </a:r>
          </a:p>
        </p:txBody>
      </p:sp>
      <p:sp>
        <p:nvSpPr>
          <p:cNvPr id="205" name="Pillar2"/>
          <p:cNvSpPr/>
          <p:nvPr/>
        </p:nvSpPr>
        <p:spPr>
          <a:xfrm>
            <a:off x="33274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6" name="PillarBadge2"/>
          <p:cNvSpPr/>
          <p:nvPr/>
        </p:nvSpPr>
        <p:spPr>
          <a:xfrm>
            <a:off x="35306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7" name="PillarText2"/>
          <p:cNvSpPr txBox="1"/>
          <p:nvPr/>
        </p:nvSpPr>
        <p:spPr>
          <a:xfrm>
            <a:off x="35306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Regulatory push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New compliance requirements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Government incentives</a:t>
            </a:r>
          </a:p>
        </p:txBody>
      </p:sp>
      <p:sp>
        <p:nvSpPr>
          <p:cNvPr id="208" name="Pillar3"/>
          <p:cNvSpPr/>
          <p:nvPr/>
        </p:nvSpPr>
        <p:spPr>
          <a:xfrm>
            <a:off x="61976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9" name="PillarBadge3"/>
          <p:cNvSpPr/>
          <p:nvPr/>
        </p:nvSpPr>
        <p:spPr>
          <a:xfrm>
            <a:off x="64008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0" name="PillarText3"/>
          <p:cNvSpPr txBox="1"/>
          <p:nvPr/>
        </p:nvSpPr>
        <p:spPr>
          <a:xfrm>
            <a:off x="64008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Capability gaps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Technology adoption low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Skills shortage</a:t>
            </a:r>
          </a:p>
        </p:txBody>
      </p:sp>
      <p:sp>
        <p:nvSpPr>
          <p:cNvPr id="211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212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Kết luận: </a:t>
            </a:r>
            <a:r>
              <a:rPr lang="en-US" sz="1300" b="1" dirty="0">
                <a:solidFill>
                  <a:srgbClr val="002060"/>
                </a:solidFill>
                <a:latin typeface="Calibri"/>
              </a:rPr>
              <a:t>Focus on technology and training to capture market opportunity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Market size and growth trajectory</a:t>
            </a:r>
          </a:p>
        </p:txBody>
      </p:sp>
      <p:sp>
        <p:nvSpPr>
          <p:cNvPr id="3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TAM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$500B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Current/2030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Global market size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Projected growth to 2030</a:t>
            </a:r>
          </a:p>
        </p:txBody>
      </p:sp>
      <p:sp>
        <p:nvSpPr>
          <p:cNvPr id="3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CAGR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12%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Compound growth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Consistent annual growth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Drives investment confidence</a:t>
            </a:r>
          </a:p>
        </p:txBody>
      </p:sp>
      <p:sp>
        <p:nvSpPr>
          <p:cNvPr id="3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ADDRESSABLE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50%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Market segment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Key target segment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High opportunity potential</a:t>
            </a:r>
          </a:p>
        </p:txBody>
      </p:sp>
      <p:sp>
        <p:nvSpPr>
          <p:cNvPr id="10000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Market analysis</a:t>
            </a:r>
          </a:p>
        </p:txBody>
      </p:sp>
      <p:sp>
        <p:nvSpPr>
          <p:cNvPr id="10000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Scale of opportunity drives investment case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Top 3 opportunities for capture</a:t>
            </a:r>
          </a:p>
        </p:txBody>
      </p:sp>
      <p:sp>
        <p:nvSpPr>
          <p:cNvPr id="4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MARKET GAP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High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Unmet Demand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Identified underserved segments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Opportunity for differentiation</a:t>
            </a:r>
          </a:p>
        </p:txBody>
      </p:sp>
      <p:sp>
        <p:nvSpPr>
          <p:cNvPr id="4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COMPETITIVE ADVANTAGE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Strong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First-mover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Early adoption in key markets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Brand recognition</a:t>
            </a:r>
          </a:p>
        </p:txBody>
      </p:sp>
      <p:sp>
        <p:nvSpPr>
          <p:cNvPr id="4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TIMELINE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2025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Target Year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Phase 1: Market entry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Phase 2: Expansion</a:t>
            </a:r>
          </a:p>
        </p:txBody>
      </p:sp>
      <p:sp>
        <p:nvSpPr>
          <p:cNvPr id="10000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Strategic analysis</a:t>
            </a:r>
          </a:p>
        </p:txBody>
      </p:sp>
      <p:sp>
        <p:nvSpPr>
          <p:cNvPr id="10000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Prioritize highest-leverage plays first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Top 3 risks requiring mitigation</a:t>
            </a:r>
          </a:p>
        </p:txBody>
      </p:sp>
      <p:sp>
        <p:nvSpPr>
          <p:cNvPr id="5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REGULATORY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High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Compliance risks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Uncertain legal frameworks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Data sovereignty concerns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Audit readiness gaps</a:t>
            </a:r>
          </a:p>
        </p:txBody>
      </p:sp>
      <p:sp>
        <p:nvSpPr>
          <p:cNvPr id="5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TECHNICAL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Critical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Integration challenges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API compatibility issues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Performance bottlenecks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Security vulnerabilities</a:t>
            </a:r>
          </a:p>
        </p:txBody>
      </p:sp>
      <p:sp>
        <p:nvSpPr>
          <p:cNvPr id="5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MARKET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Moderate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Demand volatility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Customer adoption delays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Competitor landscape shifts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Pricing sensitivity</a:t>
            </a:r>
          </a:p>
        </p:txBody>
      </p:sp>
      <p:sp>
        <p:nvSpPr>
          <p:cNvPr id="10000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Risk assessment</a:t>
            </a:r>
          </a:p>
        </p:txBody>
      </p:sp>
      <p:sp>
        <p:nvSpPr>
          <p:cNvPr id="10000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De-risk before scaling commitment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Phân giai triển khai theo lộ trình 3 giai đoạn</a:t>
            </a:r>
          </a:p>
        </p:txBody>
      </p:sp>
      <p:sp>
        <p:nvSpPr>
          <p:cNvPr id="602" name="Pillar1"/>
          <p:cNvSpPr/>
          <p:nvPr/>
        </p:nvSpPr>
        <p:spPr>
          <a:xfrm>
            <a:off x="4572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3" name="PillarBadge1"/>
          <p:cNvSpPr/>
          <p:nvPr/>
        </p:nvSpPr>
        <p:spPr>
          <a:xfrm>
            <a:off x="6604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04" name="PillarText1"/>
          <p:cNvSpPr txBox="1"/>
          <p:nvPr/>
        </p:nvSpPr>
        <p:spPr>
          <a:xfrm>
            <a:off x="6604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Thời gian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Giai đoạn 1: Xác thực (6 tháng)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Giai đoạn 2: Thử nghiệm (12 tháng)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Giai đoạn 3: Mở rộng (18 tháng)</a:t>
            </a:r>
          </a:p>
        </p:txBody>
      </p:sp>
      <p:sp>
        <p:nvSpPr>
          <p:cNvPr id="605" name="Pillar2"/>
          <p:cNvSpPr/>
          <p:nvPr/>
        </p:nvSpPr>
        <p:spPr>
          <a:xfrm>
            <a:off x="33274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6" name="PillarBadge2"/>
          <p:cNvSpPr/>
          <p:nvPr/>
        </p:nvSpPr>
        <p:spPr>
          <a:xfrm>
            <a:off x="35306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07" name="PillarText2"/>
          <p:cNvSpPr txBox="1"/>
          <p:nvPr/>
        </p:nvSpPr>
        <p:spPr>
          <a:xfrm>
            <a:off x="35306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Ngân sách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Chi phí giai đoạn 1: 500.000 USD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Chi phí giai đoạn 2: 1.200.000 USD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Chi phí giai đoạn 3: 2.500.000 USD</a:t>
            </a:r>
          </a:p>
        </p:txBody>
      </p:sp>
      <p:sp>
        <p:nvSpPr>
          <p:cNvPr id="608" name="Pillar3"/>
          <p:cNvSpPr/>
          <p:nvPr/>
        </p:nvSpPr>
        <p:spPr>
          <a:xfrm>
            <a:off x="61976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9" name="PillarBadge3"/>
          <p:cNvSpPr/>
          <p:nvPr/>
        </p:nvSpPr>
        <p:spPr>
          <a:xfrm>
            <a:off x="64008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10" name="PillarText3"/>
          <p:cNvSpPr txBox="1"/>
          <p:nvPr/>
        </p:nvSpPr>
        <p:spPr>
          <a:xfrm>
            <a:off x="64008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Cột mốc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Hoàn thành xác thực công nghệ nano-SeNPs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Hoàn thành thử nghiệm với 3 loài cá/tôm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Mở rộng sản xuất tại Việt Nam, Ấn Độ, Ecuador</a:t>
            </a:r>
          </a:p>
        </p:txBody>
      </p:sp>
      <p:sp>
        <p:nvSpPr>
          <p:cNvPr id="611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612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Kết luận: </a:t>
            </a:r>
            <a:r>
              <a:rPr lang="en-US" sz="1300" b="1" dirty="0">
                <a:solidFill>
                  <a:srgbClr val="002060"/>
                </a:solidFill>
                <a:latin typeface="Calibri"/>
              </a:rPr>
              <a:t>Triển khai theo lộ trình 3 giai đoạn để tối ưu hóa nguồn lực và đảm bảo hiệu quả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Nano khoáng chất tăng trọng lượng lên 1.57 lần so với vô cơ (Eissa et al., 2023).</a:t>
            </a:r>
          </a:p>
        </p:txBody>
      </p:sp>
      <p:sp>
        <p:nvSpPr>
          <p:cNvPr id="7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Hiệu quả sinh trưởng cao hơn 1.5 lần</a:t>
            </a:r>
          </a:p>
        </p:txBody>
      </p:sp>
      <p:sp>
        <p:nvSpPr>
          <p:cNvPr id="7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Kích thước nano và diện tích bề mặt lớn</a:t>
            </a:r>
          </a:p>
        </p:txBody>
      </p:sp>
      <p:sp>
        <p:nvSpPr>
          <p:cNvPr id="7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Ứng dụng thực tế và hiệu quả</a:t>
            </a:r>
          </a:p>
        </p:txBody>
      </p:sp>
      <p:sp>
        <p:nvSpPr>
          <p:cNvPr id="7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Nano-SeNPs tại 0.75-1.0 mg/kg tăng trọng lượng lên 1.57 lần (Eissa et al., 2023)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 khoáng chất cải thiện sinh trưởng hơn vô cơ do kích thước nhỏ và diện tích bề mặt lớn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Nano-SeNPs tăng cường khả năng hấp thu dinh dưỡng và chuyển hóa năng lượng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Hiệu quả sinh trưởng cao hơn 1.5 lần chứng minh tính ưu việt của nano khoáng chất</a:t>
            </a:r>
          </a:p>
        </p:txBody>
      </p:sp>
      <p:sp>
        <p:nvSpPr>
          <p:cNvPr id="7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Kích thước nano (0.75-1.0 mg/kg) tăng diện tích bề mặt tương tác với tế bào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Diện tích bề mặt lớn của nano khoáng chất tăng khả năng hấp thu dinh dưỡng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 khoáng chất phân tán tốt hơn trong cơ thể so với vô cơ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Kích thước nano giúp nano khoáng chất tương tác hiệu quả hơn với tế bào</a:t>
            </a:r>
          </a:p>
        </p:txBody>
      </p:sp>
      <p:sp>
        <p:nvSpPr>
          <p:cNvPr id="7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 khoáng chất được sử dụng rộng rãi trong nông nghiệp và chăn nuôi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Nano-SeNPs cải thiện sinh trưởng của cây trồng và động vật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 khoáng chất có hiệu quả cao hơn vô cơ trong tăng trọng lượng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 khoáng chất là giải pháp tiên tiến cho sản xuất nông nghiệp bền vững</a:t>
            </a:r>
          </a:p>
        </p:txBody>
      </p:sp>
      <p:cxnSp>
        <p:nvCxnSpPr>
          <p:cNvPr id="708" name="PyramidConn1"/>
          <p:cNvCxnSpPr>
            <a:stCxn id="701" idx="2"/>
            <a:endCxn id="7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709" name="PyramidConn2"/>
          <p:cNvCxnSpPr>
            <a:stCxn id="701" idx="2"/>
            <a:endCxn id="7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710" name="PyramidConn3"/>
          <p:cNvCxnSpPr>
            <a:stCxn id="701" idx="2"/>
            <a:endCxn id="7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Chelat hóa khoáng chất giảm phân thải lên đến 40%</a:t>
            </a:r>
          </a:p>
        </p:txBody>
      </p:sp>
      <p:sp>
        <p:nvSpPr>
          <p:cNvPr id="8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Mạnh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Giảm phân thải lên đến 40% so với vô cơ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Công nghệ Chelat hóa khoáng chất hiệu quả</a:t>
            </a:r>
          </a:p>
        </p:txBody>
      </p:sp>
      <p:sp>
        <p:nvSpPr>
          <p:cNvPr id="8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Yếu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Chi phí triển khai có thể cao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Yêu cầu nghiên cứu sâu về tác động môi trường</a:t>
            </a:r>
          </a:p>
        </p:txBody>
      </p:sp>
      <p:sp>
        <p:nvSpPr>
          <p:cNvPr id="8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Cơ hội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Tăng cường ứng dụng trong ngành công nghiệp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Phát triển công nghệ Chelat hóa tiên tiến</a:t>
            </a:r>
          </a:p>
        </p:txBody>
      </p:sp>
      <p:sp>
        <p:nvSpPr>
          <p:cNvPr id="8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Thách thức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Đối thủ cạnh tranh có thể phát triển công nghệ tương tự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Yêu cầu tiêu chuẩn môi trường nghiêm ngặt</a:t>
            </a:r>
          </a:p>
        </p:txBody>
      </p:sp>
      <p:sp>
        <p:nvSpPr>
          <p:cNvPr id="10000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al., 2025</a:t>
            </a:r>
          </a:p>
        </p:txBody>
      </p:sp>
      <p:sp>
        <p:nvSpPr>
          <p:cNvPr id="10000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 hóa giúp giảm phân thải môi trường đáng kể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 khoáng chất giảm tỷ lệ tử vong sau thử nghiệm</a:t>
            </a:r>
          </a:p>
        </p:txBody>
      </p:sp>
      <p:sp>
        <p:nvSpPr>
          <p:cNvPr id="9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9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9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9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THẤP HIỆU QUẢ, CAO TỬ VONG</a:t>
            </a:r>
          </a:p>
        </p:txBody>
      </p:sp>
      <p:sp>
        <p:nvSpPr>
          <p:cNvPr id="9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CAO HIỆU QUẢ, CAO TỬ VONG</a:t>
            </a:r>
          </a:p>
        </p:txBody>
      </p:sp>
      <p:sp>
        <p:nvSpPr>
          <p:cNvPr id="9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THẤP HIỆU QUẢ, THẤP TỬ VONG</a:t>
            </a:r>
          </a:p>
        </p:txBody>
      </p:sp>
      <p:sp>
        <p:nvSpPr>
          <p:cNvPr id="9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CAO HIỆU QUẢ, THẤP TỬ VONG</a:t>
            </a:r>
          </a:p>
        </p:txBody>
      </p:sp>
      <p:sp>
        <p:nvSpPr>
          <p:cNvPr id="912" name="Bubble1"/>
          <p:cNvSpPr/>
          <p:nvPr/>
        </p:nvSpPr>
        <p:spPr>
          <a:xfrm>
            <a:off x="5700000" y="420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Nano-SeNPs</a:t>
            </a:r>
          </a:p>
        </p:txBody>
      </p:sp>
      <p:sp>
        <p:nvSpPr>
          <p:cNvPr id="913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TỶ LỆ TỬ VONG →</a:t>
            </a:r>
          </a:p>
        </p:txBody>
      </p:sp>
      <p:sp>
        <p:nvSpPr>
          <p:cNvPr id="914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HIỆU QUẢ SỨC KHỎE ↑</a:t>
            </a:r>
          </a:p>
        </p:txBody>
      </p:sp>
      <p:sp>
        <p:nvSpPr>
          <p:cNvPr id="10000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al., 2023</a:t>
            </a:r>
          </a:p>
        </p:txBody>
      </p:sp>
      <p:sp>
        <p:nvSpPr>
          <p:cNvPr id="10000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 khoáng chất cải thiện sức khỏe cá/tôm đáng kể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Chelat hóa khoáng chất tăng giá trị lên 2.5 lần so với vô cơ</a:t>
            </a:r>
          </a:p>
        </p:txBody>
      </p:sp>
      <p:sp>
        <p:nvSpPr>
          <p:cNvPr id="10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002" name="HvHeadOpt1"/>
          <p:cNvSpPr txBox="1"/>
          <p:nvPr/>
        </p:nvSpPr>
        <p:spPr>
          <a:xfrm>
            <a:off x="31572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CHELAT HÓA</a:t>
            </a:r>
          </a:p>
        </p:txBody>
      </p:sp>
      <p:sp>
        <p:nvSpPr>
          <p:cNvPr id="1003" name="HvHeadOpt2"/>
          <p:cNvSpPr txBox="1"/>
          <p:nvPr/>
        </p:nvSpPr>
        <p:spPr>
          <a:xfrm>
            <a:off x="59220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VÔ CƠ</a:t>
            </a:r>
          </a:p>
        </p:txBody>
      </p:sp>
      <p:sp>
        <p:nvSpPr>
          <p:cNvPr id="1004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Giá trị KD</a:t>
            </a:r>
          </a:p>
        </p:txBody>
      </p:sp>
      <p:sp>
        <p:nvSpPr>
          <p:cNvPr id="1005" name="HvCell1_1"/>
          <p:cNvSpPr txBox="1"/>
          <p:nvPr/>
        </p:nvSpPr>
        <p:spPr>
          <a:xfrm>
            <a:off x="31572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006" name="HvCell1_2"/>
          <p:cNvSpPr txBox="1"/>
          <p:nvPr/>
        </p:nvSpPr>
        <p:spPr>
          <a:xfrm>
            <a:off x="59220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Calibri"/>
              </a:rPr>
              <a:t>◔</a:t>
            </a:r>
          </a:p>
        </p:txBody>
      </p:sp>
      <p:sp>
        <p:nvSpPr>
          <p:cNvPr id="1007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Giá bán</a:t>
            </a:r>
          </a:p>
        </p:txBody>
      </p:sp>
      <p:sp>
        <p:nvSpPr>
          <p:cNvPr id="1008" name="HvCell2_1"/>
          <p:cNvSpPr txBox="1"/>
          <p:nvPr/>
        </p:nvSpPr>
        <p:spPr>
          <a:xfrm>
            <a:off x="31572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009" name="HvCell2_2"/>
          <p:cNvSpPr txBox="1"/>
          <p:nvPr/>
        </p:nvSpPr>
        <p:spPr>
          <a:xfrm>
            <a:off x="59220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Calibri"/>
              </a:rPr>
              <a:t>◔</a:t>
            </a:r>
          </a:p>
        </p:txBody>
      </p:sp>
      <p:sp>
        <p:nvSpPr>
          <p:cNvPr id="10001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McKinsey/BCG internal analysis</a:t>
            </a:r>
          </a:p>
        </p:txBody>
      </p:sp>
      <p:sp>
        <p:nvSpPr>
          <p:cNvPr id="10001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 hóa khoáng chất có giá trị kinh doanh cao hơn đáng kể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 khoáng chất giảm tỷ lệ chuyển hóa thức (FCR)</a:t>
            </a:r>
          </a:p>
        </p:txBody>
      </p:sp>
      <p:sp>
        <p:nvSpPr>
          <p:cNvPr id="1101" name="HeatCell1"/>
          <p:cNvSpPr txBox="1"/>
          <p:nvPr/>
        </p:nvSpPr>
        <p:spPr>
          <a:xfrm>
            <a:off x="1500000" y="1620000"/>
            <a:ext cx="2166666" cy="1400000"/>
          </a:xfrm>
          <a:prstGeom prst="rect">
            <a:avLst/>
          </a:prstGeom>
          <a:solidFill>
            <a:srgbClr val="7FB1D9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Tốt</a:t>
            </a:r>
          </a:p>
        </p:txBody>
      </p:sp>
      <p:sp>
        <p:nvSpPr>
          <p:cNvPr id="11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Tối ưu</a:t>
            </a:r>
          </a:p>
        </p:txBody>
      </p:sp>
      <p:sp>
        <p:nvSpPr>
          <p:cNvPr id="1103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Thấp</a:t>
            </a:r>
          </a:p>
        </p:txBody>
      </p:sp>
      <p:sp>
        <p:nvSpPr>
          <p:cNvPr id="1104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Trung bình</a:t>
            </a:r>
          </a:p>
        </p:txBody>
      </p:sp>
      <p:sp>
        <p:nvSpPr>
          <p:cNvPr id="1105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Cao</a:t>
            </a:r>
          </a:p>
        </p:txBody>
      </p:sp>
      <p:sp>
        <p:nvSpPr>
          <p:cNvPr id="1106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Thấp</a:t>
            </a:r>
          </a:p>
        </p:txBody>
      </p:sp>
      <p:sp>
        <p:nvSpPr>
          <p:cNvPr id="1107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Trung bình</a:t>
            </a:r>
          </a:p>
        </p:txBody>
      </p:sp>
      <p:sp>
        <p:nvSpPr>
          <p:cNvPr id="1108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Cao</a:t>
            </a:r>
          </a:p>
        </p:txBody>
      </p:sp>
      <p:sp>
        <p:nvSpPr>
          <p:cNvPr id="1109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Tác động</a:t>
            </a:r>
          </a:p>
        </p:txBody>
      </p:sp>
      <p:sp>
        <p:nvSpPr>
          <p:cNvPr id="1110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Xác suất</a:t>
            </a:r>
          </a:p>
        </p:txBody>
      </p:sp>
      <p:sp>
        <p:nvSpPr>
          <p:cNvPr id="10001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al., 2023</a:t>
            </a:r>
          </a:p>
        </p:txBody>
      </p:sp>
      <p:sp>
        <p:nvSpPr>
          <p:cNvPr id="10001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 khoáng chất cải thiện hiệu quả năng lượng đáng kể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Chelat hóa khoáng chất đáp ứng các tiêu chuẩn môi trường</a:t>
            </a:r>
          </a:p>
        </p:txBody>
      </p:sp>
      <p:sp>
        <p:nvSpPr>
          <p:cNvPr id="12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Phân thải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-40%</a:t>
            </a:r>
            <a:r>
              <a:rPr lang="en-US" sz="1100" b="1" dirty="0">
                <a:solidFill>
                  <a:srgbClr val="C00000"/>
                </a:solidFill>
                <a:latin typeface="Calibri"/>
              </a:rPr>
              <a:t> ▼ Giảm 40%</a:t>
            </a:r>
          </a:p>
        </p:txBody>
      </p:sp>
      <p:sp>
        <p:nvSpPr>
          <p:cNvPr id="12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Tiêu chuẩn môi trường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Đáp ứng</a:t>
            </a:r>
          </a:p>
        </p:txBody>
      </p:sp>
      <p:sp>
        <p:nvSpPr>
          <p:cNvPr id="1203" name="DriverL3_1_1"/>
          <p:cNvSpPr/>
          <p:nvPr/>
        </p:nvSpPr>
        <p:spPr>
          <a:xfrm>
            <a:off x="5300000" y="138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Chất lượng nước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Đạt yêu cầu</a:t>
            </a:r>
          </a:p>
        </p:txBody>
      </p:sp>
      <p:sp>
        <p:nvSpPr>
          <p:cNvPr id="1204" name="DriverL3_1_2"/>
          <p:cNvSpPr/>
          <p:nvPr/>
        </p:nvSpPr>
        <p:spPr>
          <a:xfrm>
            <a:off x="5300000" y="203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Chất lượng không khí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Đạt yêu cầu</a:t>
            </a:r>
          </a:p>
        </p:txBody>
      </p:sp>
      <p:sp>
        <p:nvSpPr>
          <p:cNvPr id="1208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Chi phí xử lý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Giảm</a:t>
            </a:r>
          </a:p>
        </p:txBody>
      </p:sp>
      <p:cxnSp>
        <p:nvCxnSpPr>
          <p:cNvPr id="1205" name="BranchRoot_1"/>
          <p:cNvCxnSpPr>
            <a:stCxn id="1201" idx="1"/>
            <a:endCxn id="12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206" name="BranchL2_1_1"/>
          <p:cNvCxnSpPr>
            <a:stCxn id="1202" idx="1"/>
            <a:endCxn id="1203" idx="3"/>
          </p:cNvCxnSpPr>
          <p:nvPr/>
        </p:nvCxnSpPr>
        <p:spPr>
          <a:xfrm flipV="1">
            <a:off x="4800000" y="165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207" name="BranchL2_1_2"/>
          <p:cNvCxnSpPr>
            <a:stCxn id="1202" idx="1"/>
            <a:endCxn id="1204" idx="3"/>
          </p:cNvCxnSpPr>
          <p:nvPr/>
        </p:nvCxnSpPr>
        <p:spPr>
          <a:xfrm>
            <a:off x="4800000" y="198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209" name="BranchRoot_2"/>
          <p:cNvCxnSpPr>
            <a:stCxn id="1201" idx="1"/>
            <a:endCxn id="1208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1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McKinsey/BCG internal analysis</a:t>
            </a:r>
          </a:p>
        </p:txBody>
      </p:sp>
      <p:sp>
        <p:nvSpPr>
          <p:cNvPr id="10001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 hóa khoáng chất giúp đáp ứng các yêu cầu môi trường nghiêm ngặt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 khoáng chất có hiệu quả cao nhất với tôm và tilapia</a:t>
            </a:r>
          </a:p>
        </p:txBody>
      </p:sp>
      <p:sp>
        <p:nvSpPr>
          <p:cNvPr id="13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Q1'24</a:t>
            </a:r>
          </a:p>
        </p:txBody>
      </p:sp>
      <p:sp>
        <p:nvSpPr>
          <p:cNvPr id="13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Q2'24</a:t>
            </a:r>
          </a:p>
        </p:txBody>
      </p:sp>
      <p:sp>
        <p:nvSpPr>
          <p:cNvPr id="13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Q3'24</a:t>
            </a:r>
          </a:p>
        </p:txBody>
      </p:sp>
      <p:sp>
        <p:nvSpPr>
          <p:cNvPr id="13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Q4'24</a:t>
            </a:r>
          </a:p>
        </p:txBody>
      </p:sp>
      <p:cxnSp>
        <p:nvCxnSpPr>
          <p:cNvPr id="1305" name="QGrid1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06" name="QGrid2"/>
          <p:cNvCxnSpPr>
    </p:cNvCxnSpPr>
          <p:nvPr/>
        </p:nvCxnSpPr>
        <p:spPr>
          <a:xfrm>
            <a:off x="54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1307" name="QGrid3"/>
          <p:cNvCxnSpPr>
    </p:cNvCxnSpPr>
          <p:nvPr/>
        </p:nvCxnSpPr>
        <p:spPr>
          <a:xfrm>
            <a:off x="707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13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Nghiên cứu nano khoáng chất</a:t>
            </a:r>
          </a:p>
        </p:txBody>
      </p:sp>
      <p:sp>
        <p:nvSpPr>
          <p:cNvPr id="1309" name="WsBar1_1"/>
          <p:cNvSpPr/>
          <p:nvPr/>
        </p:nvSpPr>
        <p:spPr>
          <a:xfrm>
            <a:off x="2245720" y="23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Phát triển công thức</a:t>
            </a:r>
          </a:p>
        </p:txBody>
      </p:sp>
      <p:sp>
        <p:nvSpPr>
          <p:cNvPr id="1310" name="Ms1_1"/>
          <p:cNvSpPr/>
          <p:nvPr/>
        </p:nvSpPr>
        <p:spPr>
          <a:xfrm>
            <a:off x="53240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11" name="MsLbl1_1"/>
          <p:cNvSpPr txBox="1"/>
          <p:nvPr/>
        </p:nvSpPr>
        <p:spPr>
          <a:xfrm>
            <a:off x="50828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700" dirty="0">
                <a:solidFill>
                  <a:srgbClr val="595959"/>
                </a:solidFill>
                <a:latin typeface="Calibri"/>
              </a:rPr>
              <a:t>Kiểm tra hiệu …</a:t>
            </a:r>
          </a:p>
        </p:txBody>
      </p:sp>
      <p:sp>
        <p:nvSpPr>
          <p:cNvPr id="1312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Chứng nhận sản phẩm</a:t>
            </a:r>
          </a:p>
        </p:txBody>
      </p:sp>
      <p:sp>
        <p:nvSpPr>
          <p:cNvPr id="1313" name="WsBar2_1"/>
          <p:cNvSpPr/>
          <p:nvPr/>
        </p:nvSpPr>
        <p:spPr>
          <a:xfrm>
            <a:off x="3870720" y="31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Lấy chứng chỉ</a:t>
            </a:r>
          </a:p>
        </p:txBody>
      </p:sp>
      <p:cxnSp>
        <p:nvCxnSpPr>
          <p:cNvPr id="1314" name="TodayLine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1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McKinsey/BCG internal analysis</a:t>
            </a:r>
          </a:p>
        </p:txBody>
      </p:sp>
      <p:sp>
        <p:nvSpPr>
          <p:cNvPr id="10001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 khoáng chất đặc biệt hiệu quả với các loài tôm và tilapia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Chelat hóa khoáng chất có giá trị kinh doanh cao nhất với các thị trường…</a:t>
            </a:r>
          </a:p>
        </p:txBody>
      </p:sp>
      <p:sp>
        <p:nvSpPr>
          <p:cNvPr id="14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4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4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4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409" name="RadarTarget"/>
          <p:cNvSpPr/>
          <p:nvPr/>
        </p:nvSpPr>
        <p:spPr>
          <a:xfrm>
            <a:off x="2352923" y="1920000"/>
            <a:ext cx="2805923" cy="2700000"/>
          </a:xfrm>
          <a:custGeom>
            <a:avLst/>
            <a:gdLst/>
            <a:ahLst/>
            <a:cxnLst/>
            <a:rect l="0" t="0" r="2805923" b="2700000"/>
            <a:pathLst>
              <a:path w="2805923" h="2700000">
                <a:moveTo>
                  <a:pt x="1247077" y="0"/>
                </a:moveTo>
                <a:lnTo>
                  <a:pt x="2805923" y="2700000"/>
                </a:lnTo>
                <a:lnTo>
                  <a:pt x="0" y="252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0" name="RadarCurrent"/>
          <p:cNvSpPr/>
          <p:nvPr/>
        </p:nvSpPr>
        <p:spPr>
          <a:xfrm>
            <a:off x="2976462" y="2640000"/>
            <a:ext cx="1870615" cy="1800000"/>
          </a:xfrm>
          <a:custGeom>
            <a:avLst/>
            <a:gdLst/>
            <a:ahLst/>
            <a:cxnLst/>
            <a:rect l="0" t="0" r="1870615" b="1800000"/>
            <a:pathLst>
              <a:path w="1870615" h="1800000">
                <a:moveTo>
                  <a:pt x="623538" y="0"/>
                </a:moveTo>
                <a:lnTo>
                  <a:pt x="1870615" y="1800000"/>
                </a:lnTo>
                <a:lnTo>
                  <a:pt x="0" y="144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Tăng trưởng thị trường</a:t>
            </a:r>
          </a:p>
        </p:txBody>
      </p:sp>
      <p:sp>
        <p:nvSpPr>
          <p:cNvPr id="14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Giá trị kinh doanh</a:t>
            </a:r>
          </a:p>
        </p:txBody>
      </p:sp>
      <p:sp>
        <p:nvSpPr>
          <p:cNvPr id="14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Độ phát triển</a:t>
            </a:r>
          </a:p>
        </p:txBody>
      </p:sp>
      <p:sp>
        <p:nvSpPr>
          <p:cNvPr id="14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14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14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Chelat hóa khoáng chất phù hợp với thị trường phát triển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Ưu tiên các thị trường như Việt Nam, Ấn Độ và Ecuador</a:t>
            </a:r>
          </a:p>
        </p:txBody>
      </p:sp>
      <p:sp>
        <p:nvSpPr>
          <p:cNvPr id="10001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McKinsey/BCG internal analysis</a:t>
            </a:r>
          </a:p>
        </p:txBody>
      </p:sp>
      <p:sp>
        <p:nvSpPr>
          <p:cNvPr id="10001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 hóa khoáng chất là giải pháp lý tưởng cho các thị trường phát triển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Nano khoáng chất tăng trọng lượng lên 1.57 lần so với vô cơ, giảm tử vong 42% điểm.</a:t>
            </a:r>
          </a:p>
        </p:txBody>
      </p:sp>
      <p:sp>
        <p:nvSpPr>
          <p:cNvPr id="15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Hiệu quả sinh trưởng vượt trội</a:t>
            </a:r>
          </a:p>
        </p:txBody>
      </p:sp>
      <p:sp>
        <p:nvSpPr>
          <p:cNvPr id="15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Ứng dụng thực tế cao</a:t>
            </a:r>
          </a:p>
        </p:txBody>
      </p:sp>
      <p:sp>
        <p:nvSpPr>
          <p:cNvPr id="15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Tiềm năng nghiên cứu sâu</a:t>
            </a:r>
          </a:p>
        </p:txBody>
      </p:sp>
      <p:sp>
        <p:nvSpPr>
          <p:cNvPr id="15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Nano-SeNPs tại 0.75–1.0 mg/kg tăng trọng lượng lên 1.57 lần so với vô cơ.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Giảm tỷ lệ tử vong sau thử nghiệm 42% điểm.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Hiệu quả vượt trội so với khoáng chất vô cơ truyền thống.</a:t>
            </a:r>
          </a:p>
        </p:txBody>
      </p:sp>
      <p:sp>
        <p:nvSpPr>
          <p:cNvPr id="15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 khoáng chất có thể được sử dụng trong nông nghiệp bền vững.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Tăng cường sinh trưởng của cây trồng với liều lượng thấp.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Giảm thiểu tác động môi trường so với khoáng chất vô cơ.</a:t>
            </a:r>
          </a:p>
        </p:txBody>
      </p:sp>
      <p:sp>
        <p:nvSpPr>
          <p:cNvPr id="15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Nano-SeNPs là một lĩnh vực mới với nhiều tiềm năng nghiên cứu.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Cần nghiên cứu thêm về cơ chế tác động của nano khoáng chất.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Tác động lâu dài của nano khoáng chất trên sinh thái cần được đánh giá.</a:t>
            </a:r>
          </a:p>
        </p:txBody>
      </p:sp>
      <p:cxnSp>
        <p:nvCxnSpPr>
          <p:cNvPr id="1508" name="PyramidConn1"/>
          <p:cNvCxnSpPr>
            <a:stCxn id="1501" idx="2"/>
            <a:endCxn id="15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509" name="PyramidConn2"/>
          <p:cNvCxnSpPr>
            <a:stCxn id="1501" idx="2"/>
            <a:endCxn id="15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510" name="PyramidConn3"/>
          <p:cNvCxnSpPr>
            <a:stCxn id="1501" idx="2"/>
            <a:endCxn id="15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Chelat hóa khoáng chất giảm phân thải lên đến 40% so với vô cơ</a:t>
            </a:r>
          </a:p>
        </p:txBody>
      </p:sp>
      <p:sp>
        <p:nvSpPr>
          <p:cNvPr id="16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Điểm mạnh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Giảm lượng phân thải lên đến 40% so với vô cơ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Giải pháp hiệu quả giảm tác động môi trường</a:t>
            </a:r>
          </a:p>
        </p:txBody>
      </p:sp>
      <p:sp>
        <p:nvSpPr>
          <p:cNvPr id="16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Điểm yếu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Cần nghiên cứu thêm về tính ổn định và khả năng tái chế</a:t>
            </a:r>
          </a:p>
        </p:txBody>
      </p:sp>
      <p:sp>
        <p:nvSpPr>
          <p:cNvPr id="16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Cơ hội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Áp dụng rộng rãi trong các ngành công nghiệp cần giảm thiểu chất thải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Tiềm năng hợp tác với các nhà sản xuất khoáng chất</a:t>
            </a:r>
          </a:p>
        </p:txBody>
      </p:sp>
      <p:sp>
        <p:nvSpPr>
          <p:cNvPr id="16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Thách thức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Chi phí phát triển và triển khai có thể cao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Yêu cầu tiêu chuẩn hóa để đảm bảo hiệu quả</a:t>
            </a:r>
          </a:p>
        </p:txBody>
      </p:sp>
      <p:sp>
        <p:nvSpPr>
          <p:cNvPr id="10001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Huang et al., 2025</a:t>
            </a:r>
          </a:p>
        </p:txBody>
      </p:sp>
      <p:sp>
        <p:nvSpPr>
          <p:cNvPr id="10001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 hóa là giải pháp hiệu quả để giảm thiểu tác động môi trường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7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 khoáng chất giảm tỷ lệ tử vong sau thử nghiệm lên đến 42% điểm</a:t>
            </a:r>
          </a:p>
        </p:txBody>
      </p:sp>
      <p:graphicFrame>
        <p:nvGraphicFramePr>
          <p:cNvPr id="1701" name="DataTable"/>
          <p:cNvGraphicFramePr>
            <a:graphicFrameLocks noGrp="1"/>
          </p:cNvGraphicFramePr>
          <p:nvPr/>
        </p:nvGraphicFramePr>
        <p:xfrm>
          <a:off x="457200" y="1651000"/>
          <a:ext cx="8229600" cy="1100000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41148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Nano khoáng chất giảm tỷ lệ tử vong sau thử nghiệm lên đến 42% điểm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Key Finding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Nano khoáng chất cải thiện đáng kể sức khỏe cá và tôm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17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Eissa et al., 2023</a:t>
            </a:r>
          </a:p>
        </p:txBody>
      </p:sp>
      <p:sp>
        <p:nvSpPr>
          <p:cNvPr id="100017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7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 khoáng chất cải thiện đáng kể sức khỏe cá và tôm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Chelat hóa khoáng chất tăng giá trị lên 1.5–2.5 lần so với vô cơ</a:t>
            </a:r>
          </a:p>
        </p:txBody>
      </p:sp>
      <p:sp>
        <p:nvSpPr>
          <p:cNvPr id="18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1802" name="HvHeadOpt1"/>
          <p:cNvSpPr txBox="1"/>
          <p:nvPr/>
        </p:nvSpPr>
        <p:spPr>
          <a:xfrm>
            <a:off x="31572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CHELAT HÓA</a:t>
            </a:r>
          </a:p>
        </p:txBody>
      </p:sp>
      <p:sp>
        <p:nvSpPr>
          <p:cNvPr id="1803" name="HvHeadOpt2"/>
          <p:cNvSpPr txBox="1"/>
          <p:nvPr/>
        </p:nvSpPr>
        <p:spPr>
          <a:xfrm>
            <a:off x="59220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VÔ CƠ</a:t>
            </a:r>
          </a:p>
        </p:txBody>
      </p:sp>
      <p:sp>
        <p:nvSpPr>
          <p:cNvPr id="1804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Giá trị KD</a:t>
            </a:r>
          </a:p>
        </p:txBody>
      </p:sp>
      <p:sp>
        <p:nvSpPr>
          <p:cNvPr id="1805" name="HvCell1_1"/>
          <p:cNvSpPr txBox="1"/>
          <p:nvPr/>
        </p:nvSpPr>
        <p:spPr>
          <a:xfrm>
            <a:off x="31572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806" name="HvCell1_2"/>
          <p:cNvSpPr txBox="1"/>
          <p:nvPr/>
        </p:nvSpPr>
        <p:spPr>
          <a:xfrm>
            <a:off x="59220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1807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Giá bán (USD/kg)</a:t>
            </a:r>
          </a:p>
        </p:txBody>
      </p:sp>
      <p:sp>
        <p:nvSpPr>
          <p:cNvPr id="1808" name="HvCell2_1"/>
          <p:cNvSpPr txBox="1"/>
          <p:nvPr/>
        </p:nvSpPr>
        <p:spPr>
          <a:xfrm>
            <a:off x="31572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1809" name="HvCell2_2"/>
          <p:cNvSpPr txBox="1"/>
          <p:nvPr/>
        </p:nvSpPr>
        <p:spPr>
          <a:xfrm>
            <a:off x="59220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10001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Dự án phân tích</a:t>
            </a:r>
          </a:p>
        </p:txBody>
      </p:sp>
      <p:sp>
        <p:nvSpPr>
          <p:cNvPr id="10001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 hóa khoáng chất mang lại giá trị kinh doanh cao hơn đáng kể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 khoáng chất tăng giá trị lên 2.0–3.0 lần so với chelat hóa</a:t>
            </a:r>
          </a:p>
        </p:txBody>
      </p:sp>
      <p:sp>
        <p:nvSpPr>
          <p:cNvPr id="1901" name="HeatCell1"/>
          <p:cNvSpPr txBox="1"/>
          <p:nvPr/>
        </p:nvSpPr>
        <p:spPr>
          <a:xfrm>
            <a:off x="5833332" y="1620000"/>
            <a:ext cx="2166666" cy="140000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Cao nhất</a:t>
            </a:r>
          </a:p>
        </p:txBody>
      </p:sp>
      <p:sp>
        <p:nvSpPr>
          <p:cNvPr id="19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7FB1D9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Trung bình</a:t>
            </a:r>
          </a:p>
        </p:txBody>
      </p:sp>
      <p:sp>
        <p:nvSpPr>
          <p:cNvPr id="1903" name="HeatCell3"/>
          <p:cNvSpPr txBox="1"/>
          <p:nvPr/>
        </p:nvSpPr>
        <p:spPr>
          <a:xfrm>
            <a:off x="1500000" y="4420000"/>
            <a:ext cx="2166666" cy="1400000"/>
          </a:xfrm>
          <a:prstGeom prst="rect">
            <a:avLst/>
          </a:prstGeom>
          <a:solidFill>
            <a:srgbClr val="BFD8EC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Thấp</a:t>
            </a:r>
          </a:p>
        </p:txBody>
      </p:sp>
      <p:sp>
        <p:nvSpPr>
          <p:cNvPr id="1904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Thấp</a:t>
            </a:r>
          </a:p>
        </p:txBody>
      </p:sp>
      <p:sp>
        <p:nvSpPr>
          <p:cNvPr id="1905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Trung bình</a:t>
            </a:r>
          </a:p>
        </p:txBody>
      </p:sp>
      <p:sp>
        <p:nvSpPr>
          <p:cNvPr id="1906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Cao</a:t>
            </a:r>
          </a:p>
        </p:txBody>
      </p:sp>
      <p:sp>
        <p:nvSpPr>
          <p:cNvPr id="1907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Thấp</a:t>
            </a:r>
          </a:p>
        </p:txBody>
      </p:sp>
      <p:sp>
        <p:nvSpPr>
          <p:cNvPr id="1908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Trung bình</a:t>
            </a:r>
          </a:p>
        </p:txBody>
      </p:sp>
      <p:sp>
        <p:nvSpPr>
          <p:cNvPr id="1909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Cao</a:t>
            </a:r>
          </a:p>
        </p:txBody>
      </p:sp>
      <p:sp>
        <p:nvSpPr>
          <p:cNvPr id="1910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Giá trị kinh doanh</a:t>
            </a:r>
          </a:p>
        </p:txBody>
      </p:sp>
      <p:sp>
        <p:nvSpPr>
          <p:cNvPr id="1911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Hiệu quả sử dụng</a:t>
            </a:r>
          </a:p>
        </p:txBody>
      </p:sp>
      <p:sp>
        <p:nvSpPr>
          <p:cNvPr id="10001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Dự án phân tích</a:t>
            </a:r>
          </a:p>
        </p:txBody>
      </p:sp>
      <p:sp>
        <p:nvSpPr>
          <p:cNvPr id="10001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 khoáng chất mang lại giá trị kinh doanh cao nhất trong ba dạng khoáng chất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 khoáng chất giảm tỷ lệ chuyển hóa thức (FCR) từ 1.60 xuống 1.15</a:t>
            </a:r>
          </a:p>
        </p:txBody>
      </p:sp>
      <p:sp>
        <p:nvSpPr>
          <p:cNvPr id="20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Tỷ lệ FCR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1.15</a:t>
            </a:r>
            <a:r>
              <a:rPr lang="en-US" sz="1100" b="1" dirty="0">
                <a:solidFill>
                  <a:srgbClr val="C00000"/>
                </a:solidFill>
                <a:latin typeface="Calibri"/>
              </a:rPr>
              <a:t> ▼ -30%</a:t>
            </a:r>
          </a:p>
        </p:txBody>
      </p:sp>
      <p:sp>
        <p:nvSpPr>
          <p:cNvPr id="20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Nano-SeNPs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Giảm FCR</a:t>
            </a:r>
          </a:p>
        </p:txBody>
      </p:sp>
      <p:sp>
        <p:nvSpPr>
          <p:cNvPr id="2003" name="DriverL3_1_1"/>
          <p:cNvSpPr/>
          <p:nvPr/>
        </p:nvSpPr>
        <p:spPr>
          <a:xfrm>
            <a:off x="5300000" y="138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Hiệu quả thức ăn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Cải thiện</a:t>
            </a:r>
          </a:p>
        </p:txBody>
      </p:sp>
      <p:sp>
        <p:nvSpPr>
          <p:cNvPr id="2004" name="DriverL3_1_2"/>
          <p:cNvSpPr/>
          <p:nvPr/>
        </p:nvSpPr>
        <p:spPr>
          <a:xfrm>
            <a:off x="5300000" y="203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Tiết kiệm năng lượng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Tăng</a:t>
            </a:r>
          </a:p>
        </p:txBody>
      </p:sp>
      <p:cxnSp>
        <p:nvCxnSpPr>
          <p:cNvPr id="2005" name="BranchRoot_1"/>
          <p:cNvCxnSpPr>
            <a:stCxn id="2001" idx="1"/>
            <a:endCxn id="20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06" name="BranchL2_1_1"/>
          <p:cNvCxnSpPr>
            <a:stCxn id="2002" idx="1"/>
            <a:endCxn id="2003" idx="3"/>
          </p:cNvCxnSpPr>
          <p:nvPr/>
        </p:nvCxnSpPr>
        <p:spPr>
          <a:xfrm flipV="1">
            <a:off x="4800000" y="165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07" name="BranchL2_1_2"/>
          <p:cNvCxnSpPr>
            <a:stCxn id="2002" idx="1"/>
            <a:endCxn id="2004" idx="3"/>
          </p:cNvCxnSpPr>
          <p:nvPr/>
        </p:nvCxnSpPr>
        <p:spPr>
          <a:xfrm>
            <a:off x="4800000" y="198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2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Eissa et al., 2023</a:t>
            </a:r>
          </a:p>
        </p:txBody>
      </p:sp>
      <p:sp>
        <p:nvSpPr>
          <p:cNvPr id="10002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 khoáng chất cải thiện đáng kể hiệu quả chuyển hóa thức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Chelat hóa khoáng chất giảm tỷ lệ tử vong sau thử nghiệm lên đến 40% điểm</a:t>
            </a:r>
          </a:p>
        </p:txBody>
      </p:sp>
      <p:sp>
        <p:nvSpPr>
          <p:cNvPr id="21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Q1'24</a:t>
            </a:r>
          </a:p>
        </p:txBody>
      </p:sp>
      <p:sp>
        <p:nvSpPr>
          <p:cNvPr id="21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Q2'24</a:t>
            </a:r>
          </a:p>
        </p:txBody>
      </p:sp>
      <p:sp>
        <p:nvSpPr>
          <p:cNvPr id="21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Q3'24</a:t>
            </a:r>
          </a:p>
        </p:txBody>
      </p:sp>
      <p:sp>
        <p:nvSpPr>
          <p:cNvPr id="21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Q4'24</a:t>
            </a:r>
          </a:p>
        </p:txBody>
      </p:sp>
      <p:cxnSp>
        <p:nvCxnSpPr>
          <p:cNvPr id="2105" name="QGrid1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106" name="QGrid2"/>
          <p:cNvCxnSpPr>
    </p:cNvCxnSpPr>
          <p:nvPr/>
        </p:nvCxnSpPr>
        <p:spPr>
          <a:xfrm>
            <a:off x="54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2107" name="QGrid3"/>
          <p:cNvCxnSpPr>
    </p:cNvCxnSpPr>
          <p:nvPr/>
        </p:nvCxnSpPr>
        <p:spPr>
          <a:xfrm>
            <a:off x="707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21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Nghiên cứu chelat hóa</a:t>
            </a:r>
          </a:p>
        </p:txBody>
      </p:sp>
      <p:sp>
        <p:nvSpPr>
          <p:cNvPr id="2109" name="WsBar1_1"/>
          <p:cNvSpPr/>
          <p:nvPr/>
        </p:nvSpPr>
        <p:spPr>
          <a:xfrm>
            <a:off x="2245720" y="23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Thử nghiệm giảm tử vong</a:t>
            </a:r>
          </a:p>
        </p:txBody>
      </p:sp>
      <p:sp>
        <p:nvSpPr>
          <p:cNvPr id="2110" name="Ms1_1"/>
          <p:cNvSpPr/>
          <p:nvPr/>
        </p:nvSpPr>
        <p:spPr>
          <a:xfrm>
            <a:off x="53240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11" name="MsLbl1_1"/>
          <p:cNvSpPr txBox="1"/>
          <p:nvPr/>
        </p:nvSpPr>
        <p:spPr>
          <a:xfrm>
            <a:off x="50828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Kết quả 40%</a:t>
            </a:r>
          </a:p>
        </p:txBody>
      </p:sp>
      <p:sp>
        <p:nvSpPr>
          <p:cNvPr id="2112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Ứng dụng thực tế</a:t>
            </a:r>
          </a:p>
        </p:txBody>
      </p:sp>
      <p:sp>
        <p:nvSpPr>
          <p:cNvPr id="2113" name="WsBar2_1"/>
          <p:cNvSpPr/>
          <p:nvPr/>
        </p:nvSpPr>
        <p:spPr>
          <a:xfrm>
            <a:off x="3870720" y="31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Triển khai thử nghiệm</a:t>
            </a:r>
          </a:p>
        </p:txBody>
      </p:sp>
      <p:cxnSp>
        <p:nvCxnSpPr>
          <p:cNvPr id="2114" name="TodayLine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2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Dự án phân tích</a:t>
            </a:r>
          </a:p>
        </p:txBody>
      </p:sp>
      <p:sp>
        <p:nvSpPr>
          <p:cNvPr id="10002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 hóa khoáng chất cải thiện đáng kể sức khỏe cá và tôm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 khoáng chất và chelat hóa chưa được bảo vệ bằng quyền sở hữu trí tuệ…</a:t>
            </a:r>
          </a:p>
        </p:txBody>
      </p:sp>
      <p:sp>
        <p:nvSpPr>
          <p:cNvPr id="22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2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22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22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2209" name="RadarTarget"/>
          <p:cNvSpPr/>
          <p:nvPr/>
        </p:nvSpPr>
        <p:spPr>
          <a:xfrm>
            <a:off x="2041154" y="2640000"/>
            <a:ext cx="2805923" cy="1980000"/>
          </a:xfrm>
          <a:custGeom>
            <a:avLst/>
            <a:gdLst/>
            <a:ahLst/>
            <a:cxnLst/>
            <a:rect l="0" t="0" r="2805923" b="1980000"/>
            <a:pathLst>
              <a:path w="2805923" h="1980000">
                <a:moveTo>
                  <a:pt x="1558846" y="0"/>
                </a:moveTo>
                <a:lnTo>
                  <a:pt x="2805923" y="1800000"/>
                </a:lnTo>
                <a:lnTo>
                  <a:pt x="0" y="198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0" name="RadarCurrent"/>
          <p:cNvSpPr/>
          <p:nvPr/>
        </p:nvSpPr>
        <p:spPr>
          <a:xfrm>
            <a:off x="2664693" y="3360000"/>
            <a:ext cx="1558845" cy="900000"/>
          </a:xfrm>
          <a:custGeom>
            <a:avLst/>
            <a:gdLst/>
            <a:ahLst/>
            <a:cxnLst/>
            <a:rect l="0" t="0" r="1558845" b="900000"/>
            <a:pathLst>
              <a:path w="1558845" h="900000">
                <a:moveTo>
                  <a:pt x="935307" y="0"/>
                </a:moveTo>
                <a:lnTo>
                  <a:pt x="1558845" y="720000"/>
                </a:lnTo>
                <a:lnTo>
                  <a:pt x="0" y="90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Sở hữu trí tuệ</a:t>
            </a:r>
          </a:p>
        </p:txBody>
      </p:sp>
      <p:sp>
        <p:nvSpPr>
          <p:cNvPr id="22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Công bố sáng chế</a:t>
            </a:r>
          </a:p>
        </p:txBody>
      </p:sp>
      <p:sp>
        <p:nvSpPr>
          <p:cNvPr id="22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Cơ hội thị trường</a:t>
            </a:r>
          </a:p>
        </p:txBody>
      </p:sp>
      <p:sp>
        <p:nvSpPr>
          <p:cNvPr id="22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22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22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Chỉ 311 công bố patent liên quan đến khoáng chất cho thủy sản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Tăng 340% từ 2015 đến 2025</a:t>
            </a:r>
          </a:p>
        </p:txBody>
      </p:sp>
      <p:sp>
        <p:nvSpPr>
          <p:cNvPr id="10002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Dự án phân tích</a:t>
            </a:r>
          </a:p>
        </p:txBody>
      </p:sp>
      <p:sp>
        <p:nvSpPr>
          <p:cNvPr id="10002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Cơ hội lớn cho các công ty mới trong lĩnh vực này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 khoáng chất và chelat hóa có thể giảm thiểu phân thải lên đến 40%</a:t>
            </a:r>
          </a:p>
        </p:txBody>
      </p:sp>
      <p:sp>
        <p:nvSpPr>
          <p:cNvPr id="2301" name="YCaption"/>
          <p:cNvSpPr txBox="1"/>
          <p:nvPr/>
        </p:nvSpPr>
        <p:spPr>
          <a:xfrm>
            <a:off x="230400" y="1360000"/>
            <a:ext cx="24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↑ MỨC ĐỘ ĐẦU TƯ</a:t>
            </a:r>
          </a:p>
        </p:txBody>
      </p:sp>
      <p:sp>
        <p:nvSpPr>
          <p:cNvPr id="2302" name="H1Curve"/>
          <p:cNvSpPr/>
          <p:nvPr/>
        </p:nvSpPr>
        <p:spPr>
          <a:xfrm>
            <a:off x="230400" y="4400000"/>
            <a:ext cx="2600000" cy="720000"/>
          </a:xfrm>
          <a:prstGeom prst="rightArrow">
            <a:avLst/>
          </a:prstGeom>
          <a:solidFill>
            <a:srgbClr val="002060">
              <a:alpha val="10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2303" name="H1Panel"/>
          <p:cNvSpPr/>
          <p:nvPr/>
        </p:nvSpPr>
        <p:spPr>
          <a:xfrm>
            <a:off x="6000000" y="162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HORIZON 1 · 0–6 THÁNG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Tối ưu công nghệ hiện tại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Giảm thiểu phân thải khoáng chất lên đến 40%</a:t>
            </a:r>
          </a:p>
        </p:txBody>
      </p:sp>
      <p:sp>
        <p:nvSpPr>
          <p:cNvPr id="2304" name="H2Curve"/>
          <p:cNvSpPr/>
          <p:nvPr/>
        </p:nvSpPr>
        <p:spPr>
          <a:xfrm>
            <a:off x="1700000" y="3200000"/>
            <a:ext cx="3300000" cy="720000"/>
          </a:xfrm>
          <a:prstGeom prst="rightArrow">
            <a:avLst/>
          </a:prstGeom>
          <a:solidFill>
            <a:srgbClr val="0070C0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2305" name="H2Panel"/>
          <p:cNvSpPr/>
          <p:nvPr/>
        </p:nvSpPr>
        <p:spPr>
          <a:xfrm>
            <a:off x="6000000" y="306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70C0"/>
                </a:solidFill>
                <a:latin typeface="Calibri"/>
              </a:rPr>
              <a:t>HORIZON 2 · 6–18 THÁNG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Xây dựng quy trình thương mại</a:t>
            </a:r>
          </a:p>
          <a:p>
            <a:pPr marL="171450" indent="-171450">
              <a:spcBef>
                <a:spcPts val="4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Đáp ứng tiêu chuẩn môi trường và thương mại</a:t>
            </a:r>
          </a:p>
        </p:txBody>
      </p:sp>
      <p:sp>
        <p:nvSpPr>
          <p:cNvPr id="2306" name="H3Curve"/>
          <p:cNvSpPr/>
          <p:nvPr/>
        </p:nvSpPr>
        <p:spPr>
          <a:xfrm>
            <a:off x="3300000" y="2000000"/>
            <a:ext cx="2900000" cy="720000"/>
          </a:xfrm>
          <a:prstGeom prst="rightArrow">
            <a:avLst/>
          </a:prstGeom>
          <a:solidFill>
            <a:srgbClr val="953735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2307" name="H3Panel"/>
          <p:cNvSpPr/>
          <p:nvPr/>
        </p:nvSpPr>
        <p:spPr>
          <a:xfrm>
            <a:off x="6000000" y="450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53735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953735"/>
                </a:solidFill>
                <a:latin typeface="Calibri"/>
              </a:rPr>
              <a:t>HORIZON 3 · 18+ THÁNG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Phát triển công nghệ tương lai</a:t>
            </a:r>
          </a:p>
          <a:p>
            <a:pPr marL="171450" indent="-171450">
              <a:spcBef>
                <a:spcPts val="4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Nghiên cứu ứng dụng rộng rãi của nano khoáng chất</a:t>
            </a:r>
          </a:p>
        </p:txBody>
      </p:sp>
      <p:sp>
        <p:nvSpPr>
          <p:cNvPr id="2308" name="XAxisLabel"/>
          <p:cNvSpPr txBox="1"/>
          <p:nvPr/>
        </p:nvSpPr>
        <p:spPr>
          <a:xfrm>
            <a:off x="230400" y="5940000"/>
            <a:ext cx="5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THỜI GIAN TRIỂN KHAI →</a:t>
            </a:r>
          </a:p>
        </p:txBody>
      </p:sp>
      <p:sp>
        <p:nvSpPr>
          <p:cNvPr id="10002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Huang et al., 2025</a:t>
            </a:r>
          </a:p>
        </p:txBody>
      </p:sp>
      <p:sp>
        <p:nvSpPr>
          <p:cNvPr id="10002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Công nghệ này đáp ứng các quy định về môi trường và tiêu chuẩn thương mại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 khoáng chất và chelat hóa có hiệu quả cao nhất với tôm và tilapia</a:t>
            </a:r>
          </a:p>
        </p:txBody>
      </p:sp>
      <p:cxnSp>
        <p:nvCxnSpPr>
          <p:cNvPr id="2401" name="LinkIn1"/>
          <p:cNvCxnSpPr>
    </p:cNvCxnSpPr>
          <p:nvPr/>
        </p:nvCxnSpPr>
        <p:spPr>
          <a:xfrm flipH="1" flipV="1">
            <a:off x="2350000" y="2060000"/>
            <a:ext cx="222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2" name="LinkIn2"/>
          <p:cNvCxnSpPr>
    </p:cNvCxnSpPr>
          <p:nvPr/>
        </p:nvCxnSpPr>
        <p:spPr>
          <a:xfrm flipV="1">
            <a:off x="4575000" y="2060000"/>
            <a:ext cx="187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3" name="LinkOut1"/>
          <p:cNvCxnSpPr>
    </p:cNvCxnSpPr>
          <p:nvPr/>
        </p:nvCxnSpPr>
        <p:spPr>
          <a:xfrm flipV="1">
            <a:off x="4575000" y="1595000"/>
            <a:ext cx="0" cy="1830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4" name="LinkOut3"/>
          <p:cNvCxnSpPr>
    </p:cNvCxnSpPr>
          <p:nvPr/>
        </p:nvCxnSpPr>
        <p:spPr>
          <a:xfrm>
            <a:off x="4575000" y="3425000"/>
            <a:ext cx="3450000" cy="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2405" name="LinkOut4"/>
          <p:cNvCxnSpPr>
    </p:cNvCxnSpPr>
          <p:nvPr/>
        </p:nvCxnSpPr>
        <p:spPr>
          <a:xfrm>
            <a:off x="4575000" y="3425000"/>
            <a:ext cx="2900000" cy="152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sp>
        <p:nvSpPr>
          <p:cNvPr id="2406" name="EcoInner1"/>
          <p:cNvSpPr/>
          <p:nvPr/>
        </p:nvSpPr>
        <p:spPr>
          <a:xfrm>
            <a:off x="17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Tôm</a:t>
            </a:r>
          </a:p>
        </p:txBody>
      </p:sp>
      <p:sp>
        <p:nvSpPr>
          <p:cNvPr id="2407" name="EcoInner2"/>
          <p:cNvSpPr/>
          <p:nvPr/>
        </p:nvSpPr>
        <p:spPr>
          <a:xfrm>
            <a:off x="58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Tilapia</a:t>
            </a:r>
          </a:p>
        </p:txBody>
      </p:sp>
      <p:sp>
        <p:nvSpPr>
          <p:cNvPr id="2408" name="EcoOuter1"/>
          <p:cNvSpPr/>
          <p:nvPr/>
        </p:nvSpPr>
        <p:spPr>
          <a:xfrm>
            <a:off x="4025000" y="132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Hiệu quả cao</a:t>
            </a:r>
          </a:p>
        </p:txBody>
      </p:sp>
      <p:sp>
        <p:nvSpPr>
          <p:cNvPr id="2409" name="EcoOuter3"/>
          <p:cNvSpPr/>
          <p:nvPr/>
        </p:nvSpPr>
        <p:spPr>
          <a:xfrm>
            <a:off x="7475000" y="315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Giảm tỷ lệ tử vong</a:t>
            </a:r>
          </a:p>
        </p:txBody>
      </p:sp>
      <p:sp>
        <p:nvSpPr>
          <p:cNvPr id="2410" name="EcoOuter4"/>
          <p:cNvSpPr/>
          <p:nvPr/>
        </p:nvSpPr>
        <p:spPr>
          <a:xfrm>
            <a:off x="6925000" y="4680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Dự án phân tích</a:t>
            </a:r>
          </a:p>
        </p:txBody>
      </p:sp>
      <p:sp>
        <p:nvSpPr>
          <p:cNvPr id="2411" name="EcoCenter"/>
          <p:cNvSpPr/>
          <p:nvPr/>
        </p:nvSpPr>
        <p:spPr>
          <a:xfrm>
            <a:off x="3850000" y="2700000"/>
            <a:ext cx="1450000" cy="145000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Nano khoáng chất</a:t>
            </a:r>
          </a:p>
        </p:txBody>
      </p:sp>
      <p:sp>
        <p:nvSpPr>
          <p:cNvPr id="2412" name="EcoQuad0"/>
          <p:cNvSpPr txBox="1"/>
          <p:nvPr/>
        </p:nvSpPr>
        <p:spPr>
          <a:xfrm>
            <a:off x="2304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LOÀI MỤC TIÊU</a:t>
            </a:r>
          </a:p>
        </p:txBody>
      </p:sp>
      <p:sp>
        <p:nvSpPr>
          <p:cNvPr id="2413" name="EcoQuad1"/>
          <p:cNvSpPr txBox="1"/>
          <p:nvPr/>
        </p:nvSpPr>
        <p:spPr>
          <a:xfrm>
            <a:off x="65592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KẾT QUẢ NGHIÊN CỨU</a:t>
            </a:r>
          </a:p>
        </p:txBody>
      </p:sp>
      <p:sp>
        <p:nvSpPr>
          <p:cNvPr id="2414" name="EcoQuad2"/>
          <p:cNvSpPr txBox="1"/>
          <p:nvPr/>
        </p:nvSpPr>
        <p:spPr>
          <a:xfrm>
            <a:off x="2304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NGUỒN DỮ LIỆU</a:t>
            </a:r>
          </a:p>
        </p:txBody>
      </p:sp>
      <p:sp>
        <p:nvSpPr>
          <p:cNvPr id="2415" name="EcoQuad3"/>
          <p:cNvSpPr txBox="1"/>
          <p:nvPr/>
        </p:nvSpPr>
        <p:spPr>
          <a:xfrm>
            <a:off x="65592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PHÁT TRIỂN</a:t>
            </a:r>
          </a:p>
        </p:txBody>
      </p:sp>
      <p:sp>
        <p:nvSpPr>
          <p:cNvPr id="10002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Dự án phân tích</a:t>
            </a:r>
          </a:p>
        </p:txBody>
      </p:sp>
      <p:sp>
        <p:nvSpPr>
          <p:cNvPr id="10002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Tập trung phát triển sản phẩm cho các loài này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 khoáng chất và chelat hóa có thể tăng giá trị lên 2.0–3.0 lần so với…</a:t>
            </a:r>
          </a:p>
        </p:txBody>
      </p:sp>
      <p:sp>
        <p:nvSpPr>
          <p:cNvPr id="2501" name="KpiTile1"/>
          <p:cNvSpPr/>
          <p:nvPr/>
        </p:nvSpPr>
        <p:spPr>
          <a:xfrm>
            <a:off x="4572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02" name="KpiStatus1"/>
          <p:cNvSpPr/>
          <p:nvPr/>
        </p:nvSpPr>
        <p:spPr>
          <a:xfrm>
            <a:off x="457200" y="1620000"/>
            <a:ext cx="2030200" cy="3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03" name="KpiText1"/>
          <p:cNvSpPr txBox="1"/>
          <p:nvPr/>
        </p:nvSpPr>
        <p:spPr>
          <a:xfrm>
            <a:off x="5715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Giá trị nano khoáng chất   </a:t>
            </a:r>
            <a:r>
              <a:rPr lang="en-US" sz="1200" b="1" dirty="0">
                <a:solidFill>
                  <a:srgbClr val="2E7D32"/>
                </a:solidFill>
                <a:latin typeface="Calibri"/>
              </a:rPr>
              <a:t>▲</a:t>
            </a:r>
          </a:p>
          <a:p>
            <a:pPr algn="ctr">
              <a:spcBef>
                <a:spcPts val="600"/>
              </a:spcBef>
            </a:pPr>
            <a:r>
              <a:rPr lang="en-US" sz="1800" b="1" dirty="0">
                <a:solidFill>
                  <a:srgbClr val="002060"/>
                </a:solidFill>
                <a:latin typeface="Calibri"/>
              </a:rPr>
              <a:t>15.00–45.00 …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>Tăng 2.0–3.0 lần so với vô cơ</a:t>
            </a:r>
          </a:p>
        </p:txBody>
      </p:sp>
      <p:sp>
        <p:nvSpPr>
          <p:cNvPr id="2504" name="KpiTile2"/>
          <p:cNvSpPr/>
          <p:nvPr/>
        </p:nvSpPr>
        <p:spPr>
          <a:xfrm>
            <a:off x="26074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05" name="KpiStatus2"/>
          <p:cNvSpPr/>
          <p:nvPr/>
        </p:nvSpPr>
        <p:spPr>
          <a:xfrm>
            <a:off x="2607400" y="1620000"/>
            <a:ext cx="20302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06" name="KpiText2"/>
          <p:cNvSpPr txBox="1"/>
          <p:nvPr/>
        </p:nvSpPr>
        <p:spPr>
          <a:xfrm>
            <a:off x="27217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Giá trị kinh doanh   </a:t>
            </a:r>
            <a:r>
              <a:rPr lang="en-US" sz="1200" b="1" dirty="0">
                <a:solidFill>
                  <a:srgbClr val="0070C0"/>
                </a:solidFill>
                <a:latin typeface="Calibri"/>
              </a:rPr>
              <a:t>◆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Cao nhất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/>
            </a:r>
          </a:p>
        </p:txBody>
      </p:sp>
      <p:sp>
        <p:nvSpPr>
          <p:cNvPr id="10002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Dự án phân tích</a:t>
            </a:r>
          </a:p>
        </p:txBody>
      </p:sp>
      <p:sp>
        <p:nvSpPr>
          <p:cNvPr id="10002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 khoáng chất mang lại giá trị kinh doanh cao nhất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2602" name="AgendaRow1"/>
          <p:cNvSpPr/>
          <p:nvPr/>
        </p:nvSpPr>
        <p:spPr>
          <a:xfrm>
            <a:off x="500000" y="162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3" name="AgendaNum1"/>
          <p:cNvSpPr/>
          <p:nvPr/>
        </p:nvSpPr>
        <p:spPr>
          <a:xfrm>
            <a:off x="5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604" name="AgendaTxt1"/>
          <p:cNvSpPr txBox="1"/>
          <p:nvPr/>
        </p:nvSpPr>
        <p:spPr>
          <a:xfrm>
            <a:off x="11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Tổng quan về công nghệ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</a:t>
            </a:r>
          </a:p>
        </p:txBody>
      </p:sp>
      <p:sp>
        <p:nvSpPr>
          <p:cNvPr id="2605" name="AgendaRow2"/>
          <p:cNvSpPr/>
          <p:nvPr/>
        </p:nvSpPr>
        <p:spPr>
          <a:xfrm>
            <a:off x="500000" y="234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6" name="AgendaNum2"/>
          <p:cNvSpPr/>
          <p:nvPr/>
        </p:nvSpPr>
        <p:spPr>
          <a:xfrm>
            <a:off x="5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607" name="AgendaTxt2"/>
          <p:cNvSpPr txBox="1"/>
          <p:nvPr/>
        </p:nvSpPr>
        <p:spPr>
          <a:xfrm>
            <a:off x="11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Lợi ích của nano khoáng chất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2</a:t>
            </a:r>
          </a:p>
        </p:txBody>
      </p:sp>
      <p:sp>
        <p:nvSpPr>
          <p:cNvPr id="2608" name="AgendaRow3"/>
          <p:cNvSpPr/>
          <p:nvPr/>
        </p:nvSpPr>
        <p:spPr>
          <a:xfrm>
            <a:off x="5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09" name="AgendaNum3"/>
          <p:cNvSpPr/>
          <p:nvPr/>
        </p:nvSpPr>
        <p:spPr>
          <a:xfrm>
            <a:off x="5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610" name="AgendaTxt3"/>
          <p:cNvSpPr txBox="1"/>
          <p:nvPr/>
        </p:nvSpPr>
        <p:spPr>
          <a:xfrm>
            <a:off x="11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Công nghệ chelat hóa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</a:t>
            </a:r>
          </a:p>
        </p:txBody>
      </p:sp>
      <p:sp>
        <p:nvSpPr>
          <p:cNvPr id="2611" name="AgendaRow4"/>
          <p:cNvSpPr/>
          <p:nvPr/>
        </p:nvSpPr>
        <p:spPr>
          <a:xfrm>
            <a:off x="500000" y="378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2" name="AgendaNum4"/>
          <p:cNvSpPr/>
          <p:nvPr/>
        </p:nvSpPr>
        <p:spPr>
          <a:xfrm>
            <a:off x="5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13" name="AgendaTxt4"/>
          <p:cNvSpPr txBox="1"/>
          <p:nvPr/>
        </p:nvSpPr>
        <p:spPr>
          <a:xfrm>
            <a:off x="11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Hiệu quả sinh trưởng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4</a:t>
            </a:r>
          </a:p>
        </p:txBody>
      </p:sp>
      <p:sp>
        <p:nvSpPr>
          <p:cNvPr id="2614" name="AgendaRow5"/>
          <p:cNvSpPr/>
          <p:nvPr/>
        </p:nvSpPr>
        <p:spPr>
          <a:xfrm>
            <a:off x="4600000" y="162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5" name="AgendaNum5"/>
          <p:cNvSpPr/>
          <p:nvPr/>
        </p:nvSpPr>
        <p:spPr>
          <a:xfrm>
            <a:off x="46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16" name="AgendaTxt5"/>
          <p:cNvSpPr txBox="1"/>
          <p:nvPr/>
        </p:nvSpPr>
        <p:spPr>
          <a:xfrm>
            <a:off x="52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Sức khỏe cá/tôm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5</a:t>
            </a:r>
          </a:p>
        </p:txBody>
      </p:sp>
      <p:sp>
        <p:nvSpPr>
          <p:cNvPr id="2617" name="AgendaRow6"/>
          <p:cNvSpPr/>
          <p:nvPr/>
        </p:nvSpPr>
        <p:spPr>
          <a:xfrm>
            <a:off x="4600000" y="234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18" name="AgendaNum6"/>
          <p:cNvSpPr/>
          <p:nvPr/>
        </p:nvSpPr>
        <p:spPr>
          <a:xfrm>
            <a:off x="46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19" name="AgendaTxt6"/>
          <p:cNvSpPr txBox="1"/>
          <p:nvPr/>
        </p:nvSpPr>
        <p:spPr>
          <a:xfrm>
            <a:off x="52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Lợi thế cạnh tranh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6</a:t>
            </a:r>
          </a:p>
        </p:txBody>
      </p:sp>
      <p:sp>
        <p:nvSpPr>
          <p:cNvPr id="2620" name="AgendaRow7"/>
          <p:cNvSpPr/>
          <p:nvPr/>
        </p:nvSpPr>
        <p:spPr>
          <a:xfrm>
            <a:off x="46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21" name="AgendaNum7"/>
          <p:cNvSpPr/>
          <p:nvPr/>
        </p:nvSpPr>
        <p:spPr>
          <a:xfrm>
            <a:off x="46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22" name="AgendaTxt7"/>
          <p:cNvSpPr txBox="1"/>
          <p:nvPr/>
        </p:nvSpPr>
        <p:spPr>
          <a:xfrm>
            <a:off x="52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Ứng dụng thực tế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7</a:t>
            </a:r>
          </a:p>
        </p:txBody>
      </p:sp>
      <p:sp>
        <p:nvSpPr>
          <p:cNvPr id="2623" name="AgendaRow8"/>
          <p:cNvSpPr/>
          <p:nvPr/>
        </p:nvSpPr>
        <p:spPr>
          <a:xfrm>
            <a:off x="4600000" y="378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24" name="AgendaNum8"/>
          <p:cNvSpPr/>
          <p:nvPr/>
        </p:nvSpPr>
        <p:spPr>
          <a:xfrm>
            <a:off x="46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625" name="AgendaTxt8"/>
          <p:cNvSpPr txBox="1"/>
          <p:nvPr/>
        </p:nvSpPr>
        <p:spPr>
          <a:xfrm>
            <a:off x="52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Kết luận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8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Tập trung vào Việt Nam, Ấn Độ và Ecuador để tận dụng thị trường nuôi tôm tăng trưởng nhanh nhất (4.2-4.9%/năm).</a:t>
            </a:r>
          </a:p>
        </p:txBody>
      </p:sp>
      <p:sp>
        <p:nvSpPr>
          <p:cNvPr id="27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Việt Nam: Thị trường lớn nhất và tăng trưởng nhanh nhất</a:t>
            </a:r>
          </a:p>
        </p:txBody>
      </p:sp>
      <p:sp>
        <p:nvSpPr>
          <p:cNvPr id="27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Ấn Độ: Cơ hội lớn nhờ dân số và nhu cầu nội địa</a:t>
            </a:r>
          </a:p>
        </p:txBody>
      </p:sp>
      <p:sp>
        <p:nvSpPr>
          <p:cNvPr id="27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Ecuador: Thị trường tăng trưởng nhanh nhờ xuất khẩu</a:t>
            </a:r>
          </a:p>
        </p:txBody>
      </p:sp>
      <p:sp>
        <p:nvSpPr>
          <p:cNvPr id="27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Dự báo tăng từ 4.3-4.6 tỷ USD (2024-2025) lên 6.4 tỷ USD (2035).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CAGR 4.2-4.9% cao hơn các nước khác trong khu vực.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Đa dạng sinh thái và cơ sở hạ tầng nuôi tôm hiện đại.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Chính sách hỗ trợ của chính phủ và nhu cầu nội địa cao.</a:t>
            </a:r>
          </a:p>
        </p:txBody>
      </p:sp>
      <p:sp>
        <p:nvSpPr>
          <p:cNvPr id="27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Thị trường tôm Ấn Độ dự kiến tăng 4.5-4.8%/năm.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Dân số lớn và tăng trưởng tiêu dùng cao.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Chính sách xuất khẩu tôm Ấn Độ đang mở rộng.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Công nghệ nuôi tôm hiện đại đang được áp dụng rộng rãi.</a:t>
            </a:r>
          </a:p>
        </p:txBody>
      </p:sp>
      <p:sp>
        <p:nvSpPr>
          <p:cNvPr id="27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Thị trường Ecuador dự kiến tăng 4.3-4.7%/năm.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Xuất khẩu tôm Ecuador đang phát triển mạnh.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Đa dạng sinh thái và nguồn cung cấp tôm tự nhiên.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Chính sách hỗ trợ xuất khẩu của chính phủ.</a:t>
            </a:r>
          </a:p>
        </p:txBody>
      </p:sp>
      <p:cxnSp>
        <p:nvCxnSpPr>
          <p:cNvPr id="2708" name="PyramidConn1"/>
          <p:cNvCxnSpPr>
            <a:stCxn id="2701" idx="2"/>
            <a:endCxn id="27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709" name="PyramidConn2"/>
          <p:cNvCxnSpPr>
            <a:stCxn id="2701" idx="2"/>
            <a:endCxn id="27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710" name="PyramidConn3"/>
          <p:cNvCxnSpPr>
            <a:stCxn id="2701" idx="2"/>
            <a:endCxn id="27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Nano-SeNPs tăng trọng lượng lên 1.57 lần và giảm tỷ lệ tử vong sau thử…</a:t>
            </a:r>
          </a:p>
        </p:txBody>
      </p:sp>
      <p:sp>
        <p:nvSpPr>
          <p:cNvPr id="28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Mạnh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Tăng trọng lượng 1.57 lần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Giảm tỷ lệ tử vong 42%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Hiệu quả sinh trưởng 1.5-2.5 lần</a:t>
            </a:r>
          </a:p>
        </p:txBody>
      </p:sp>
      <p:sp>
        <p:nvSpPr>
          <p:cNvPr id="28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Yếu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Dữ liệu chỉ từ 0.75-1.0 mg/kg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Cần nghiên cứu thêm về liều lượng tối ưu</a:t>
            </a:r>
          </a:p>
        </p:txBody>
      </p:sp>
      <p:sp>
        <p:nvSpPr>
          <p:cNvPr id="28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Cơ hội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Áp dụng rộng rãi trong chăn nuôi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Tiềm năng phát triển sản phẩm Nano-SeNPs</a:t>
            </a:r>
          </a:p>
        </p:txBody>
      </p:sp>
      <p:sp>
        <p:nvSpPr>
          <p:cNvPr id="28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Thách thức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Cần nghiên cứu về tác động dài hạn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Đảm bảo an toàn và hiệu quả trong thực tế</a:t>
            </a:r>
          </a:p>
        </p:txBody>
      </p:sp>
      <p:sp>
        <p:nvSpPr>
          <p:cNvPr id="10002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 2023</a:t>
            </a:r>
          </a:p>
        </p:txBody>
      </p:sp>
      <p:sp>
        <p:nvSpPr>
          <p:cNvPr id="10002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 khoáng chất có thể tăng hiệu quả sinh trưởng lên 1.5-2.5 lần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2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Chelat hóa khoáng chất giảm phân thải lên đến 40% so với vô cơ</a:t>
            </a:r>
          </a:p>
        </p:txBody>
      </p:sp>
      <p:sp>
        <p:nvSpPr>
          <p:cNvPr id="29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29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29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29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CAO</a:t>
            </a:r>
          </a:p>
        </p:txBody>
      </p:sp>
      <p:sp>
        <p:nvSpPr>
          <p:cNvPr id="29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CAO</a:t>
            </a:r>
          </a:p>
        </p:txBody>
      </p:sp>
      <p:sp>
        <p:nvSpPr>
          <p:cNvPr id="29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THẤP</a:t>
            </a:r>
          </a:p>
        </p:txBody>
      </p:sp>
      <p:sp>
        <p:nvSpPr>
          <p:cNvPr id="29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THẤP</a:t>
            </a:r>
          </a:p>
        </p:txBody>
      </p:sp>
      <p:sp>
        <p:nvSpPr>
          <p:cNvPr id="2912" name="Bubble1"/>
          <p:cNvSpPr/>
          <p:nvPr/>
        </p:nvSpPr>
        <p:spPr>
          <a:xfrm>
            <a:off x="6380000" y="168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Chelat hóa</a:t>
            </a:r>
          </a:p>
        </p:txBody>
      </p:sp>
      <p:sp>
        <p:nvSpPr>
          <p:cNvPr id="2913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HIỆU SUẤT →</a:t>
            </a:r>
          </a:p>
        </p:txBody>
      </p:sp>
      <p:sp>
        <p:nvSpPr>
          <p:cNvPr id="2914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TẦM ẢNH HƯỞNG ↑</a:t>
            </a:r>
          </a:p>
        </p:txBody>
      </p:sp>
      <p:sp>
        <p:nvSpPr>
          <p:cNvPr id="10002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 2025</a:t>
            </a:r>
          </a:p>
        </p:txBody>
      </p:sp>
      <p:sp>
        <p:nvSpPr>
          <p:cNvPr id="10002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2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Chelat hóa là giải pháp ưu tiên cho quy định môi trường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Trung Quốc kiểm soát 60% sản xuất khoáng chất, tạo rủi ro nguồn cung</a:t>
            </a:r>
          </a:p>
        </p:txBody>
      </p:sp>
      <p:sp>
        <p:nvSpPr>
          <p:cNvPr id="30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3002" name="HvHeadOpt1"/>
          <p:cNvSpPr txBox="1"/>
          <p:nvPr/>
        </p:nvSpPr>
        <p:spPr>
          <a:xfrm>
            <a:off x="31572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TRUNG QUỐC</a:t>
            </a:r>
          </a:p>
        </p:txBody>
      </p:sp>
      <p:sp>
        <p:nvSpPr>
          <p:cNvPr id="3003" name="HvHeadOpt2"/>
          <p:cNvSpPr txBox="1"/>
          <p:nvPr/>
        </p:nvSpPr>
        <p:spPr>
          <a:xfrm>
            <a:off x="50004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VIỆT NAM</a:t>
            </a:r>
          </a:p>
        </p:txBody>
      </p:sp>
      <p:sp>
        <p:nvSpPr>
          <p:cNvPr id="3004" name="HvHeadOpt3"/>
          <p:cNvSpPr txBox="1"/>
          <p:nvPr/>
        </p:nvSpPr>
        <p:spPr>
          <a:xfrm>
            <a:off x="6843600" y="1620000"/>
            <a:ext cx="18432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ẤN ĐỘ</a:t>
            </a:r>
          </a:p>
        </p:txBody>
      </p:sp>
      <p:sp>
        <p:nvSpPr>
          <p:cNvPr id="3005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Nguồn cung</a:t>
            </a:r>
          </a:p>
        </p:txBody>
      </p:sp>
      <p:sp>
        <p:nvSpPr>
          <p:cNvPr id="3006" name="HvCell1_1"/>
          <p:cNvSpPr txBox="1"/>
          <p:nvPr/>
        </p:nvSpPr>
        <p:spPr>
          <a:xfrm>
            <a:off x="31572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●</a:t>
            </a:r>
          </a:p>
        </p:txBody>
      </p:sp>
      <p:sp>
        <p:nvSpPr>
          <p:cNvPr id="3007" name="HvCell1_2"/>
          <p:cNvSpPr txBox="1"/>
          <p:nvPr/>
        </p:nvSpPr>
        <p:spPr>
          <a:xfrm>
            <a:off x="50004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◕</a:t>
            </a:r>
          </a:p>
        </p:txBody>
      </p:sp>
      <p:sp>
        <p:nvSpPr>
          <p:cNvPr id="3008" name="HvCell1_3"/>
          <p:cNvSpPr txBox="1"/>
          <p:nvPr/>
        </p:nvSpPr>
        <p:spPr>
          <a:xfrm>
            <a:off x="6843600" y="1980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◑</a:t>
            </a:r>
          </a:p>
        </p:txBody>
      </p:sp>
      <p:sp>
        <p:nvSpPr>
          <p:cNvPr id="3009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Rủi ro</a:t>
            </a:r>
          </a:p>
        </p:txBody>
      </p:sp>
      <p:sp>
        <p:nvSpPr>
          <p:cNvPr id="3010" name="HvCell2_1"/>
          <p:cNvSpPr txBox="1"/>
          <p:nvPr/>
        </p:nvSpPr>
        <p:spPr>
          <a:xfrm>
            <a:off x="31572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●</a:t>
            </a:r>
          </a:p>
        </p:txBody>
      </p:sp>
      <p:sp>
        <p:nvSpPr>
          <p:cNvPr id="3011" name="HvCell2_2"/>
          <p:cNvSpPr txBox="1"/>
          <p:nvPr/>
        </p:nvSpPr>
        <p:spPr>
          <a:xfrm>
            <a:off x="50004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◑</a:t>
            </a:r>
          </a:p>
        </p:txBody>
      </p:sp>
      <p:sp>
        <p:nvSpPr>
          <p:cNvPr id="3012" name="HvCell2_3"/>
          <p:cNvSpPr txBox="1"/>
          <p:nvPr/>
        </p:nvSpPr>
        <p:spPr>
          <a:xfrm>
            <a:off x="6843600" y="2412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◕</a:t>
            </a:r>
          </a:p>
        </p:txBody>
      </p:sp>
      <p:sp>
        <p:nvSpPr>
          <p:cNvPr id="3013" name="HvCrit3"/>
          <p:cNvSpPr txBox="1"/>
          <p:nvPr/>
        </p:nvSpPr>
        <p:spPr>
          <a:xfrm>
            <a:off x="457200" y="2844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Chi phí</a:t>
            </a:r>
          </a:p>
        </p:txBody>
      </p:sp>
      <p:sp>
        <p:nvSpPr>
          <p:cNvPr id="3014" name="HvCell3_1"/>
          <p:cNvSpPr txBox="1"/>
          <p:nvPr/>
        </p:nvSpPr>
        <p:spPr>
          <a:xfrm>
            <a:off x="3157200" y="2844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◕</a:t>
            </a:r>
          </a:p>
        </p:txBody>
      </p:sp>
      <p:sp>
        <p:nvSpPr>
          <p:cNvPr id="3015" name="HvCell3_2"/>
          <p:cNvSpPr txBox="1"/>
          <p:nvPr/>
        </p:nvSpPr>
        <p:spPr>
          <a:xfrm>
            <a:off x="5000400" y="2844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◑</a:t>
            </a:r>
          </a:p>
        </p:txBody>
      </p:sp>
      <p:sp>
        <p:nvSpPr>
          <p:cNvPr id="3016" name="HvCell3_3"/>
          <p:cNvSpPr txBox="1"/>
          <p:nvPr/>
        </p:nvSpPr>
        <p:spPr>
          <a:xfrm>
            <a:off x="6843600" y="2844000"/>
            <a:ext cx="18432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002060"/>
                </a:solidFill>
                <a:latin typeface="Calibri"/>
              </a:rPr>
              <a:t>●</a:t>
            </a:r>
          </a:p>
        </p:txBody>
      </p:sp>
      <p:sp>
        <p:nvSpPr>
          <p:cNvPr id="3017" name="HvScoreLbl"/>
          <p:cNvSpPr txBox="1"/>
          <p:nvPr/>
        </p:nvSpPr>
        <p:spPr>
          <a:xfrm>
            <a:off x="457200" y="3276000"/>
            <a:ext cx="2700000" cy="504000"/>
          </a:xfrm>
          <a:prstGeom prst="rect">
            <a:avLst/>
          </a:prstGeom>
          <a:solidFill>
            <a:srgbClr val="002F69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</a:rPr>
              <a:t>WEIGHTED SCORE</a:t>
            </a:r>
          </a:p>
        </p:txBody>
      </p:sp>
      <p:sp>
        <p:nvSpPr>
          <p:cNvPr id="3018" name="HvScore1"/>
          <p:cNvSpPr txBox="1"/>
          <p:nvPr/>
        </p:nvSpPr>
        <p:spPr>
          <a:xfrm>
            <a:off x="3157200" y="3276000"/>
            <a:ext cx="1843200" cy="504000"/>
          </a:xfrm>
          <a:prstGeom prst="rect">
            <a:avLst/>
          </a:prstGeom>
          <a:solidFill>
            <a:srgbClr val="FFF7E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/>
              </a:rPr>
              <a:t>4</a:t>
            </a:r>
          </a:p>
        </p:txBody>
      </p:sp>
      <p:sp>
        <p:nvSpPr>
          <p:cNvPr id="3019" name="HvScore2"/>
          <p:cNvSpPr txBox="1"/>
          <p:nvPr/>
        </p:nvSpPr>
        <p:spPr>
          <a:xfrm>
            <a:off x="5000400" y="3276000"/>
            <a:ext cx="1843200" cy="504000"/>
          </a:xfrm>
          <a:prstGeom prst="rect">
            <a:avLst/>
          </a:prstGeom>
          <a:solidFill>
            <a:srgbClr val="FFF7E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/>
              </a:rPr>
              <a:t>3</a:t>
            </a:r>
          </a:p>
        </p:txBody>
      </p:sp>
      <p:sp>
        <p:nvSpPr>
          <p:cNvPr id="3020" name="HvScore3"/>
          <p:cNvSpPr txBox="1"/>
          <p:nvPr/>
        </p:nvSpPr>
        <p:spPr>
          <a:xfrm>
            <a:off x="6843600" y="3276000"/>
            <a:ext cx="1843200" cy="504000"/>
          </a:xfrm>
          <a:prstGeom prst="rect">
            <a:avLst/>
          </a:prstGeom>
          <a:solidFill>
            <a:srgbClr val="FFF7E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300" b="1" dirty="0">
                <a:solidFill>
                  <a:srgbClr val="002060"/>
                </a:solidFill>
                <a:latin typeface="Calibri"/>
              </a:rPr>
              <a:t>2</a:t>
            </a:r>
          </a:p>
        </p:txBody>
      </p:sp>
      <p:sp>
        <p:nvSpPr>
          <p:cNvPr id="10003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USGS Mineral Commodity Summaries 2024</a:t>
            </a:r>
          </a:p>
        </p:txBody>
      </p:sp>
      <p:sp>
        <p:nvSpPr>
          <p:cNvPr id="10003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Cần xây dựng chuỗi cung cấp thay thế tại Việt Nam/Ấn Độ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Cargill, Skretting/Nutreco kiểm soát 50-55% thị trường nuôi tôm</a:t>
            </a:r>
          </a:p>
        </p:txBody>
      </p:sp>
      <p:sp>
        <p:nvSpPr>
          <p:cNvPr id="3101" name="HeatCell1"/>
          <p:cNvSpPr txBox="1"/>
          <p:nvPr/>
        </p:nvSpPr>
        <p:spPr>
          <a:xfrm>
            <a:off x="1500000" y="1620000"/>
            <a:ext cx="3250000" cy="2100000"/>
          </a:xfrm>
          <a:prstGeom prst="rect">
            <a:avLst/>
          </a:prstGeom>
          <a:solidFill>
            <a:srgbClr val="2E7BBF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Hợp tác</a:t>
            </a:r>
          </a:p>
        </p:txBody>
      </p:sp>
      <p:sp>
        <p:nvSpPr>
          <p:cNvPr id="3102" name="HeatCell2"/>
          <p:cNvSpPr txBox="1"/>
          <p:nvPr/>
        </p:nvSpPr>
        <p:spPr>
          <a:xfrm>
            <a:off x="1500000" y="3720000"/>
            <a:ext cx="3250000" cy="210000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Độc quyền</a:t>
            </a:r>
          </a:p>
        </p:txBody>
      </p:sp>
      <p:sp>
        <p:nvSpPr>
          <p:cNvPr id="3103" name="YTick1"/>
          <p:cNvSpPr txBox="1"/>
          <p:nvPr/>
        </p:nvSpPr>
        <p:spPr>
          <a:xfrm>
            <a:off x="400000" y="1620000"/>
            <a:ext cx="1060000" cy="21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Thấp</a:t>
            </a:r>
          </a:p>
        </p:txBody>
      </p:sp>
      <p:sp>
        <p:nvSpPr>
          <p:cNvPr id="3104" name="YTick2"/>
          <p:cNvSpPr txBox="1"/>
          <p:nvPr/>
        </p:nvSpPr>
        <p:spPr>
          <a:xfrm>
            <a:off x="400000" y="3720000"/>
            <a:ext cx="1060000" cy="21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Cao</a:t>
            </a:r>
          </a:p>
        </p:txBody>
      </p:sp>
      <p:sp>
        <p:nvSpPr>
          <p:cNvPr id="3105" name="XTick1"/>
          <p:cNvSpPr txBox="1"/>
          <p:nvPr/>
        </p:nvSpPr>
        <p:spPr>
          <a:xfrm>
            <a:off x="1500000" y="5760000"/>
            <a:ext cx="3250000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Cơ hội</a:t>
            </a:r>
          </a:p>
        </p:txBody>
      </p:sp>
      <p:sp>
        <p:nvSpPr>
          <p:cNvPr id="3106" name="XTick2"/>
          <p:cNvSpPr txBox="1"/>
          <p:nvPr/>
        </p:nvSpPr>
        <p:spPr>
          <a:xfrm>
            <a:off x="4750000" y="5760000"/>
            <a:ext cx="3250000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Rủi ro</a:t>
            </a:r>
          </a:p>
        </p:txBody>
      </p:sp>
      <p:sp>
        <p:nvSpPr>
          <p:cNvPr id="3107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Tiềm năng</a:t>
            </a:r>
          </a:p>
        </p:txBody>
      </p:sp>
      <p:sp>
        <p:nvSpPr>
          <p:cNvPr id="3108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Độ ưu tiên</a:t>
            </a:r>
          </a:p>
        </p:txBody>
      </p:sp>
      <p:sp>
        <p:nvSpPr>
          <p:cNvPr id="10003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Aquaculture Alliance 2024</a:t>
            </a:r>
          </a:p>
        </p:txBody>
      </p:sp>
      <p:sp>
        <p:nvSpPr>
          <p:cNvPr id="10003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Cơ hội hợp tác với các công ty lớn trong ngành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Việt Nam, Ấn Độ và Ecuador là các thị trường tăng trưởng nhanh nhất</a:t>
            </a:r>
          </a:p>
        </p:txBody>
      </p:sp>
      <p:sp>
        <p:nvSpPr>
          <p:cNvPr id="32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Tăng trưởng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7-9%</a:t>
            </a:r>
            <a:r>
              <a:rPr lang="en-US" sz="1100" b="1" dirty="0">
                <a:solidFill>
                  <a:srgbClr val="2E7D32"/>
                </a:solidFill>
                <a:latin typeface="Calibri"/>
              </a:rPr>
              <a:t> ▲ +7-9%</a:t>
            </a:r>
          </a:p>
        </p:txBody>
      </p:sp>
      <p:sp>
        <p:nvSpPr>
          <p:cNvPr id="32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Việt Nam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Thị trường</a:t>
            </a:r>
          </a:p>
        </p:txBody>
      </p:sp>
      <p:sp>
        <p:nvSpPr>
          <p:cNvPr id="3203" name="DriverL3_1_1"/>
          <p:cNvSpPr/>
          <p:nvPr/>
        </p:nvSpPr>
        <p:spPr>
          <a:xfrm>
            <a:off x="5300000" y="171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CAGR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7-9%</a:t>
            </a:r>
          </a:p>
        </p:txBody>
      </p:sp>
      <p:sp>
        <p:nvSpPr>
          <p:cNvPr id="3206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Ấn Độ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Thị trường</a:t>
            </a:r>
          </a:p>
        </p:txBody>
      </p:sp>
      <p:sp>
        <p:nvSpPr>
          <p:cNvPr id="3207" name="DriverL3_2_1"/>
          <p:cNvSpPr/>
          <p:nvPr/>
        </p:nvSpPr>
        <p:spPr>
          <a:xfrm>
            <a:off x="5300000" y="315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CAGR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7-9%</a:t>
            </a:r>
          </a:p>
        </p:txBody>
      </p:sp>
      <p:sp>
        <p:nvSpPr>
          <p:cNvPr id="3210" name="DriverL2_3"/>
          <p:cNvSpPr/>
          <p:nvPr/>
        </p:nvSpPr>
        <p:spPr>
          <a:xfrm>
            <a:off x="2900000" y="450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Ecuador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Thị trường</a:t>
            </a:r>
          </a:p>
        </p:txBody>
      </p:sp>
      <p:sp>
        <p:nvSpPr>
          <p:cNvPr id="3211" name="DriverL3_3_1"/>
          <p:cNvSpPr/>
          <p:nvPr/>
        </p:nvSpPr>
        <p:spPr>
          <a:xfrm>
            <a:off x="5300000" y="459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CAGR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7-9%</a:t>
            </a:r>
          </a:p>
        </p:txBody>
      </p:sp>
      <p:cxnSp>
        <p:nvCxnSpPr>
          <p:cNvPr id="3204" name="BranchRoot_1"/>
          <p:cNvCxnSpPr>
            <a:stCxn id="3201" idx="1"/>
            <a:endCxn id="32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205" name="BranchL2_1_1"/>
          <p:cNvCxnSpPr>
            <a:stCxn id="3202" idx="1"/>
            <a:endCxn id="3203" idx="3"/>
          </p:cNvCxnSpPr>
          <p:nvPr/>
        </p:nvCxnSpPr>
        <p:spPr>
          <a:xfrm>
            <a:off x="4800000" y="198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208" name="BranchRoot_2"/>
          <p:cNvCxnSpPr>
            <a:stCxn id="3201" idx="1"/>
            <a:endCxn id="3206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209" name="BranchL2_2_1"/>
          <p:cNvCxnSpPr>
            <a:stCxn id="3206" idx="1"/>
            <a:endCxn id="3207" idx="3"/>
          </p:cNvCxnSpPr>
          <p:nvPr/>
        </p:nvCxnSpPr>
        <p:spPr>
          <a:xfrm>
            <a:off x="4800000" y="342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212" name="BranchRoot_3"/>
          <p:cNvCxnSpPr>
            <a:stCxn id="3201" idx="1"/>
            <a:endCxn id="3210" idx="3"/>
          </p:cNvCxnSpPr>
          <p:nvPr/>
        </p:nvCxnSpPr>
        <p:spPr>
          <a:xfrm>
            <a:off x="2357200" y="342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213" name="BranchL2_3_1"/>
          <p:cNvCxnSpPr>
            <a:stCxn id="3210" idx="1"/>
            <a:endCxn id="3211" idx="3"/>
          </p:cNvCxnSpPr>
          <p:nvPr/>
        </p:nvCxnSpPr>
        <p:spPr>
          <a:xfrm>
            <a:off x="4800000" y="486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3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FAO Aquaculture Statistics 2024</a:t>
            </a:r>
          </a:p>
        </p:txBody>
      </p:sp>
      <p:sp>
        <p:nvSpPr>
          <p:cNvPr id="10003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Tập trung vào 3 thị trường có tốc độ tăng trưởng cao nhất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 khoáng chất có giá 2.0-3.0 lần cao hơn chelat hóa</a:t>
            </a:r>
          </a:p>
        </p:txBody>
      </p:sp>
      <p:sp>
        <p:nvSpPr>
          <p:cNvPr id="33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Q1'24</a:t>
            </a:r>
          </a:p>
        </p:txBody>
      </p:sp>
      <p:sp>
        <p:nvSpPr>
          <p:cNvPr id="33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Q2'24</a:t>
            </a:r>
          </a:p>
        </p:txBody>
      </p:sp>
      <p:sp>
        <p:nvSpPr>
          <p:cNvPr id="33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Q3'24</a:t>
            </a:r>
          </a:p>
        </p:txBody>
      </p:sp>
      <p:sp>
        <p:nvSpPr>
          <p:cNvPr id="33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Q4'24</a:t>
            </a:r>
          </a:p>
        </p:txBody>
      </p:sp>
      <p:cxnSp>
        <p:nvCxnSpPr>
          <p:cNvPr id="3305" name="QGrid1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3306" name="QGrid2"/>
          <p:cNvCxnSpPr>
    </p:cNvCxnSpPr>
          <p:nvPr/>
        </p:nvCxnSpPr>
        <p:spPr>
          <a:xfrm>
            <a:off x="54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3307" name="QGrid3"/>
          <p:cNvCxnSpPr>
    </p:cNvCxnSpPr>
          <p:nvPr/>
        </p:nvCxnSpPr>
        <p:spPr>
          <a:xfrm>
            <a:off x="707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33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Nghiên cứu nano</a:t>
            </a:r>
          </a:p>
        </p:txBody>
      </p:sp>
      <p:sp>
        <p:nvSpPr>
          <p:cNvPr id="3309" name="WsBar1_1"/>
          <p:cNvSpPr/>
          <p:nvPr/>
        </p:nvSpPr>
        <p:spPr>
          <a:xfrm>
            <a:off x="2245720" y="23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Phát triển công nghệ</a:t>
            </a:r>
          </a:p>
        </p:txBody>
      </p:sp>
      <p:sp>
        <p:nvSpPr>
          <p:cNvPr id="3310" name="Ms1_1"/>
          <p:cNvSpPr/>
          <p:nvPr/>
        </p:nvSpPr>
        <p:spPr>
          <a:xfrm>
            <a:off x="53240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11" name="MsLbl1_1"/>
          <p:cNvSpPr txBox="1"/>
          <p:nvPr/>
        </p:nvSpPr>
        <p:spPr>
          <a:xfrm>
            <a:off x="50828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Thử nghiệm</a:t>
            </a:r>
          </a:p>
        </p:txBody>
      </p:sp>
      <p:sp>
        <p:nvSpPr>
          <p:cNvPr id="3312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Marketing</a:t>
            </a:r>
          </a:p>
        </p:txBody>
      </p:sp>
      <p:sp>
        <p:nvSpPr>
          <p:cNvPr id="3313" name="WsBar2_1"/>
          <p:cNvSpPr/>
          <p:nvPr/>
        </p:nvSpPr>
        <p:spPr>
          <a:xfrm>
            <a:off x="3870720" y="31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Chiến dịch quảng cáo</a:t>
            </a:r>
          </a:p>
        </p:txBody>
      </p:sp>
      <p:cxnSp>
        <p:nvCxnSpPr>
          <p:cNvPr id="3314" name="TodayLine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3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AquaBio 2024</a:t>
            </a:r>
          </a:p>
        </p:txBody>
      </p:sp>
      <p:sp>
        <p:nvSpPr>
          <p:cNvPr id="10003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 khoáng chất có giá trị cao hơn nhưng hiệu quả cao hơn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Chỉ có 311 công bố patent về khoáng chất cho thủy sản</a:t>
            </a:r>
          </a:p>
        </p:txBody>
      </p:sp>
      <p:sp>
        <p:nvSpPr>
          <p:cNvPr id="34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34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34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34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3409" name="RadarTarget"/>
          <p:cNvSpPr/>
          <p:nvPr/>
        </p:nvSpPr>
        <p:spPr>
          <a:xfrm>
            <a:off x="2352923" y="1920000"/>
            <a:ext cx="2805923" cy="2700000"/>
          </a:xfrm>
          <a:custGeom>
            <a:avLst/>
            <a:gdLst/>
            <a:ahLst/>
            <a:cxnLst/>
            <a:rect l="0" t="0" r="2805923" b="2700000"/>
            <a:pathLst>
              <a:path w="2805923" h="2700000">
                <a:moveTo>
                  <a:pt x="1247077" y="0"/>
                </a:moveTo>
                <a:lnTo>
                  <a:pt x="2805923" y="2700000"/>
                </a:lnTo>
                <a:lnTo>
                  <a:pt x="0" y="252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0" name="RadarCurrent"/>
          <p:cNvSpPr/>
          <p:nvPr/>
        </p:nvSpPr>
        <p:spPr>
          <a:xfrm>
            <a:off x="2976462" y="2280000"/>
            <a:ext cx="1558845" cy="1980000"/>
          </a:xfrm>
          <a:custGeom>
            <a:avLst/>
            <a:gdLst/>
            <a:ahLst/>
            <a:cxnLst/>
            <a:rect l="0" t="0" r="1558845" b="1980000"/>
            <a:pathLst>
              <a:path w="1558845" h="1980000">
                <a:moveTo>
                  <a:pt x="623538" y="0"/>
                </a:moveTo>
                <a:lnTo>
                  <a:pt x="1558845" y="198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Chất lượng dữ liệu</a:t>
            </a:r>
          </a:p>
        </p:txBody>
      </p:sp>
      <p:sp>
        <p:nvSpPr>
          <p:cNvPr id="34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Tăng trưởng</a:t>
            </a:r>
          </a:p>
        </p:txBody>
      </p:sp>
      <p:sp>
        <p:nvSpPr>
          <p:cNvPr id="34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Độc quyền</a:t>
            </a:r>
          </a:p>
        </p:txBody>
      </p:sp>
      <p:sp>
        <p:nvSpPr>
          <p:cNvPr id="34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34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34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311 công bố patent, tăng 340% từ 2015-2025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Cơ hội xây dựng quyền sở hữu trí tuệ độc quyền</a:t>
            </a:r>
          </a:p>
        </p:txBody>
      </p:sp>
      <p:sp>
        <p:nvSpPr>
          <p:cNvPr id="10003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WIPO 2024</a:t>
            </a:r>
          </a:p>
        </p:txBody>
      </p:sp>
      <p:sp>
        <p:nvSpPr>
          <p:cNvPr id="10003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Cơ hội xây dựng quyền sở hữu trí tuệ độc quyền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Quy trình sản xuất nano khoáng chất chưa được kiểm chứng tại quy mô…</a:t>
            </a:r>
          </a:p>
        </p:txBody>
      </p:sp>
      <p:sp>
        <p:nvSpPr>
          <p:cNvPr id="3501" name="YCaption"/>
          <p:cNvSpPr txBox="1"/>
          <p:nvPr/>
        </p:nvSpPr>
        <p:spPr>
          <a:xfrm>
            <a:off x="230400" y="1360000"/>
            <a:ext cx="24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↑ MỨC ĐỘ ĐẦU TƯ</a:t>
            </a:r>
          </a:p>
        </p:txBody>
      </p:sp>
      <p:sp>
        <p:nvSpPr>
          <p:cNvPr id="3502" name="H1Curve"/>
          <p:cNvSpPr/>
          <p:nvPr/>
        </p:nvSpPr>
        <p:spPr>
          <a:xfrm>
            <a:off x="230400" y="4400000"/>
            <a:ext cx="2600000" cy="720000"/>
          </a:xfrm>
          <a:prstGeom prst="rightArrow">
            <a:avLst/>
          </a:prstGeom>
          <a:solidFill>
            <a:srgbClr val="002060">
              <a:alpha val="10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3503" name="H1Panel"/>
          <p:cNvSpPr/>
          <p:nvPr/>
        </p:nvSpPr>
        <p:spPr>
          <a:xfrm>
            <a:off x="6000000" y="162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HORIZON 1 · 0–12 THÁNG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Nâng cao quy trình sản xuất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Đầu tư nghiên cứu phát triển quy trình</a:t>
            </a:r>
          </a:p>
        </p:txBody>
      </p:sp>
      <p:sp>
        <p:nvSpPr>
          <p:cNvPr id="3504" name="H2Curve"/>
          <p:cNvSpPr/>
          <p:nvPr/>
        </p:nvSpPr>
        <p:spPr>
          <a:xfrm>
            <a:off x="1700000" y="3200000"/>
            <a:ext cx="3300000" cy="720000"/>
          </a:xfrm>
          <a:prstGeom prst="rightArrow">
            <a:avLst/>
          </a:prstGeom>
          <a:solidFill>
            <a:srgbClr val="0070C0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3505" name="H2Panel"/>
          <p:cNvSpPr/>
          <p:nvPr/>
        </p:nvSpPr>
        <p:spPr>
          <a:xfrm>
            <a:off x="6000000" y="306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70C0"/>
                </a:solidFill>
                <a:latin typeface="Calibri"/>
              </a:rPr>
              <a:t>HORIZON 2 · 1–3 NĂM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Xây dựng khả năng thương mại</a:t>
            </a:r>
          </a:p>
          <a:p>
            <a:pPr marL="171450" indent="-171450">
              <a:spcBef>
                <a:spcPts val="4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Phát triển quy trình sản xuất thương mại</a:t>
            </a:r>
          </a:p>
        </p:txBody>
      </p:sp>
      <p:sp>
        <p:nvSpPr>
          <p:cNvPr id="3506" name="H3Curve"/>
          <p:cNvSpPr/>
          <p:nvPr/>
        </p:nvSpPr>
        <p:spPr>
          <a:xfrm>
            <a:off x="3300000" y="2000000"/>
            <a:ext cx="2900000" cy="720000"/>
          </a:xfrm>
          <a:prstGeom prst="rightArrow">
            <a:avLst/>
          </a:prstGeom>
          <a:solidFill>
            <a:srgbClr val="953735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3507" name="H3Panel"/>
          <p:cNvSpPr/>
          <p:nvPr/>
        </p:nvSpPr>
        <p:spPr>
          <a:xfrm>
            <a:off x="6000000" y="450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53735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953735"/>
                </a:solidFill>
                <a:latin typeface="Calibri"/>
              </a:rPr>
              <a:t>HORIZON 3 · 3+ NĂM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Tạo ra tương lai cho ngành</a:t>
            </a:r>
          </a:p>
          <a:p>
            <a:pPr marL="171450" indent="-171450">
              <a:spcBef>
                <a:spcPts val="4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Khám phá cơ hội mới trong sản xuất nano</a:t>
            </a:r>
          </a:p>
        </p:txBody>
      </p:sp>
      <p:sp>
        <p:nvSpPr>
          <p:cNvPr id="3508" name="XAxisLabel"/>
          <p:cNvSpPr txBox="1"/>
          <p:nvPr/>
        </p:nvSpPr>
        <p:spPr>
          <a:xfrm>
            <a:off x="230400" y="5940000"/>
            <a:ext cx="5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THỜI GIAN TRIỂN KHAI →</a:t>
            </a:r>
          </a:p>
        </p:txBody>
      </p:sp>
      <p:sp>
        <p:nvSpPr>
          <p:cNvPr id="10003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AquaBio 2024</a:t>
            </a:r>
          </a:p>
        </p:txBody>
      </p:sp>
      <p:sp>
        <p:nvSpPr>
          <p:cNvPr id="10003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Cần đầu tư nghiên cứu phát triển quy trình sản xuất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Chiến lược xây dựng từ scratch tại Việt Nam, Ấn Độ và Ecuador</a:t>
            </a:r>
          </a:p>
        </p:txBody>
      </p:sp>
      <p:cxnSp>
        <p:nvCxnSpPr>
          <p:cNvPr id="3601" name="LinkIn1"/>
          <p:cNvCxnSpPr>
    </p:cNvCxnSpPr>
          <p:nvPr/>
        </p:nvCxnSpPr>
        <p:spPr>
          <a:xfrm flipH="1" flipV="1">
            <a:off x="2350000" y="2060000"/>
            <a:ext cx="222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2" name="LinkIn2"/>
          <p:cNvCxnSpPr>
    </p:cNvCxnSpPr>
          <p:nvPr/>
        </p:nvCxnSpPr>
        <p:spPr>
          <a:xfrm flipV="1">
            <a:off x="4575000" y="2060000"/>
            <a:ext cx="187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3" name="LinkIn3"/>
          <p:cNvCxnSpPr>
    </p:cNvCxnSpPr>
          <p:nvPr/>
        </p:nvCxnSpPr>
        <p:spPr>
          <a:xfrm flipH="1">
            <a:off x="2350000" y="3425000"/>
            <a:ext cx="2225000" cy="113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4" name="LinkOut1"/>
          <p:cNvCxnSpPr>
    </p:cNvCxnSpPr>
          <p:nvPr/>
        </p:nvCxnSpPr>
        <p:spPr>
          <a:xfrm flipV="1">
            <a:off x="4575000" y="1595000"/>
            <a:ext cx="0" cy="1830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3605" name="LinkOut3"/>
          <p:cNvCxnSpPr>
    </p:cNvCxnSpPr>
          <p:nvPr/>
        </p:nvCxnSpPr>
        <p:spPr>
          <a:xfrm>
            <a:off x="4575000" y="3425000"/>
            <a:ext cx="3450000" cy="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sp>
        <p:nvSpPr>
          <p:cNvPr id="3606" name="EcoInner1"/>
          <p:cNvSpPr/>
          <p:nvPr/>
        </p:nvSpPr>
        <p:spPr>
          <a:xfrm>
            <a:off x="17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Khách hàng</a:t>
            </a:r>
          </a:p>
        </p:txBody>
      </p:sp>
      <p:sp>
        <p:nvSpPr>
          <p:cNvPr id="3607" name="EcoInner2"/>
          <p:cNvSpPr/>
          <p:nvPr/>
        </p:nvSpPr>
        <p:spPr>
          <a:xfrm>
            <a:off x="58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Đối tác</a:t>
            </a:r>
          </a:p>
        </p:txBody>
      </p:sp>
      <p:sp>
        <p:nvSpPr>
          <p:cNvPr id="3608" name="EcoInner3"/>
          <p:cNvSpPr/>
          <p:nvPr/>
        </p:nvSpPr>
        <p:spPr>
          <a:xfrm>
            <a:off x="1700000" y="42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Cơ quan quản lý</a:t>
            </a:r>
          </a:p>
        </p:txBody>
      </p:sp>
      <p:sp>
        <p:nvSpPr>
          <p:cNvPr id="3609" name="EcoOuter1"/>
          <p:cNvSpPr/>
          <p:nvPr/>
        </p:nvSpPr>
        <p:spPr>
          <a:xfrm>
            <a:off x="4025000" y="132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Đối thủ cạnh tranh</a:t>
            </a:r>
          </a:p>
        </p:txBody>
      </p:sp>
      <p:sp>
        <p:nvSpPr>
          <p:cNvPr id="3610" name="EcoOuter3"/>
          <p:cNvSpPr/>
          <p:nvPr/>
        </p:nvSpPr>
        <p:spPr>
          <a:xfrm>
            <a:off x="7475000" y="315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Thị trường mục tiêu</a:t>
            </a:r>
          </a:p>
        </p:txBody>
      </p:sp>
      <p:sp>
        <p:nvSpPr>
          <p:cNvPr id="3611" name="EcoCenter"/>
          <p:cNvSpPr/>
          <p:nvPr/>
        </p:nvSpPr>
        <p:spPr>
          <a:xfrm>
            <a:off x="3850000" y="2700000"/>
            <a:ext cx="1450000" cy="145000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Công ty của bạn</a:t>
            </a:r>
          </a:p>
        </p:txBody>
      </p:sp>
      <p:sp>
        <p:nvSpPr>
          <p:cNvPr id="3612" name="EcoQuad0"/>
          <p:cNvSpPr txBox="1"/>
          <p:nvPr/>
        </p:nvSpPr>
        <p:spPr>
          <a:xfrm>
            <a:off x="2304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ẢNH HƯỞNG</a:t>
            </a:r>
          </a:p>
        </p:txBody>
      </p:sp>
      <p:sp>
        <p:nvSpPr>
          <p:cNvPr id="3613" name="EcoQuad1"/>
          <p:cNvSpPr txBox="1"/>
          <p:nvPr/>
        </p:nvSpPr>
        <p:spPr>
          <a:xfrm>
            <a:off x="65592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TÁC ĐỘNG</a:t>
            </a:r>
          </a:p>
        </p:txBody>
      </p:sp>
      <p:sp>
        <p:nvSpPr>
          <p:cNvPr id="3614" name="EcoQuad2"/>
          <p:cNvSpPr txBox="1"/>
          <p:nvPr/>
        </p:nvSpPr>
        <p:spPr>
          <a:xfrm>
            <a:off x="2304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THEO DÕI</a:t>
            </a:r>
          </a:p>
        </p:txBody>
      </p:sp>
      <p:sp>
        <p:nvSpPr>
          <p:cNvPr id="3615" name="EcoQuad3"/>
          <p:cNvSpPr txBox="1"/>
          <p:nvPr/>
        </p:nvSpPr>
        <p:spPr>
          <a:xfrm>
            <a:off x="65592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TƯƠNG TÁC</a:t>
            </a:r>
          </a:p>
        </p:txBody>
      </p:sp>
      <p:sp>
        <p:nvSpPr>
          <p:cNvPr id="10003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McKinsey 2024</a:t>
            </a:r>
          </a:p>
        </p:txBody>
      </p:sp>
      <p:sp>
        <p:nvSpPr>
          <p:cNvPr id="10003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Xây dựng chuỗi cung ứng độc lập tại các thị trường mục tiêu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Thị trường bổ sung khoáng chất cho thủy sản sẽ đạt 28.5 tỷ USD vào năm 2034 với tốc độ tăng trưởng ổn định.</a:t>
            </a:r>
          </a:p>
        </p:txBody>
      </p:sp>
      <p:sp>
        <p:nvSpPr>
          <p:cNvPr id="37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Tăng trưởng ổn định với CAGR 6.2%</a:t>
            </a:r>
          </a:p>
        </p:txBody>
      </p:sp>
      <p:sp>
        <p:nvSpPr>
          <p:cNvPr id="37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Tiềm năng lớn với nhu cầu tăng cao</a:t>
            </a:r>
          </a:p>
        </p:txBody>
      </p:sp>
      <p:sp>
        <p:nvSpPr>
          <p:cNvPr id="37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Dự báo dựa trên phân tích thị trường</a:t>
            </a:r>
          </a:p>
        </p:txBody>
      </p:sp>
      <p:sp>
        <p:nvSpPr>
          <p:cNvPr id="37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Tăng từ 17.0 tỷ USD (2025) lên 28.5 tỷ USD (2034)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CAGR 6.2% thể hiện sự phát triển bền vững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Không có yếu tố rủi ro lớn ảnh hưởng đến tốc độ tăng trưởng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Dự án phân tích thị trường dự báo ổn định</a:t>
            </a:r>
          </a:p>
        </p:txBody>
      </p:sp>
      <p:sp>
        <p:nvSpPr>
          <p:cNvPr id="37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Yêu cầu bổ sung khoáng chất cho thủy sản đang gia tăng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Sản phẩm bổ sung khoáng chất được công nhận hiệu quả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Thị trường thủy sản toàn cầu đang mở rộng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Công nghệ sản xuất và phân phối ngày càng phát triển</a:t>
            </a:r>
          </a:p>
        </p:txBody>
      </p:sp>
      <p:sp>
        <p:nvSpPr>
          <p:cNvPr id="37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Dự án phân tích thị trường cung cấp dữ liệu đáng tin cậy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Phân tích bao gồm các yếu tố kinh tế, thị trường và công nghệ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Dự báo được xây dựng trên các xu hướng hiện tại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Khả năng dự báo được xác nhận bởi các chuyên gia ngành</a:t>
            </a:r>
          </a:p>
        </p:txBody>
      </p:sp>
      <p:cxnSp>
        <p:nvCxnSpPr>
          <p:cNvPr id="3708" name="PyramidConn1"/>
          <p:cNvCxnSpPr>
            <a:stCxn id="3701" idx="2"/>
            <a:endCxn id="37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709" name="PyramidConn2"/>
          <p:cNvCxnSpPr>
            <a:stCxn id="3701" idx="2"/>
            <a:endCxn id="37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3710" name="PyramidConn3"/>
          <p:cNvCxnSpPr>
            <a:stCxn id="3701" idx="2"/>
            <a:endCxn id="37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Thị trường nuôi tôm chiếm 4.3-4.6 tỷ USD (2024-2025) và dự kiến tăng…</a:t>
            </a:r>
          </a:p>
        </p:txBody>
      </p:sp>
      <p:sp>
        <p:nvSpPr>
          <p:cNvPr id="3801" name="Quad1"/>
          <p:cNvSpPr/>
          <p:nvPr/>
        </p:nvSpPr>
        <p:spPr>
          <a:xfrm>
            <a:off x="457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2" name="QuadText1"/>
          <p:cNvSpPr txBox="1"/>
          <p:nvPr/>
        </p:nvSpPr>
        <p:spPr>
          <a:xfrm>
            <a:off x="628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Strengths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Tôm là loài ưu tiên với tiềm năng tăng trưởng cao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Thị trường nuôi tôm đang phát triển mạnh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Dự án phân tích thị trường đáng tin cậy</a:t>
            </a:r>
          </a:p>
        </p:txBody>
      </p:sp>
      <p:sp>
        <p:nvSpPr>
          <p:cNvPr id="3803" name="Quad2"/>
          <p:cNvSpPr/>
          <p:nvPr/>
        </p:nvSpPr>
        <p:spPr>
          <a:xfrm>
            <a:off x="4648200" y="165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4" name="QuadText2"/>
          <p:cNvSpPr txBox="1"/>
          <p:nvPr/>
        </p:nvSpPr>
        <p:spPr>
          <a:xfrm>
            <a:off x="4819650" y="182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Weaknesses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Không có thông tin về yếu tố hạn chế cụ thể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Cần nghiên cứu sâu hơn về rủi ro</a:t>
            </a:r>
          </a:p>
        </p:txBody>
      </p:sp>
      <p:sp>
        <p:nvSpPr>
          <p:cNvPr id="3805" name="Quad3"/>
          <p:cNvSpPr/>
          <p:nvPr/>
        </p:nvSpPr>
        <p:spPr>
          <a:xfrm>
            <a:off x="457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6" name="QuadText3"/>
          <p:cNvSpPr txBox="1"/>
          <p:nvPr/>
        </p:nvSpPr>
        <p:spPr>
          <a:xfrm>
            <a:off x="628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C97A00"/>
                </a:solidFill>
                <a:latin typeface="Calibri"/>
              </a:rPr>
              <a:t>Opportunities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Tăng trưởng dự kiến 6.4 tỷ USD vào năm 2035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CAGR 4.2-4.9% cho thị trường nuôi tôm</a:t>
            </a:r>
          </a:p>
          <a:p>
            <a:pPr marL="171450" indent="-171450">
              <a:spcBef>
                <a:spcPts val="400"/>
              </a:spcBef>
              <a:buClr>
                <a:srgbClr val="C97A0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Tiềm năng phát triển lớn trong tương lai</a:t>
            </a:r>
          </a:p>
        </p:txBody>
      </p:sp>
      <p:sp>
        <p:nvSpPr>
          <p:cNvPr id="3807" name="Quad4"/>
          <p:cNvSpPr/>
          <p:nvPr/>
        </p:nvSpPr>
        <p:spPr>
          <a:xfrm>
            <a:off x="4648200" y="3841000"/>
            <a:ext cx="4038600" cy="20000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08" name="QuadText4"/>
          <p:cNvSpPr txBox="1"/>
          <p:nvPr/>
        </p:nvSpPr>
        <p:spPr>
          <a:xfrm>
            <a:off x="4819650" y="4012450"/>
            <a:ext cx="3695700" cy="1657100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100000" lnSpcReduction="0"/>
          </a:bodyPr>
          <a:lstStyle/>
          <a:p>
            <a:pPr algn="l"/>
            <a:r>
              <a:rPr lang="en-US" sz="1300" b="1" dirty="0">
                <a:solidFill>
                  <a:srgbClr val="2E7D32"/>
                </a:solidFill>
                <a:latin typeface="Calibri"/>
              </a:rPr>
              <a:t>Threats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Không có thông tin về mối đe dọa cụ thể</a:t>
            </a:r>
          </a:p>
          <a:p>
            <a:pPr marL="171450" indent="-171450">
              <a:spcBef>
                <a:spcPts val="400"/>
              </a:spcBef>
              <a:buClr>
                <a:srgbClr val="2E7D32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Cần đánh giá rủi ro thị trường</a:t>
            </a:r>
          </a:p>
        </p:txBody>
      </p:sp>
      <p:sp>
        <p:nvSpPr>
          <p:cNvPr id="10003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Dự án phân tích thị trường</a:t>
            </a:r>
          </a:p>
        </p:txBody>
      </p:sp>
      <p:sp>
        <p:nvSpPr>
          <p:cNvPr id="10003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Tôm là loài ưu tiên với tiềm năng tăng trưởng cao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 khoáng chất và chelat hóa tăng giá trị lên 2.0-3.0 lần so với khoáng…</a:t>
            </a:r>
          </a:p>
        </p:txBody>
      </p:sp>
      <p:sp>
        <p:nvSpPr>
          <p:cNvPr id="39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39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39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39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CAO GIÁ TRỊ, CAO CÔNG NGHỆ</a:t>
            </a:r>
          </a:p>
        </p:txBody>
      </p:sp>
      <p:sp>
        <p:nvSpPr>
          <p:cNvPr id="39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CAO GIÁ TRỊ, THẤP CÔNG NGHỆ</a:t>
            </a:r>
          </a:p>
        </p:txBody>
      </p:sp>
      <p:sp>
        <p:nvSpPr>
          <p:cNvPr id="39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THẤP GIÁ TRỊ, CAO CÔNG NGHỆ</a:t>
            </a:r>
          </a:p>
        </p:txBody>
      </p:sp>
      <p:sp>
        <p:nvSpPr>
          <p:cNvPr id="39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THẤP GIÁ TRỊ, THẤP CÔNG NGHỆ</a:t>
            </a:r>
          </a:p>
        </p:txBody>
      </p:sp>
      <p:sp>
        <p:nvSpPr>
          <p:cNvPr id="3912" name="Bubble1"/>
          <p:cNvSpPr/>
          <p:nvPr/>
        </p:nvSpPr>
        <p:spPr>
          <a:xfrm>
            <a:off x="7060000" y="168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Nano</a:t>
            </a:r>
          </a:p>
        </p:txBody>
      </p:sp>
      <p:sp>
        <p:nvSpPr>
          <p:cNvPr id="3913" name="Bubble2"/>
          <p:cNvSpPr/>
          <p:nvPr/>
        </p:nvSpPr>
        <p:spPr>
          <a:xfrm>
            <a:off x="5808000" y="2628000"/>
            <a:ext cx="504000" cy="504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Chelat hóa</a:t>
            </a:r>
          </a:p>
        </p:txBody>
      </p:sp>
      <p:sp>
        <p:nvSpPr>
          <p:cNvPr id="3914" name="Bubble3"/>
          <p:cNvSpPr/>
          <p:nvPr/>
        </p:nvSpPr>
        <p:spPr>
          <a:xfrm>
            <a:off x="3160000" y="4380000"/>
            <a:ext cx="360000" cy="36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Vô cơ</a:t>
            </a:r>
          </a:p>
        </p:txBody>
      </p:sp>
      <p:sp>
        <p:nvSpPr>
          <p:cNvPr id="3915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GIÁ TRỊ TĂNG →</a:t>
            </a:r>
          </a:p>
        </p:txBody>
      </p:sp>
      <p:sp>
        <p:nvSpPr>
          <p:cNvPr id="3916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CÔNG NGHỆ ↑</a:t>
            </a:r>
          </a:p>
        </p:txBody>
      </p:sp>
      <p:sp>
        <p:nvSpPr>
          <p:cNvPr id="10003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Dự án phân tích thị trường</a:t>
            </a:r>
          </a:p>
        </p:txBody>
      </p:sp>
      <p:sp>
        <p:nvSpPr>
          <p:cNvPr id="10003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3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Công nghệ nano và chelat hóa có giá trị cao hơn đáng kể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Nano-SeNPs tăng trọng lượng lên 1.57 lần và giảm tỷ lệ tử vong sau thử…</a:t>
            </a:r>
          </a:p>
        </p:txBody>
      </p:sp>
      <p:graphicFrame>
        <p:nvGraphicFramePr>
          <p:cNvPr id="4001" name="DataTable"/>
          <p:cNvGraphicFramePr>
            <a:graphicFrameLocks noGrp="1"/>
          </p:cNvGraphicFramePr>
          <p:nvPr/>
        </p:nvGraphicFramePr>
        <p:xfrm>
          <a:off x="457200" y="1651000"/>
          <a:ext cx="8229600" cy="1100000"/>
        </p:xfrm>
        <a:graphic>
          <a:graphicData uri="http://schemas.openxmlformats.org/drawingml/2006/table">
            <a:tbl>
              <a:tblPr firstRow="0" bandRow="0"/>
              <a:tblGrid>
                <a:gridCol w="4114800"/>
                <a:gridCol w="41148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Details</a:t>
                      </a:r>
                    </a:p>
                  </a:txBody>
                  <a:tcPr marL="91440" marR="45720" marT="22860" marB="22860" anchor="ctr">
                    <a:solidFill>
                      <a:srgbClr val="002060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Nano-SeNPs tăng trọng lượng lên 1.57 lần và giảm tỷ lệ tử vong sau thử nghiệm 42%</a:t>
                      </a:r>
                    </a:p>
                  </a:txBody>
                  <a:tcPr marL="91440" marR="45720" marT="22860" marB="22860" anchor="ctr">
                    <a:solidFill>
                      <a:srgbClr val="F5F5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Key Finding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2C2C2C"/>
                          </a:solidFill>
                          <a:latin typeface="Calibri"/>
                        </a:rPr>
                        <a:t>Nano khoáng chất có hiệu quả vượt trội trong tăng trưởng và sức khỏe</a:t>
                      </a:r>
                    </a:p>
                  </a:txBody>
                  <a:tcPr marL="9144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004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Eissa et al., 2023</a:t>
            </a:r>
          </a:p>
        </p:txBody>
      </p:sp>
      <p:sp>
        <p:nvSpPr>
          <p:cNvPr id="10004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Nano khoáng chất có hiệu quả vượt trội trong tăng trưởng và sức khỏe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Chelat hóa khoáng chất giảm phân thải lên đến 40% so với vô cơ</a:t>
            </a:r>
          </a:p>
        </p:txBody>
      </p:sp>
      <p:sp>
        <p:nvSpPr>
          <p:cNvPr id="4101" name="HeatCell1"/>
          <p:cNvSpPr txBox="1"/>
          <p:nvPr/>
        </p:nvSpPr>
        <p:spPr>
          <a:xfrm>
            <a:off x="5833332" y="1620000"/>
            <a:ext cx="2166666" cy="1400000"/>
          </a:xfrm>
          <a:prstGeom prst="rect">
            <a:avLst/>
          </a:prstGeom>
          <a:solidFill>
            <a:srgbClr val="00206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Cao</a:t>
            </a:r>
          </a:p>
        </p:txBody>
      </p:sp>
      <p:sp>
        <p:nvSpPr>
          <p:cNvPr id="4102" name="HeatCell2"/>
          <p:cNvSpPr txBox="1"/>
          <p:nvPr/>
        </p:nvSpPr>
        <p:spPr>
          <a:xfrm>
            <a:off x="3666666" y="3020000"/>
            <a:ext cx="2166666" cy="1400000"/>
          </a:xfrm>
          <a:prstGeom prst="rect">
            <a:avLst/>
          </a:prstGeom>
          <a:solidFill>
            <a:srgbClr val="7FB1D9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Trung</a:t>
            </a:r>
          </a:p>
        </p:txBody>
      </p:sp>
      <p:sp>
        <p:nvSpPr>
          <p:cNvPr id="4103" name="YTick1"/>
          <p:cNvSpPr txBox="1"/>
          <p:nvPr/>
        </p:nvSpPr>
        <p:spPr>
          <a:xfrm>
            <a:off x="400000" y="16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Thấp</a:t>
            </a:r>
          </a:p>
        </p:txBody>
      </p:sp>
      <p:sp>
        <p:nvSpPr>
          <p:cNvPr id="4104" name="YTick2"/>
          <p:cNvSpPr txBox="1"/>
          <p:nvPr/>
        </p:nvSpPr>
        <p:spPr>
          <a:xfrm>
            <a:off x="400000" y="30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Trung bình</a:t>
            </a:r>
          </a:p>
        </p:txBody>
      </p:sp>
      <p:sp>
        <p:nvSpPr>
          <p:cNvPr id="4105" name="YTick3"/>
          <p:cNvSpPr txBox="1"/>
          <p:nvPr/>
        </p:nvSpPr>
        <p:spPr>
          <a:xfrm>
            <a:off x="400000" y="4420000"/>
            <a:ext cx="1060000" cy="14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Cao</a:t>
            </a:r>
          </a:p>
        </p:txBody>
      </p:sp>
      <p:sp>
        <p:nvSpPr>
          <p:cNvPr id="4106" name="XTick1"/>
          <p:cNvSpPr txBox="1"/>
          <p:nvPr/>
        </p:nvSpPr>
        <p:spPr>
          <a:xfrm>
            <a:off x="1500000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Thấp</a:t>
            </a:r>
          </a:p>
        </p:txBody>
      </p:sp>
      <p:sp>
        <p:nvSpPr>
          <p:cNvPr id="4107" name="XTick2"/>
          <p:cNvSpPr txBox="1"/>
          <p:nvPr/>
        </p:nvSpPr>
        <p:spPr>
          <a:xfrm>
            <a:off x="3666666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Trung bình</a:t>
            </a:r>
          </a:p>
        </p:txBody>
      </p:sp>
      <p:sp>
        <p:nvSpPr>
          <p:cNvPr id="4108" name="XTick3"/>
          <p:cNvSpPr txBox="1"/>
          <p:nvPr/>
        </p:nvSpPr>
        <p:spPr>
          <a:xfrm>
            <a:off x="5833332" y="5760000"/>
            <a:ext cx="2166666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Cao</a:t>
            </a:r>
          </a:p>
        </p:txBody>
      </p:sp>
      <p:sp>
        <p:nvSpPr>
          <p:cNvPr id="4109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Tác động</a:t>
            </a:r>
          </a:p>
        </p:txBody>
      </p:sp>
      <p:sp>
        <p:nvSpPr>
          <p:cNvPr id="4110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Xác suất</a:t>
            </a:r>
          </a:p>
        </p:txBody>
      </p:sp>
      <p:sp>
        <p:nvSpPr>
          <p:cNvPr id="10004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al., 2025</a:t>
            </a:r>
          </a:p>
        </p:txBody>
      </p:sp>
      <p:sp>
        <p:nvSpPr>
          <p:cNvPr id="10004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Công nghệ này đáp ứng các quy định môi trường ngày càng nghiêm ngặt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Việt Nam, Ấn Độ và Ecuador là các thị trường tăng trưởng nhanh nhất với…</a:t>
            </a:r>
          </a:p>
        </p:txBody>
      </p:sp>
      <p:sp>
        <p:nvSpPr>
          <p:cNvPr id="42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Tăng trưởng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5-7%</a:t>
            </a:r>
            <a:r>
              <a:rPr lang="en-US" sz="1100" b="1" dirty="0">
                <a:solidFill>
                  <a:srgbClr val="2E7D32"/>
                </a:solidFill>
                <a:latin typeface="Calibri"/>
              </a:rPr>
              <a:t> ▲ +5-7%</a:t>
            </a:r>
          </a:p>
        </p:txBody>
      </p:sp>
      <p:sp>
        <p:nvSpPr>
          <p:cNvPr id="42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Thị trường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Việt Nam, Ấn Độ, Ecuador</a:t>
            </a:r>
          </a:p>
        </p:txBody>
      </p:sp>
      <p:sp>
        <p:nvSpPr>
          <p:cNvPr id="4203" name="DriverL3_1_1"/>
          <p:cNvSpPr/>
          <p:nvPr/>
        </p:nvSpPr>
        <p:spPr>
          <a:xfrm>
            <a:off x="5300000" y="138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Sử dụng khoáng chất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70%</a:t>
            </a:r>
          </a:p>
        </p:txBody>
      </p:sp>
      <p:sp>
        <p:nvSpPr>
          <p:cNvPr id="4204" name="DriverL3_1_2"/>
          <p:cNvSpPr/>
          <p:nvPr/>
        </p:nvSpPr>
        <p:spPr>
          <a:xfrm>
            <a:off x="5300000" y="203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Tiềm năng cao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Tập trung</a:t>
            </a:r>
          </a:p>
        </p:txBody>
      </p:sp>
      <p:cxnSp>
        <p:nvCxnSpPr>
          <p:cNvPr id="4205" name="BranchRoot_1"/>
          <p:cNvCxnSpPr>
            <a:stCxn id="4201" idx="1"/>
            <a:endCxn id="42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206" name="BranchL2_1_1"/>
          <p:cNvCxnSpPr>
            <a:stCxn id="4202" idx="1"/>
            <a:endCxn id="4203" idx="3"/>
          </p:cNvCxnSpPr>
          <p:nvPr/>
        </p:nvCxnSpPr>
        <p:spPr>
          <a:xfrm flipV="1">
            <a:off x="4800000" y="165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207" name="BranchL2_1_2"/>
          <p:cNvCxnSpPr>
            <a:stCxn id="4202" idx="1"/>
            <a:endCxn id="4204" idx="3"/>
          </p:cNvCxnSpPr>
          <p:nvPr/>
        </p:nvCxnSpPr>
        <p:spPr>
          <a:xfrm>
            <a:off x="4800000" y="198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4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Dự án phân tích thị trường</a:t>
            </a:r>
          </a:p>
        </p:txBody>
      </p:sp>
      <p:sp>
        <p:nvSpPr>
          <p:cNvPr id="10004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Tập trung vào các thị trường có tiềm năng cao nhất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Cargill, Skretting/Nutreco và BioMar kiểm soát 50-55% thị trường nuôi…</a:t>
            </a:r>
          </a:p>
        </p:txBody>
      </p:sp>
      <p:sp>
        <p:nvSpPr>
          <p:cNvPr id="43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Q1'24</a:t>
            </a:r>
          </a:p>
        </p:txBody>
      </p:sp>
      <p:sp>
        <p:nvSpPr>
          <p:cNvPr id="43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Q2'24</a:t>
            </a:r>
          </a:p>
        </p:txBody>
      </p:sp>
      <p:sp>
        <p:nvSpPr>
          <p:cNvPr id="43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Q3'24</a:t>
            </a:r>
          </a:p>
        </p:txBody>
      </p:sp>
      <p:sp>
        <p:nvSpPr>
          <p:cNvPr id="43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Q4'24</a:t>
            </a:r>
          </a:p>
        </p:txBody>
      </p:sp>
      <p:cxnSp>
        <p:nvCxnSpPr>
          <p:cNvPr id="4305" name="QGrid1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306" name="QGrid2"/>
          <p:cNvCxnSpPr>
    </p:cNvCxnSpPr>
          <p:nvPr/>
        </p:nvCxnSpPr>
        <p:spPr>
          <a:xfrm>
            <a:off x="54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307" name="QGrid3"/>
          <p:cNvCxnSpPr>
    </p:cNvCxnSpPr>
          <p:nvPr/>
        </p:nvCxnSpPr>
        <p:spPr>
          <a:xfrm>
            <a:off x="707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43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Phân tích thị trường</a:t>
            </a:r>
          </a:p>
        </p:txBody>
      </p:sp>
      <p:sp>
        <p:nvSpPr>
          <p:cNvPr id="4309" name="WsBar1_1"/>
          <p:cNvSpPr/>
          <p:nvPr/>
        </p:nvSpPr>
        <p:spPr>
          <a:xfrm>
            <a:off x="2245720" y="2344000"/>
            <a:ext cx="3158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Đánh giá đối thủ</a:t>
            </a:r>
          </a:p>
        </p:txBody>
      </p:sp>
      <p:sp>
        <p:nvSpPr>
          <p:cNvPr id="4310" name="Ms1_1"/>
          <p:cNvSpPr/>
          <p:nvPr/>
        </p:nvSpPr>
        <p:spPr>
          <a:xfrm>
            <a:off x="36990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11" name="MsLbl1_1"/>
          <p:cNvSpPr txBox="1"/>
          <p:nvPr/>
        </p:nvSpPr>
        <p:spPr>
          <a:xfrm>
            <a:off x="34578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700" dirty="0">
                <a:solidFill>
                  <a:srgbClr val="595959"/>
                </a:solidFill>
                <a:latin typeface="Calibri"/>
              </a:rPr>
              <a:t>Báo cáo hoàn t…</a:t>
            </a:r>
          </a:p>
        </p:txBody>
      </p:sp>
      <p:sp>
        <p:nvSpPr>
          <p:cNvPr id="4312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Chiến lược hợp tác</a:t>
            </a:r>
          </a:p>
        </p:txBody>
      </p:sp>
      <p:sp>
        <p:nvSpPr>
          <p:cNvPr id="4313" name="WsBar2_1"/>
          <p:cNvSpPr/>
          <p:nvPr/>
        </p:nvSpPr>
        <p:spPr>
          <a:xfrm>
            <a:off x="3870720" y="31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Thảo luận đối tác</a:t>
            </a:r>
          </a:p>
        </p:txBody>
      </p:sp>
      <p:sp>
        <p:nvSpPr>
          <p:cNvPr id="4314" name="Ms2_1"/>
          <p:cNvSpPr/>
          <p:nvPr/>
        </p:nvSpPr>
        <p:spPr>
          <a:xfrm>
            <a:off x="6949000" y="32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15" name="MsLbl2_1"/>
          <p:cNvSpPr txBox="1"/>
          <p:nvPr/>
        </p:nvSpPr>
        <p:spPr>
          <a:xfrm>
            <a:off x="6707800" y="34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700" dirty="0">
                <a:solidFill>
                  <a:srgbClr val="595959"/>
                </a:solidFill>
                <a:latin typeface="Calibri"/>
              </a:rPr>
              <a:t>Kết quả hợp tác</a:t>
            </a:r>
          </a:p>
        </p:txBody>
      </p:sp>
      <p:cxnSp>
        <p:nvCxnSpPr>
          <p:cNvPr id="4316" name="TodayLine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4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Dự án phân tích thị trường</a:t>
            </a:r>
          </a:p>
        </p:txBody>
      </p:sp>
      <p:sp>
        <p:nvSpPr>
          <p:cNvPr id="10004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Cần chiến lược hợp tác để cạnh tranh hiệu quả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Tập trung vào Việt Nam, Ấn Độ và Ecuador để khai thác cơ hội $6.4 tỷ thị…</a:t>
            </a:r>
          </a:p>
        </p:txBody>
      </p:sp>
      <p:sp>
        <p:nvSpPr>
          <p:cNvPr id="4401" name="RadarRing1"/>
          <p:cNvSpPr/>
          <p:nvPr/>
        </p:nvSpPr>
        <p:spPr>
          <a:xfrm>
            <a:off x="3288231" y="3360000"/>
            <a:ext cx="623538" cy="540000"/>
          </a:xfrm>
          <a:custGeom>
            <a:avLst/>
            <a:gdLst/>
            <a:ahLst/>
            <a:cxnLst/>
            <a:rect l="0" t="0" r="623538" b="540000"/>
            <a:pathLst>
              <a:path w="623538" h="540000">
                <a:moveTo>
                  <a:pt x="311769" y="0"/>
                </a:moveTo>
                <a:lnTo>
                  <a:pt x="623538" y="540000"/>
                </a:lnTo>
                <a:lnTo>
                  <a:pt x="0" y="5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02" name="RadarRing2"/>
          <p:cNvSpPr/>
          <p:nvPr/>
        </p:nvSpPr>
        <p:spPr>
          <a:xfrm>
            <a:off x="2976462" y="3000000"/>
            <a:ext cx="1247076" cy="1080000"/>
          </a:xfrm>
          <a:custGeom>
            <a:avLst/>
            <a:gdLst/>
            <a:ahLst/>
            <a:cxnLst/>
            <a:rect l="0" t="0" r="1247076" b="1080000"/>
            <a:pathLst>
              <a:path w="1247076" h="1080000">
                <a:moveTo>
                  <a:pt x="623538" y="0"/>
                </a:moveTo>
                <a:lnTo>
                  <a:pt x="1247076" y="108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03" name="RadarRing3"/>
          <p:cNvSpPr/>
          <p:nvPr/>
        </p:nvSpPr>
        <p:spPr>
          <a:xfrm>
            <a:off x="2664693" y="2640000"/>
            <a:ext cx="1870614" cy="1620000"/>
          </a:xfrm>
          <a:custGeom>
            <a:avLst/>
            <a:gdLst/>
            <a:ahLst/>
            <a:cxnLst/>
            <a:rect l="0" t="0" r="1870614" b="1620000"/>
            <a:pathLst>
              <a:path w="1870614" h="1620000">
                <a:moveTo>
                  <a:pt x="935307" y="0"/>
                </a:moveTo>
                <a:lnTo>
                  <a:pt x="1870614" y="1620000"/>
                </a:lnTo>
                <a:lnTo>
                  <a:pt x="0" y="16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04" name="RadarRing4"/>
          <p:cNvSpPr/>
          <p:nvPr/>
        </p:nvSpPr>
        <p:spPr>
          <a:xfrm>
            <a:off x="2352923" y="2280000"/>
            <a:ext cx="2494154" cy="2160000"/>
          </a:xfrm>
          <a:custGeom>
            <a:avLst/>
            <a:gdLst/>
            <a:ahLst/>
            <a:cxnLst/>
            <a:rect l="0" t="0" r="2494154" b="2160000"/>
            <a:pathLst>
              <a:path w="2494154" h="2160000">
                <a:moveTo>
                  <a:pt x="1247077" y="0"/>
                </a:moveTo>
                <a:lnTo>
                  <a:pt x="2494154" y="2160000"/>
                </a:lnTo>
                <a:lnTo>
                  <a:pt x="0" y="21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05" name="RadarRing5"/>
          <p:cNvSpPr/>
          <p:nvPr/>
        </p:nvSpPr>
        <p:spPr>
          <a:xfrm>
            <a:off x="2041154" y="1920000"/>
            <a:ext cx="3117692" cy="2700000"/>
          </a:xfrm>
          <a:custGeom>
            <a:avLst/>
            <a:gdLst/>
            <a:ahLst/>
            <a:cxnLst/>
            <a:rect l="0" t="0" r="3117692" b="2700000"/>
            <a:pathLst>
              <a:path w="3117692" h="2700000">
                <a:moveTo>
                  <a:pt x="1558846" y="0"/>
                </a:moveTo>
                <a:lnTo>
                  <a:pt x="3117692" y="2700000"/>
                </a:lnTo>
                <a:lnTo>
                  <a:pt x="0" y="27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44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4407" name="RadarSpoke2"/>
          <p:cNvCxnSpPr>
    </p:cNvCxnSpPr>
          <p:nvPr/>
        </p:nvCxnSpPr>
        <p:spPr>
          <a:xfrm>
            <a:off x="3600000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4408" name="RadarSpoke3"/>
          <p:cNvCxnSpPr>
    </p:cNvCxnSpPr>
          <p:nvPr/>
        </p:nvCxnSpPr>
        <p:spPr>
          <a:xfrm flipH="1">
            <a:off x="2041154" y="3720000"/>
            <a:ext cx="1558846" cy="9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4409" name="RadarTarget"/>
          <p:cNvSpPr/>
          <p:nvPr/>
        </p:nvSpPr>
        <p:spPr>
          <a:xfrm>
            <a:off x="2352923" y="1920000"/>
            <a:ext cx="2805923" cy="2700000"/>
          </a:xfrm>
          <a:custGeom>
            <a:avLst/>
            <a:gdLst/>
            <a:ahLst/>
            <a:cxnLst/>
            <a:rect l="0" t="0" r="2805923" b="2700000"/>
            <a:pathLst>
              <a:path w="2805923" h="2700000">
                <a:moveTo>
                  <a:pt x="1247077" y="0"/>
                </a:moveTo>
                <a:lnTo>
                  <a:pt x="2805923" y="2700000"/>
                </a:lnTo>
                <a:lnTo>
                  <a:pt x="0" y="252000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10" name="RadarCurrent"/>
          <p:cNvSpPr/>
          <p:nvPr/>
        </p:nvSpPr>
        <p:spPr>
          <a:xfrm>
            <a:off x="2976462" y="2280000"/>
            <a:ext cx="1558845" cy="1980000"/>
          </a:xfrm>
          <a:custGeom>
            <a:avLst/>
            <a:gdLst/>
            <a:ahLst/>
            <a:cxnLst/>
            <a:rect l="0" t="0" r="1558845" b="1980000"/>
            <a:pathLst>
              <a:path w="1558845" h="1980000">
                <a:moveTo>
                  <a:pt x="623538" y="0"/>
                </a:moveTo>
                <a:lnTo>
                  <a:pt x="1558845" y="198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11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Tiềm năng thị trường</a:t>
            </a:r>
          </a:p>
        </p:txBody>
      </p:sp>
      <p:sp>
        <p:nvSpPr>
          <p:cNvPr id="4412" name="RadarAxisLbl2"/>
          <p:cNvSpPr txBox="1"/>
          <p:nvPr/>
        </p:nvSpPr>
        <p:spPr>
          <a:xfrm>
            <a:off x="4966692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Tốc độ tăng trưởng</a:t>
            </a:r>
          </a:p>
        </p:txBody>
      </p:sp>
      <p:sp>
        <p:nvSpPr>
          <p:cNvPr id="4413" name="RadarAxisLbl3"/>
          <p:cNvSpPr txBox="1"/>
          <p:nvPr/>
        </p:nvSpPr>
        <p:spPr>
          <a:xfrm>
            <a:off x="1433308" y="462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Lợi thế cạnh tranh</a:t>
            </a:r>
          </a:p>
        </p:txBody>
      </p:sp>
      <p:sp>
        <p:nvSpPr>
          <p:cNvPr id="4414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16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4415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17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4418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Tập trung vào 3 thị trường có tiềm năng cao nhất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Đạt mục tiêu 6.4 tỷ USD trong 3 năm tới</a:t>
            </a:r>
          </a:p>
        </p:txBody>
      </p:sp>
      <p:sp>
        <p:nvSpPr>
          <p:cNvPr id="10004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Dự án phân tích thị trường</a:t>
            </a:r>
          </a:p>
        </p:txBody>
      </p:sp>
      <p:sp>
        <p:nvSpPr>
          <p:cNvPr id="10004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Tập trung vào các thị trường có tiềm năng cao nhất để đạt được lợi thế cạnh tranh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Nano khoáng chất cải thiện hiệu quả sinh trưởng thủy sản bằng cách tăng trọng lượng và giảm tỷ lệ tử vong.</a:t>
            </a:r>
          </a:p>
        </p:txBody>
      </p:sp>
      <p:sp>
        <p:nvSpPr>
          <p:cNvPr id="45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Tăng trọng lượng đáng kể</a:t>
            </a:r>
          </a:p>
        </p:txBody>
      </p:sp>
      <p:sp>
        <p:nvSpPr>
          <p:cNvPr id="45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Giảm tỷ lệ tử vong</a:t>
            </a:r>
          </a:p>
        </p:txBody>
      </p:sp>
      <p:sp>
        <p:nvSpPr>
          <p:cNvPr id="45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Cải thiện hiệu quả sinh trưởng</a:t>
            </a:r>
          </a:p>
        </p:txBody>
      </p:sp>
      <p:sp>
        <p:nvSpPr>
          <p:cNvPr id="45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Nano-SeNPs tăng trọng lượng lên 57% (Eissa et al., 2023)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Clay-supported ZnO-K tăng trọng lượng lên 30% (Mohammady et al., 2021)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 khoáng chất hỗ trợ phát triển cơ thể cá hiệu quả hơn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Tăng trọng lượng giúp giảm chi phí thức ăn và tăng hiệu suất nuôi trồng</a:t>
            </a:r>
          </a:p>
        </p:txBody>
      </p:sp>
      <p:sp>
        <p:nvSpPr>
          <p:cNvPr id="45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Nano-SeNPs giảm tỷ lệ tử vong lên 42% (Eissa et al., 2023)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 khoáng chất cải thiện sức khỏe tổng thể của cá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Giảm stress và bệnh lý do môi trường nuôi trồng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Tăng cường hệ miễn dịch của cá, giảm nguy cơ tử vong</a:t>
            </a:r>
          </a:p>
        </p:txBody>
      </p:sp>
      <p:sp>
        <p:nvSpPr>
          <p:cNvPr id="45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 khoáng chất tăng hiệu quả chuyển đổi thức ăn thành trọng lượng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Tăng tốc độ tăng trưởng và kích thước cá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Giảm thời gian nuôi trồng, tăng năng suất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Hỗ trợ phát triển bền vững trong ngành thủy sản</a:t>
            </a:r>
          </a:p>
        </p:txBody>
      </p:sp>
      <p:cxnSp>
        <p:nvCxnSpPr>
          <p:cNvPr id="4508" name="PyramidConn1"/>
          <p:cNvCxnSpPr>
            <a:stCxn id="4501" idx="2"/>
            <a:endCxn id="45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509" name="PyramidConn2"/>
          <p:cNvCxnSpPr>
            <a:stCxn id="4501" idx="2"/>
            <a:endCxn id="45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4510" name="PyramidConn3"/>
          <p:cNvCxnSpPr>
            <a:stCxn id="4501" idx="2"/>
            <a:endCxn id="45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Chelat hóa khoáng chất giảm phân thải lên đến 40% so với vô cơ</a:t>
            </a:r>
          </a:p>
        </p:txBody>
      </p:sp>
      <p:sp>
        <p:nvSpPr>
          <p:cNvPr id="4601" name="HvHeadCrit"/>
          <p:cNvSpPr txBox="1"/>
          <p:nvPr/>
        </p:nvSpPr>
        <p:spPr>
          <a:xfrm>
            <a:off x="457200" y="1620000"/>
            <a:ext cx="27000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4602" name="HvHeadOpt1"/>
          <p:cNvSpPr txBox="1"/>
          <p:nvPr/>
        </p:nvSpPr>
        <p:spPr>
          <a:xfrm>
            <a:off x="31572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CHELAT HÓA KHOÁNG CHẤT</a:t>
            </a:r>
          </a:p>
        </p:txBody>
      </p:sp>
      <p:sp>
        <p:nvSpPr>
          <p:cNvPr id="4603" name="HvHeadOpt2"/>
          <p:cNvSpPr txBox="1"/>
          <p:nvPr/>
        </p:nvSpPr>
        <p:spPr>
          <a:xfrm>
            <a:off x="5922000" y="1620000"/>
            <a:ext cx="2764800" cy="360000"/>
          </a:xfrm>
          <a:prstGeom prst="rect">
            <a:avLst/>
          </a:prstGeom>
          <a:solidFill>
            <a:srgbClr val="002060"/>
          </a:solidFill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VÔ CƠ TRUYỀN THỐNG</a:t>
            </a:r>
          </a:p>
        </p:txBody>
      </p:sp>
      <p:sp>
        <p:nvSpPr>
          <p:cNvPr id="4604" name="HvCrit1"/>
          <p:cNvSpPr txBox="1"/>
          <p:nvPr/>
        </p:nvSpPr>
        <p:spPr>
          <a:xfrm>
            <a:off x="457200" y="1980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Phân thải khoáng chất</a:t>
            </a:r>
          </a:p>
        </p:txBody>
      </p:sp>
      <p:sp>
        <p:nvSpPr>
          <p:cNvPr id="4605" name="HvCell1_1"/>
          <p:cNvSpPr txBox="1"/>
          <p:nvPr/>
        </p:nvSpPr>
        <p:spPr>
          <a:xfrm>
            <a:off x="31572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4606" name="HvCell1_2"/>
          <p:cNvSpPr txBox="1"/>
          <p:nvPr/>
        </p:nvSpPr>
        <p:spPr>
          <a:xfrm>
            <a:off x="5922000" y="1980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4607" name="HvCrit2"/>
          <p:cNvSpPr txBox="1"/>
          <p:nvPr/>
        </p:nvSpPr>
        <p:spPr>
          <a:xfrm>
            <a:off x="457200" y="2412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Tỷ lệ FCR</a:t>
            </a:r>
          </a:p>
        </p:txBody>
      </p:sp>
      <p:sp>
        <p:nvSpPr>
          <p:cNvPr id="4608" name="HvCell2_1"/>
          <p:cNvSpPr txBox="1"/>
          <p:nvPr/>
        </p:nvSpPr>
        <p:spPr>
          <a:xfrm>
            <a:off x="31572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4609" name="HvCell2_2"/>
          <p:cNvSpPr txBox="1"/>
          <p:nvPr/>
        </p:nvSpPr>
        <p:spPr>
          <a:xfrm>
            <a:off x="5922000" y="2412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97A00"/>
                </a:solidFill>
                <a:latin typeface="Calibri"/>
              </a:rPr>
              <a:t>◑</a:t>
            </a:r>
          </a:p>
        </p:txBody>
      </p:sp>
      <p:sp>
        <p:nvSpPr>
          <p:cNvPr id="4610" name="HvCrit3"/>
          <p:cNvSpPr txBox="1"/>
          <p:nvPr/>
        </p:nvSpPr>
        <p:spPr>
          <a:xfrm>
            <a:off x="457200" y="2844000"/>
            <a:ext cx="27000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Đáp ứng quy định</a:t>
            </a:r>
          </a:p>
        </p:txBody>
      </p:sp>
      <p:sp>
        <p:nvSpPr>
          <p:cNvPr id="4611" name="HvCell3_1"/>
          <p:cNvSpPr txBox="1"/>
          <p:nvPr/>
        </p:nvSpPr>
        <p:spPr>
          <a:xfrm>
            <a:off x="3157200" y="2844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2E7D32"/>
                </a:solidFill>
                <a:latin typeface="Calibri"/>
              </a:rPr>
              <a:t>●</a:t>
            </a:r>
          </a:p>
        </p:txBody>
      </p:sp>
      <p:sp>
        <p:nvSpPr>
          <p:cNvPr id="4612" name="HvCell3_2"/>
          <p:cNvSpPr txBox="1"/>
          <p:nvPr/>
        </p:nvSpPr>
        <p:spPr>
          <a:xfrm>
            <a:off x="5922000" y="2844000"/>
            <a:ext cx="2764800" cy="432000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wrap="square" anchor="ctr" lIns="91440" tIns="0" rIns="45720" bIns="0">
            <a:noAutofit/>
          </a:bodyPr>
          <a:lstStyle/>
          <a:p>
            <a:pPr algn="ctr"/>
            <a:r>
              <a:rPr lang="en-US" sz="2000" dirty="0">
                <a:solidFill>
                  <a:srgbClr val="C00000"/>
                </a:solidFill>
                <a:latin typeface="Calibri"/>
              </a:rPr>
              <a:t>◔</a:t>
            </a:r>
          </a:p>
        </p:txBody>
      </p:sp>
      <p:sp>
        <p:nvSpPr>
          <p:cNvPr id="10004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Huang et al., 2025; Eissa et al., 2023</a:t>
            </a:r>
          </a:p>
        </p:txBody>
      </p:sp>
      <p:sp>
        <p:nvSpPr>
          <p:cNvPr id="10004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Công nghệ này đáp ứng các quy định môi trường ngày càng nghiêm ngặt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7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Thị trường nuôi tôm tăng từ 4.3 tỷ USD (2024) lên 6.4 tỷ USD (2035)</a:t>
            </a:r>
          </a:p>
        </p:txBody>
      </p:sp>
      <p:sp>
        <p:nvSpPr>
          <p:cNvPr id="4701" name="QHead1"/>
          <p:cNvSpPr txBox="1"/>
          <p:nvPr/>
        </p:nvSpPr>
        <p:spPr>
          <a:xfrm>
            <a:off x="2200000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Q1'24</a:t>
            </a:r>
          </a:p>
        </p:txBody>
      </p:sp>
      <p:sp>
        <p:nvSpPr>
          <p:cNvPr id="4702" name="QHead2"/>
          <p:cNvSpPr txBox="1"/>
          <p:nvPr/>
        </p:nvSpPr>
        <p:spPr>
          <a:xfrm>
            <a:off x="2741666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Q2'24</a:t>
            </a:r>
          </a:p>
        </p:txBody>
      </p:sp>
      <p:sp>
        <p:nvSpPr>
          <p:cNvPr id="4703" name="QHead3"/>
          <p:cNvSpPr txBox="1"/>
          <p:nvPr/>
        </p:nvSpPr>
        <p:spPr>
          <a:xfrm>
            <a:off x="3283332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Q3'24</a:t>
            </a:r>
          </a:p>
        </p:txBody>
      </p:sp>
      <p:sp>
        <p:nvSpPr>
          <p:cNvPr id="4704" name="QHead4"/>
          <p:cNvSpPr txBox="1"/>
          <p:nvPr/>
        </p:nvSpPr>
        <p:spPr>
          <a:xfrm>
            <a:off x="3824998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Q4'24</a:t>
            </a:r>
          </a:p>
        </p:txBody>
      </p:sp>
      <p:sp>
        <p:nvSpPr>
          <p:cNvPr id="4705" name="QHead5"/>
          <p:cNvSpPr txBox="1"/>
          <p:nvPr/>
        </p:nvSpPr>
        <p:spPr>
          <a:xfrm>
            <a:off x="4366664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Q1'25</a:t>
            </a:r>
          </a:p>
        </p:txBody>
      </p:sp>
      <p:sp>
        <p:nvSpPr>
          <p:cNvPr id="4706" name="QHead6"/>
          <p:cNvSpPr txBox="1"/>
          <p:nvPr/>
        </p:nvSpPr>
        <p:spPr>
          <a:xfrm>
            <a:off x="4908330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Q2'25</a:t>
            </a:r>
          </a:p>
        </p:txBody>
      </p:sp>
      <p:sp>
        <p:nvSpPr>
          <p:cNvPr id="4707" name="QHead7"/>
          <p:cNvSpPr txBox="1"/>
          <p:nvPr/>
        </p:nvSpPr>
        <p:spPr>
          <a:xfrm>
            <a:off x="5449996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Q3'25</a:t>
            </a:r>
          </a:p>
        </p:txBody>
      </p:sp>
      <p:sp>
        <p:nvSpPr>
          <p:cNvPr id="4708" name="QHead8"/>
          <p:cNvSpPr txBox="1"/>
          <p:nvPr/>
        </p:nvSpPr>
        <p:spPr>
          <a:xfrm>
            <a:off x="5991662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Q4'25</a:t>
            </a:r>
          </a:p>
        </p:txBody>
      </p:sp>
      <p:sp>
        <p:nvSpPr>
          <p:cNvPr id="4709" name="QHead9"/>
          <p:cNvSpPr txBox="1"/>
          <p:nvPr/>
        </p:nvSpPr>
        <p:spPr>
          <a:xfrm>
            <a:off x="6533328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Q1'26</a:t>
            </a:r>
          </a:p>
        </p:txBody>
      </p:sp>
      <p:sp>
        <p:nvSpPr>
          <p:cNvPr id="4710" name="QHead10"/>
          <p:cNvSpPr txBox="1"/>
          <p:nvPr/>
        </p:nvSpPr>
        <p:spPr>
          <a:xfrm>
            <a:off x="7074994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Q2'26</a:t>
            </a:r>
          </a:p>
        </p:txBody>
      </p:sp>
      <p:sp>
        <p:nvSpPr>
          <p:cNvPr id="4711" name="QHead11"/>
          <p:cNvSpPr txBox="1"/>
          <p:nvPr/>
        </p:nvSpPr>
        <p:spPr>
          <a:xfrm>
            <a:off x="7616660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Q3'26</a:t>
            </a:r>
          </a:p>
        </p:txBody>
      </p:sp>
      <p:sp>
        <p:nvSpPr>
          <p:cNvPr id="4712" name="QHead12"/>
          <p:cNvSpPr txBox="1"/>
          <p:nvPr/>
        </p:nvSpPr>
        <p:spPr>
          <a:xfrm>
            <a:off x="8158326" y="1620000"/>
            <a:ext cx="541666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Q4'26</a:t>
            </a:r>
          </a:p>
        </p:txBody>
      </p:sp>
      <p:cxnSp>
        <p:nvCxnSpPr>
          <p:cNvPr id="4713" name="QGrid1"/>
          <p:cNvCxnSpPr>
    </p:cNvCxnSpPr>
          <p:nvPr/>
        </p:nvCxnSpPr>
        <p:spPr>
          <a:xfrm>
            <a:off x="2741666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714" name="QGrid2"/>
          <p:cNvCxnSpPr>
    </p:cNvCxnSpPr>
          <p:nvPr/>
        </p:nvCxnSpPr>
        <p:spPr>
          <a:xfrm>
            <a:off x="3283332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715" name="QGrid3"/>
          <p:cNvCxnSpPr>
    </p:cNvCxnSpPr>
          <p:nvPr/>
        </p:nvCxnSpPr>
        <p:spPr>
          <a:xfrm>
            <a:off x="3824998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716" name="QGrid4"/>
          <p:cNvCxnSpPr>
    </p:cNvCxnSpPr>
          <p:nvPr/>
        </p:nvCxnSpPr>
        <p:spPr>
          <a:xfrm>
            <a:off x="4366664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717" name="QGrid5"/>
          <p:cNvCxnSpPr>
    </p:cNvCxnSpPr>
          <p:nvPr/>
        </p:nvCxnSpPr>
        <p:spPr>
          <a:xfrm>
            <a:off x="490833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718" name="QGrid6"/>
          <p:cNvCxnSpPr>
    </p:cNvCxnSpPr>
          <p:nvPr/>
        </p:nvCxnSpPr>
        <p:spPr>
          <a:xfrm>
            <a:off x="5449996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719" name="QGrid7"/>
          <p:cNvCxnSpPr>
    </p:cNvCxnSpPr>
          <p:nvPr/>
        </p:nvCxnSpPr>
        <p:spPr>
          <a:xfrm>
            <a:off x="5991662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720" name="QGrid8"/>
          <p:cNvCxnSpPr>
    </p:cNvCxnSpPr>
          <p:nvPr/>
        </p:nvCxnSpPr>
        <p:spPr>
          <a:xfrm>
            <a:off x="6533328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721" name="QGrid9"/>
          <p:cNvCxnSpPr>
    </p:cNvCxnSpPr>
          <p:nvPr/>
        </p:nvCxnSpPr>
        <p:spPr>
          <a:xfrm>
            <a:off x="7074994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722" name="QGrid10"/>
          <p:cNvCxnSpPr>
    </p:cNvCxnSpPr>
          <p:nvPr/>
        </p:nvCxnSpPr>
        <p:spPr>
          <a:xfrm>
            <a:off x="761666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4723" name="QGrid11"/>
          <p:cNvCxnSpPr>
    </p:cNvCxnSpPr>
          <p:nvPr/>
        </p:nvCxnSpPr>
        <p:spPr>
          <a:xfrm>
            <a:off x="8158326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4724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Nghiên cứu tôm</a:t>
            </a:r>
          </a:p>
        </p:txBody>
      </p:sp>
      <p:sp>
        <p:nvSpPr>
          <p:cNvPr id="4725" name="WsBar1_1"/>
          <p:cNvSpPr/>
          <p:nvPr/>
        </p:nvSpPr>
        <p:spPr>
          <a:xfrm>
            <a:off x="2245720" y="2344000"/>
            <a:ext cx="3158556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Phát triển công nghệ</a:t>
            </a:r>
          </a:p>
        </p:txBody>
      </p:sp>
      <p:sp>
        <p:nvSpPr>
          <p:cNvPr id="4726" name="Ms1_1"/>
          <p:cNvSpPr/>
          <p:nvPr/>
        </p:nvSpPr>
        <p:spPr>
          <a:xfrm>
            <a:off x="478233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27" name="MsLbl1_1"/>
          <p:cNvSpPr txBox="1"/>
          <p:nvPr/>
        </p:nvSpPr>
        <p:spPr>
          <a:xfrm>
            <a:off x="454113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700" dirty="0">
                <a:solidFill>
                  <a:srgbClr val="595959"/>
                </a:solidFill>
                <a:latin typeface="Calibri"/>
              </a:rPr>
              <a:t>Kết quả nghiê…</a:t>
            </a:r>
          </a:p>
        </p:txBody>
      </p:sp>
      <p:sp>
        <p:nvSpPr>
          <p:cNvPr id="4728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Phát triển thị trường</a:t>
            </a:r>
          </a:p>
        </p:txBody>
      </p:sp>
      <p:sp>
        <p:nvSpPr>
          <p:cNvPr id="4729" name="WsBar2_1"/>
          <p:cNvSpPr/>
          <p:nvPr/>
        </p:nvSpPr>
        <p:spPr>
          <a:xfrm>
            <a:off x="3329052" y="3144000"/>
            <a:ext cx="3700222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Tăng sản lượng</a:t>
            </a:r>
          </a:p>
        </p:txBody>
      </p:sp>
      <p:sp>
        <p:nvSpPr>
          <p:cNvPr id="4730" name="Ms2_1"/>
          <p:cNvSpPr/>
          <p:nvPr/>
        </p:nvSpPr>
        <p:spPr>
          <a:xfrm>
            <a:off x="6407328" y="32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31" name="MsLbl2_1"/>
          <p:cNvSpPr txBox="1"/>
          <p:nvPr/>
        </p:nvSpPr>
        <p:spPr>
          <a:xfrm>
            <a:off x="6166128" y="34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700" dirty="0">
                <a:solidFill>
                  <a:srgbClr val="595959"/>
                </a:solidFill>
                <a:latin typeface="Calibri"/>
              </a:rPr>
              <a:t>Đạt 6.4 tỷ USD</a:t>
            </a:r>
          </a:p>
        </p:txBody>
      </p:sp>
      <p:cxnSp>
        <p:nvCxnSpPr>
          <p:cNvPr id="4732" name="TodayLine"/>
          <p:cNvCxnSpPr>
    </p:cNvCxnSpPr>
          <p:nvPr/>
        </p:nvCxnSpPr>
        <p:spPr>
          <a:xfrm>
            <a:off x="2200000" y="2160000"/>
            <a:ext cx="0" cy="16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47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Market reports 2024-2025</a:t>
            </a:r>
          </a:p>
        </p:txBody>
      </p:sp>
      <p:sp>
        <p:nvSpPr>
          <p:cNvPr id="100047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7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Tôm là loài ưu tiên với hiệu quả nghiên cứu cao và tiềm năng tăng trưởng lớn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4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Quyền sở hữu trí tuệ nano khoáng chất còn thiếu hụt, tạo cơ hội cho các…</a:t>
            </a:r>
          </a:p>
        </p:txBody>
      </p:sp>
      <p:cxnSp>
        <p:nvCxnSpPr>
          <p:cNvPr id="4801" name="LinkIn1"/>
          <p:cNvCxnSpPr>
    </p:cNvCxnSpPr>
          <p:nvPr/>
        </p:nvCxnSpPr>
        <p:spPr>
          <a:xfrm flipH="1" flipV="1">
            <a:off x="2350000" y="2060000"/>
            <a:ext cx="222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4802" name="LinkIn2"/>
          <p:cNvCxnSpPr>
    </p:cNvCxnSpPr>
          <p:nvPr/>
        </p:nvCxnSpPr>
        <p:spPr>
          <a:xfrm flipV="1">
            <a:off x="4575000" y="2060000"/>
            <a:ext cx="187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4803" name="LinkIn3"/>
          <p:cNvCxnSpPr>
    </p:cNvCxnSpPr>
          <p:nvPr/>
        </p:nvCxnSpPr>
        <p:spPr>
          <a:xfrm flipH="1">
            <a:off x="2350000" y="3425000"/>
            <a:ext cx="2225000" cy="113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4804" name="LinkOut1"/>
          <p:cNvCxnSpPr>
    </p:cNvCxnSpPr>
          <p:nvPr/>
        </p:nvCxnSpPr>
        <p:spPr>
          <a:xfrm flipV="1">
            <a:off x="4575000" y="1595000"/>
            <a:ext cx="0" cy="1830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4805" name="LinkOut3"/>
          <p:cNvCxnSpPr>
    </p:cNvCxnSpPr>
          <p:nvPr/>
        </p:nvCxnSpPr>
        <p:spPr>
          <a:xfrm>
            <a:off x="4575000" y="3425000"/>
            <a:ext cx="3450000" cy="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4806" name="LinkOut4"/>
          <p:cNvCxnSpPr>
    </p:cNvCxnSpPr>
          <p:nvPr/>
        </p:nvCxnSpPr>
        <p:spPr>
          <a:xfrm>
            <a:off x="4575000" y="3425000"/>
            <a:ext cx="2900000" cy="152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4807" name="LinkOut5"/>
          <p:cNvCxnSpPr>
    </p:cNvCxnSpPr>
          <p:nvPr/>
        </p:nvCxnSpPr>
        <p:spPr>
          <a:xfrm>
            <a:off x="4575000" y="3425000"/>
            <a:ext cx="0" cy="170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4808" name="LinkOut6"/>
          <p:cNvCxnSpPr>
    </p:cNvCxnSpPr>
          <p:nvPr/>
        </p:nvCxnSpPr>
        <p:spPr>
          <a:xfrm flipH="1">
            <a:off x="1675000" y="3425000"/>
            <a:ext cx="2900000" cy="152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4809" name="LinkOut7"/>
          <p:cNvCxnSpPr>
    </p:cNvCxnSpPr>
          <p:nvPr/>
        </p:nvCxnSpPr>
        <p:spPr>
          <a:xfrm flipH="1">
            <a:off x="1125000" y="3425000"/>
            <a:ext cx="3450000" cy="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sp>
        <p:nvSpPr>
          <p:cNvPr id="4810" name="EcoInner1"/>
          <p:cNvSpPr/>
          <p:nvPr/>
        </p:nvSpPr>
        <p:spPr>
          <a:xfrm>
            <a:off x="17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Công ty nano khoáng chất</a:t>
            </a:r>
          </a:p>
        </p:txBody>
      </p:sp>
      <p:sp>
        <p:nvSpPr>
          <p:cNvPr id="4811" name="EcoInner2"/>
          <p:cNvSpPr/>
          <p:nvPr/>
        </p:nvSpPr>
        <p:spPr>
          <a:xfrm>
            <a:off x="58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Công ty chelat hóa</a:t>
            </a:r>
          </a:p>
        </p:txBody>
      </p:sp>
      <p:sp>
        <p:nvSpPr>
          <p:cNvPr id="4812" name="EcoInner3"/>
          <p:cNvSpPr/>
          <p:nvPr/>
        </p:nvSpPr>
        <p:spPr>
          <a:xfrm>
            <a:off x="1700000" y="42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Cơ quan sở hữu trí tuệ</a:t>
            </a:r>
          </a:p>
        </p:txBody>
      </p:sp>
      <p:sp>
        <p:nvSpPr>
          <p:cNvPr id="4813" name="EcoOuter1"/>
          <p:cNvSpPr/>
          <p:nvPr/>
        </p:nvSpPr>
        <p:spPr>
          <a:xfrm>
            <a:off x="4025000" y="132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Công ty lớn</a:t>
            </a:r>
          </a:p>
        </p:txBody>
      </p:sp>
      <p:sp>
        <p:nvSpPr>
          <p:cNvPr id="4814" name="EcoOuter3"/>
          <p:cNvSpPr/>
          <p:nvPr/>
        </p:nvSpPr>
        <p:spPr>
          <a:xfrm>
            <a:off x="7475000" y="315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Cơ quan quản lý</a:t>
            </a:r>
          </a:p>
        </p:txBody>
      </p:sp>
      <p:sp>
        <p:nvSpPr>
          <p:cNvPr id="4815" name="EcoOuter4"/>
          <p:cNvSpPr/>
          <p:nvPr/>
        </p:nvSpPr>
        <p:spPr>
          <a:xfrm>
            <a:off x="6925000" y="4680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Đối thủ cạnh tranh</a:t>
            </a:r>
          </a:p>
        </p:txBody>
      </p:sp>
      <p:sp>
        <p:nvSpPr>
          <p:cNvPr id="4816" name="EcoOuter5"/>
          <p:cNvSpPr/>
          <p:nvPr/>
        </p:nvSpPr>
        <p:spPr>
          <a:xfrm>
            <a:off x="4025000" y="4860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Đối tác nghiên cứu</a:t>
            </a:r>
          </a:p>
        </p:txBody>
      </p:sp>
      <p:sp>
        <p:nvSpPr>
          <p:cNvPr id="4817" name="EcoOuter6"/>
          <p:cNvSpPr/>
          <p:nvPr/>
        </p:nvSpPr>
        <p:spPr>
          <a:xfrm>
            <a:off x="1125000" y="4680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Cơ quan bảo hộ</a:t>
            </a:r>
          </a:p>
        </p:txBody>
      </p:sp>
      <p:sp>
        <p:nvSpPr>
          <p:cNvPr id="4818" name="EcoOuter7"/>
          <p:cNvSpPr/>
          <p:nvPr/>
        </p:nvSpPr>
        <p:spPr>
          <a:xfrm>
            <a:off x="575000" y="3155000"/>
            <a:ext cx="1100000" cy="5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Cơ quan tài trợ</a:t>
            </a:r>
          </a:p>
        </p:txBody>
      </p:sp>
      <p:sp>
        <p:nvSpPr>
          <p:cNvPr id="4819" name="EcoCenter"/>
          <p:cNvSpPr/>
          <p:nvPr/>
        </p:nvSpPr>
        <p:spPr>
          <a:xfrm>
            <a:off x="3850000" y="2700000"/>
            <a:ext cx="1450000" cy="145000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Công ty mới</a:t>
            </a:r>
          </a:p>
        </p:txBody>
      </p:sp>
      <p:sp>
        <p:nvSpPr>
          <p:cNvPr id="4820" name="EcoQuad0"/>
          <p:cNvSpPr txBox="1"/>
          <p:nvPr/>
        </p:nvSpPr>
        <p:spPr>
          <a:xfrm>
            <a:off x="2304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ẢNH HƯỞNG</a:t>
            </a:r>
          </a:p>
        </p:txBody>
      </p:sp>
      <p:sp>
        <p:nvSpPr>
          <p:cNvPr id="4821" name="EcoQuad1"/>
          <p:cNvSpPr txBox="1"/>
          <p:nvPr/>
        </p:nvSpPr>
        <p:spPr>
          <a:xfrm>
            <a:off x="65592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TÁC ĐỘNG</a:t>
            </a:r>
          </a:p>
        </p:txBody>
      </p:sp>
      <p:sp>
        <p:nvSpPr>
          <p:cNvPr id="4822" name="EcoQuad2"/>
          <p:cNvSpPr txBox="1"/>
          <p:nvPr/>
        </p:nvSpPr>
        <p:spPr>
          <a:xfrm>
            <a:off x="2304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THEO DÕI</a:t>
            </a:r>
          </a:p>
        </p:txBody>
      </p:sp>
      <p:sp>
        <p:nvSpPr>
          <p:cNvPr id="4823" name="EcoQuad3"/>
          <p:cNvSpPr txBox="1"/>
          <p:nvPr/>
        </p:nvSpPr>
        <p:spPr>
          <a:xfrm>
            <a:off x="65592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TƯƠNG TÁC</a:t>
            </a:r>
          </a:p>
        </p:txBody>
      </p:sp>
      <p:sp>
        <p:nvSpPr>
          <p:cNvPr id="10004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Patent databases 2015-2025</a:t>
            </a:r>
          </a:p>
        </p:txBody>
      </p:sp>
      <p:sp>
        <p:nvSpPr>
          <p:cNvPr id="10004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4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Cơ hội để các công ty mới dẫn đầu trong lĩnh vực này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4902" name="AgendaRow1"/>
          <p:cNvSpPr/>
          <p:nvPr/>
        </p:nvSpPr>
        <p:spPr>
          <a:xfrm>
            <a:off x="1000000" y="162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03" name="AgendaNum1"/>
          <p:cNvSpPr/>
          <p:nvPr/>
        </p:nvSpPr>
        <p:spPr>
          <a:xfrm>
            <a:off x="10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904" name="AgendaTxt1"/>
          <p:cNvSpPr txBox="1"/>
          <p:nvPr/>
        </p:nvSpPr>
        <p:spPr>
          <a:xfrm>
            <a:off x="16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Tổng quan thị trường khoáng chất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</a:t>
            </a:r>
          </a:p>
        </p:txBody>
      </p:sp>
      <p:sp>
        <p:nvSpPr>
          <p:cNvPr id="4905" name="AgendaRow2"/>
          <p:cNvSpPr/>
          <p:nvPr/>
        </p:nvSpPr>
        <p:spPr>
          <a:xfrm>
            <a:off x="1000000" y="234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06" name="AgendaNum2"/>
          <p:cNvSpPr/>
          <p:nvPr/>
        </p:nvSpPr>
        <p:spPr>
          <a:xfrm>
            <a:off x="10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907" name="AgendaTxt2"/>
          <p:cNvSpPr txBox="1"/>
          <p:nvPr/>
        </p:nvSpPr>
        <p:spPr>
          <a:xfrm>
            <a:off x="16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Nguy cơ nguồn cung Trung Quốc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2</a:t>
            </a:r>
          </a:p>
        </p:txBody>
      </p:sp>
      <p:sp>
        <p:nvSpPr>
          <p:cNvPr id="4908" name="AgendaRow3"/>
          <p:cNvSpPr/>
          <p:nvPr/>
        </p:nvSpPr>
        <p:spPr>
          <a:xfrm>
            <a:off x="10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09" name="AgendaNum3"/>
          <p:cNvSpPr/>
          <p:nvPr/>
        </p:nvSpPr>
        <p:spPr>
          <a:xfrm>
            <a:off x="10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910" name="AgendaTxt3"/>
          <p:cNvSpPr txBox="1"/>
          <p:nvPr/>
        </p:nvSpPr>
        <p:spPr>
          <a:xfrm>
            <a:off x="16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Phát triển nguồn cung địa phương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</a:t>
            </a:r>
          </a:p>
        </p:txBody>
      </p:sp>
      <p:sp>
        <p:nvSpPr>
          <p:cNvPr id="4911" name="AgendaRow4"/>
          <p:cNvSpPr/>
          <p:nvPr/>
        </p:nvSpPr>
        <p:spPr>
          <a:xfrm>
            <a:off x="1000000" y="378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12" name="AgendaNum4"/>
          <p:cNvSpPr/>
          <p:nvPr/>
        </p:nvSpPr>
        <p:spPr>
          <a:xfrm>
            <a:off x="10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13" name="AgendaTxt4"/>
          <p:cNvSpPr txBox="1"/>
          <p:nvPr/>
        </p:nvSpPr>
        <p:spPr>
          <a:xfrm>
            <a:off x="16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Việt Nam, Ấn Độ, Ecuador phụ thuộc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4</a:t>
            </a:r>
          </a:p>
        </p:txBody>
      </p:sp>
      <p:sp>
        <p:nvSpPr>
          <p:cNvPr id="4914" name="AgendaRow5"/>
          <p:cNvSpPr/>
          <p:nvPr/>
        </p:nvSpPr>
        <p:spPr>
          <a:xfrm>
            <a:off x="1000000" y="450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15" name="AgendaNum5"/>
          <p:cNvSpPr/>
          <p:nvPr/>
        </p:nvSpPr>
        <p:spPr>
          <a:xfrm>
            <a:off x="10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916" name="AgendaTxt5"/>
          <p:cNvSpPr txBox="1"/>
          <p:nvPr/>
        </p:nvSpPr>
        <p:spPr>
          <a:xfrm>
            <a:off x="16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Kế hoạch giảm phụ thuộc Trung Quốc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5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Chiến lược xây dựng từ scratch với hợp tác là cách duy nhất để thành công</a:t>
            </a:r>
          </a:p>
        </p:txBody>
      </p:sp>
      <p:sp>
        <p:nvSpPr>
          <p:cNvPr id="50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50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50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50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THẤP ĐẦU TƯ, THẤP CHUỖI CUNG ỨNG</a:t>
            </a:r>
          </a:p>
        </p:txBody>
      </p:sp>
      <p:sp>
        <p:nvSpPr>
          <p:cNvPr id="50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CAO ĐẦU TƯ, THẤP CHUỖI CUNG ỨNG</a:t>
            </a:r>
          </a:p>
        </p:txBody>
      </p:sp>
      <p:sp>
        <p:nvSpPr>
          <p:cNvPr id="50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THẤP ĐẦU TƯ, CAO CHUỖI CUNG ỨNG</a:t>
            </a:r>
          </a:p>
        </p:txBody>
      </p:sp>
      <p:sp>
        <p:nvSpPr>
          <p:cNvPr id="50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CAO ĐẦU TƯ, CAO CHUỖI CUNG ỨNG</a:t>
            </a:r>
          </a:p>
        </p:txBody>
      </p:sp>
      <p:sp>
        <p:nvSpPr>
          <p:cNvPr id="5012" name="Bubble1"/>
          <p:cNvSpPr/>
          <p:nvPr/>
        </p:nvSpPr>
        <p:spPr>
          <a:xfrm>
            <a:off x="6380000" y="210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Thành công</a:t>
            </a:r>
          </a:p>
        </p:txBody>
      </p:sp>
      <p:sp>
        <p:nvSpPr>
          <p:cNvPr id="5013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ĐẦU TƯ R&amp;D →</a:t>
            </a:r>
          </a:p>
        </p:txBody>
      </p:sp>
      <p:sp>
        <p:nvSpPr>
          <p:cNvPr id="5014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XÂY DỰNG CHUỖI CUNG ỨNG ↑</a:t>
            </a:r>
          </a:p>
        </p:txBody>
      </p:sp>
      <p:sp>
        <p:nvSpPr>
          <p:cNvPr id="100050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Industry pricing data 2024</a:t>
            </a:r>
          </a:p>
        </p:txBody>
      </p:sp>
      <p:sp>
        <p:nvSpPr>
          <p:cNvPr id="100050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0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Cần đầu tư vào R&amp;D và xây dựng chuỗi cung ứng địa phương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Tập trung vào Việt Nam, Ấn Độ và Ecuador để khai thác thị trường tăng…</a:t>
            </a:r>
          </a:p>
        </p:txBody>
      </p:sp>
      <p:sp>
        <p:nvSpPr>
          <p:cNvPr id="51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Thị trường tăng trưởng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4.2-4.9%/năm</a:t>
            </a:r>
          </a:p>
        </p:txBody>
      </p:sp>
      <p:sp>
        <p:nvSpPr>
          <p:cNvPr id="51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Việt Nam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4.2-4.9%</a:t>
            </a:r>
          </a:p>
        </p:txBody>
      </p:sp>
      <p:sp>
        <p:nvSpPr>
          <p:cNvPr id="5103" name="DriverL3_1_1"/>
          <p:cNvSpPr/>
          <p:nvPr/>
        </p:nvSpPr>
        <p:spPr>
          <a:xfrm>
            <a:off x="5300000" y="1710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Tôm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Ưu tiên</a:t>
            </a:r>
          </a:p>
        </p:txBody>
      </p:sp>
      <p:sp>
        <p:nvSpPr>
          <p:cNvPr id="5106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Ấn Độ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4.2-4.9%</a:t>
            </a:r>
          </a:p>
        </p:txBody>
      </p:sp>
      <p:sp>
        <p:nvSpPr>
          <p:cNvPr id="5108" name="DriverL2_3"/>
          <p:cNvSpPr/>
          <p:nvPr/>
        </p:nvSpPr>
        <p:spPr>
          <a:xfrm>
            <a:off x="2900000" y="450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Ecuador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4.2-4.9%</a:t>
            </a:r>
          </a:p>
        </p:txBody>
      </p:sp>
      <p:cxnSp>
        <p:nvCxnSpPr>
          <p:cNvPr id="5104" name="BranchRoot_1"/>
          <p:cNvCxnSpPr>
            <a:stCxn id="5101" idx="1"/>
            <a:endCxn id="51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105" name="BranchL2_1_1"/>
          <p:cNvCxnSpPr>
            <a:stCxn id="5102" idx="1"/>
            <a:endCxn id="5103" idx="3"/>
          </p:cNvCxnSpPr>
          <p:nvPr/>
        </p:nvCxnSpPr>
        <p:spPr>
          <a:xfrm>
            <a:off x="4800000" y="1980000"/>
            <a:ext cx="5000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107" name="BranchRoot_2"/>
          <p:cNvCxnSpPr>
            <a:stCxn id="5101" idx="1"/>
            <a:endCxn id="5106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5109" name="BranchRoot_3"/>
          <p:cNvCxnSpPr>
            <a:stCxn id="5101" idx="1"/>
            <a:endCxn id="5108" idx="3"/>
          </p:cNvCxnSpPr>
          <p:nvPr/>
        </p:nvCxnSpPr>
        <p:spPr>
          <a:xfrm>
            <a:off x="2357200" y="342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5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Market reports 2024-2025</a:t>
            </a:r>
          </a:p>
        </p:txBody>
      </p:sp>
      <p:sp>
        <p:nvSpPr>
          <p:cNvPr id="10005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Tập trung vào các thị trường có quy mô lớn và tốc độ tăng trưởng cao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000" b="1" i="0" dirty="0">
                <a:solidFill>
                  <a:srgbClr val="002060"/>
                </a:solidFill>
                <a:latin typeface="Calibri"/>
              </a:rPr>
              <a:t>Kết luận: Chiến thắng đòi hỏi hợp tác, đầu tư và tập trung vào thị trường tôm</a:t>
            </a:r>
          </a:p>
        </p:txBody>
      </p:sp>
      <p:sp>
        <p:nvSpPr>
          <p:cNvPr id="5201" name="YCaption"/>
          <p:cNvSpPr txBox="1"/>
          <p:nvPr/>
        </p:nvSpPr>
        <p:spPr>
          <a:xfrm>
            <a:off x="230400" y="1360000"/>
            <a:ext cx="24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↑ MỨC ĐỘ ĐẦU TƯ</a:t>
            </a:r>
          </a:p>
        </p:txBody>
      </p:sp>
      <p:sp>
        <p:nvSpPr>
          <p:cNvPr id="5202" name="H1Curve"/>
          <p:cNvSpPr/>
          <p:nvPr/>
        </p:nvSpPr>
        <p:spPr>
          <a:xfrm>
            <a:off x="230400" y="4400000"/>
            <a:ext cx="2600000" cy="720000"/>
          </a:xfrm>
          <a:prstGeom prst="rightArrow">
            <a:avLst/>
          </a:prstGeom>
          <a:solidFill>
            <a:srgbClr val="002060">
              <a:alpha val="10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5203" name="H1Panel"/>
          <p:cNvSpPr/>
          <p:nvPr/>
        </p:nvSpPr>
        <p:spPr>
          <a:xfrm>
            <a:off x="6000000" y="162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HORIZON 1 · 0–12 THÁNG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Tối ưu hóa công nghệ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Giảm chi phí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Tăng hiệu quả</a:t>
            </a:r>
          </a:p>
        </p:txBody>
      </p:sp>
      <p:sp>
        <p:nvSpPr>
          <p:cNvPr id="5204" name="H2Curve"/>
          <p:cNvSpPr/>
          <p:nvPr/>
        </p:nvSpPr>
        <p:spPr>
          <a:xfrm>
            <a:off x="1700000" y="3200000"/>
            <a:ext cx="3300000" cy="720000"/>
          </a:xfrm>
          <a:prstGeom prst="rightArrow">
            <a:avLst/>
          </a:prstGeom>
          <a:solidFill>
            <a:srgbClr val="0070C0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5205" name="H2Panel"/>
          <p:cNvSpPr/>
          <p:nvPr/>
        </p:nvSpPr>
        <p:spPr>
          <a:xfrm>
            <a:off x="6000000" y="306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70C0"/>
                </a:solidFill>
                <a:latin typeface="Calibri"/>
              </a:rPr>
              <a:t>HORIZON 2 · 1–3 NĂM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Xây dựng hợp tác</a:t>
            </a:r>
          </a:p>
          <a:p>
            <a:pPr marL="171450" indent="-171450">
              <a:spcBef>
                <a:spcPts val="4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Mở rộng thị trường tôm</a:t>
            </a:r>
          </a:p>
        </p:txBody>
      </p:sp>
      <p:sp>
        <p:nvSpPr>
          <p:cNvPr id="5206" name="H3Curve"/>
          <p:cNvSpPr/>
          <p:nvPr/>
        </p:nvSpPr>
        <p:spPr>
          <a:xfrm>
            <a:off x="3300000" y="2000000"/>
            <a:ext cx="2900000" cy="720000"/>
          </a:xfrm>
          <a:prstGeom prst="rightArrow">
            <a:avLst/>
          </a:prstGeom>
          <a:solidFill>
            <a:srgbClr val="953735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5207" name="H3Panel"/>
          <p:cNvSpPr/>
          <p:nvPr/>
        </p:nvSpPr>
        <p:spPr>
          <a:xfrm>
            <a:off x="6000000" y="450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53735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953735"/>
                </a:solidFill>
                <a:latin typeface="Calibri"/>
              </a:rPr>
              <a:t>HORIZON 3 · 3+ NĂM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Tạo tương lai</a:t>
            </a:r>
          </a:p>
          <a:p>
            <a:pPr marL="171450" indent="-171450">
              <a:spcBef>
                <a:spcPts val="4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Khám phá cơ hội mới</a:t>
            </a:r>
          </a:p>
        </p:txBody>
      </p:sp>
      <p:sp>
        <p:nvSpPr>
          <p:cNvPr id="5208" name="XAxisLabel"/>
          <p:cNvSpPr txBox="1"/>
          <p:nvPr/>
        </p:nvSpPr>
        <p:spPr>
          <a:xfrm>
            <a:off x="230400" y="5940000"/>
            <a:ext cx="5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THỜI GIAN TRIỂN KHAI →</a:t>
            </a:r>
          </a:p>
        </p:txBody>
      </p:sp>
      <p:sp>
        <p:nvSpPr>
          <p:cNvPr id="10005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Project analysis</a:t>
            </a:r>
          </a:p>
        </p:txBody>
      </p:sp>
      <p:sp>
        <p:nvSpPr>
          <p:cNvPr id="10005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5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Cơ hội lớn nhưng đòi hỏi chiến lược toàn diện và hợp tác</a:t>
            </a:r>
          </a:p>
        </p:txBody>
      </p:sp>
    </p:spTree>
  </p:cSld>
</p:sld>
</file>

<file path=ppt/tags/tag1.xml><?xml version="1.0" encoding="utf-8"?>
<p:tagLst xmlns:p="http://schemas.openxmlformats.org/presentationml/2006/main">
  <p:tag name="MM_SLIDE_TYPE" val="6"/>
</p:tagLst>
</file>

<file path=ppt/tags/tag2.xml><?xml version="1.0" encoding="utf-8"?>
<p:tagLst xmlns:p="http://schemas.openxmlformats.org/presentationml/2006/main">
  <p:tag name="MM_SLIDE_TYPE" val="6"/>
</p:tagLst>
</file>

<file path=ppt/tags/tag6.xml><?xml version="1.0" encoding="utf-8"?>
<p:tagLst xmlns:p="http://schemas.openxmlformats.org/presentationml/2006/main">
  <p:tag name="DH_FLYSHEET_STYL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9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12700">
          <a:solidFill>
            <a:schemeClr val="tx1"/>
          </a:solidFill>
        </a:ln>
      </a:spPr>
      <a:bodyPr rtlCol="0" anchor="ctr"/>
      <a:lstStyle>
        <a:defPPr algn="ctr">
          <a:defRPr sz="11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8169476D4E494B950A59EBCB7A573C" ma:contentTypeVersion="19" ma:contentTypeDescription="Create a new document." ma:contentTypeScope="" ma:versionID="029978e329cdaafd2d145a8ff8cd7be5">
  <xsd:schema xmlns:xsd="http://www.w3.org/2001/XMLSchema" xmlns:xs="http://www.w3.org/2001/XMLSchema" xmlns:p="http://schemas.microsoft.com/office/2006/metadata/properties" xmlns:ns2="bd46642e-baf8-4e0b-90a8-08a61c43d436" xmlns:ns3="da89c8aa-bdf1-4272-829d-0bf2fbc1fefc" targetNamespace="http://schemas.microsoft.com/office/2006/metadata/properties" ma:root="true" ma:fieldsID="45975fc9e5c42f58d0005cd0e0642dc9" ns2:_="" ns3:_="">
    <xsd:import namespace="bd46642e-baf8-4e0b-90a8-08a61c43d436"/>
    <xsd:import namespace="da89c8aa-bdf1-4272-829d-0bf2fbc1fe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46642e-baf8-4e0b-90a8-08a61c43d4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9187416-f788-437a-8c7c-a113f37dc8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89c8aa-bdf1-4272-829d-0bf2fbc1fef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ba7653-8b86-4d71-9290-79e61846c644}" ma:internalName="TaxCatchAll" ma:showField="CatchAllData" ma:web="da89c8aa-bdf1-4272-829d-0bf2fbc1fe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d46642e-baf8-4e0b-90a8-08a61c43d436">
      <Terms xmlns="http://schemas.microsoft.com/office/infopath/2007/PartnerControls"/>
    </lcf76f155ced4ddcb4097134ff3c332f>
    <TaxCatchAll xmlns="da89c8aa-bdf1-4272-829d-0bf2fbc1fe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.xml><?xml version="1.0" encoding="utf-8"?>
<ds:datastoreItem xmlns:ds="http://schemas.openxmlformats.org/officeDocument/2006/customXml" ds:itemID="{05064457-A99B-4F5A-8265-53D78F6EBD13}">
  <ds:schemaRefs/>
</ds:datastoreItem>
</file>

<file path=customXml/itemProps4.xml><?xml version="1.0" encoding="utf-8"?>
<ds:datastoreItem xmlns:ds="http://schemas.openxmlformats.org/officeDocument/2006/customXml" ds:itemID="{AED47698-1855-40F8-88F1-9046674C7C6F}">
  <ds:schemaRefs/>
</ds:datastoreItem>
</file>

<file path=customXml/itemProps5.xml><?xml version="1.0" encoding="utf-8"?>
<ds:datastoreItem xmlns:ds="http://schemas.openxmlformats.org/officeDocument/2006/customXml" ds:itemID="{A168439B-1DAE-4F2B-934D-367C7A79D1E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330</Words>
  <Application>WPS Presentation</Application>
  <PresentationFormat>On-screen Show (4:3)</PresentationFormat>
  <Paragraphs>10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Montserrat</vt:lpstr>
      <vt:lpstr>Liberation Mono</vt:lpstr>
      <vt:lpstr>Calibri</vt:lpstr>
      <vt:lpstr>Calibri</vt:lpstr>
      <vt:lpstr>Cambria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Trí Phạm</cp:lastModifiedBy>
  <cp:revision>2</cp:revision>
  <dcterms:created xsi:type="dcterms:W3CDTF">2020-07-24T09:46:00Z</dcterms:created>
  <dcterms:modified xsi:type="dcterms:W3CDTF">2026-08-05T07:19:31Z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0x010100DD8169476D4E494B950A59EBCB7A573C</vt:lpwstr>
  </property>
  <property fmtid="{D5CDD505-2E9C-101B-9397-08002B2CF9AE}" pid="3" name="MediaServiceImageTags">
    <vt:lpwstr/>
  </property>
  <property fmtid="{D5CDD505-2E9C-101B-9397-08002B2CF9AE}" pid="4" name="ICV">
    <vt:lpwstr>3A92109A331E46C8A8FC5A7A47822D39_12</vt:lpwstr>
  </property>
  <property fmtid="{D5CDD505-2E9C-101B-9397-08002B2CF9AE}" pid="5" name="KSOProductBuildVer">
    <vt:lpwstr>1033-12.1.0.28032</vt:lpwstr>
  </property>
</Properties>
</file>